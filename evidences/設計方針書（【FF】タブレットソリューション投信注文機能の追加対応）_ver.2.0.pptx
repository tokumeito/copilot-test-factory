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4965" r:id="rId4"/>
  </p:sldMasterIdLst>
  <p:notesMasterIdLst>
    <p:notesMasterId r:id="rId34"/>
  </p:notesMasterIdLst>
  <p:handoutMasterIdLst>
    <p:handoutMasterId r:id="rId35"/>
  </p:handoutMasterIdLst>
  <p:sldIdLst>
    <p:sldId id="2138" r:id="rId5"/>
    <p:sldId id="2130" r:id="rId6"/>
    <p:sldId id="2158" r:id="rId7"/>
    <p:sldId id="2154" r:id="rId8"/>
    <p:sldId id="2174" r:id="rId9"/>
    <p:sldId id="2137" r:id="rId10"/>
    <p:sldId id="2139" r:id="rId11"/>
    <p:sldId id="2143" r:id="rId12"/>
    <p:sldId id="2159" r:id="rId13"/>
    <p:sldId id="2142" r:id="rId14"/>
    <p:sldId id="2160" r:id="rId15"/>
    <p:sldId id="2169" r:id="rId16"/>
    <p:sldId id="2166" r:id="rId17"/>
    <p:sldId id="2145" r:id="rId18"/>
    <p:sldId id="2146" r:id="rId19"/>
    <p:sldId id="2147" r:id="rId20"/>
    <p:sldId id="2168" r:id="rId21"/>
    <p:sldId id="2170" r:id="rId22"/>
    <p:sldId id="2171" r:id="rId23"/>
    <p:sldId id="2172" r:id="rId24"/>
    <p:sldId id="2173" r:id="rId25"/>
    <p:sldId id="2156" r:id="rId26"/>
    <p:sldId id="2161" r:id="rId27"/>
    <p:sldId id="2167" r:id="rId28"/>
    <p:sldId id="2149" r:id="rId29"/>
    <p:sldId id="2155" r:id="rId30"/>
    <p:sldId id="2150" r:id="rId31"/>
    <p:sldId id="2151" r:id="rId32"/>
    <p:sldId id="2141" r:id="rId33"/>
  </p:sldIdLst>
  <p:sldSz cx="9906000" cy="6858000" type="A4"/>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7F7DAF43-04DD-4AF7-BFC7-093FE7017F2C}">
          <p14:sldIdLst>
            <p14:sldId id="2138"/>
          </p14:sldIdLst>
        </p14:section>
        <p14:section name="本ドキュメントの目的（更新不要）" id="{5EA05FDC-8AFB-4AE5-9F2E-262A25D434E8}">
          <p14:sldIdLst>
            <p14:sldId id="2130"/>
            <p14:sldId id="2158"/>
          </p14:sldIdLst>
        </p14:section>
        <p14:section name="ここから各案件で更新" id="{D9F4205A-51D4-477B-ACFE-1E6326AE6C9B}">
          <p14:sldIdLst>
            <p14:sldId id="2154"/>
            <p14:sldId id="2174"/>
            <p14:sldId id="2137"/>
            <p14:sldId id="2139"/>
            <p14:sldId id="2143"/>
            <p14:sldId id="2159"/>
            <p14:sldId id="2142"/>
            <p14:sldId id="2160"/>
            <p14:sldId id="2169"/>
            <p14:sldId id="2166"/>
            <p14:sldId id="2145"/>
            <p14:sldId id="2146"/>
            <p14:sldId id="2147"/>
            <p14:sldId id="2168"/>
            <p14:sldId id="2170"/>
            <p14:sldId id="2171"/>
            <p14:sldId id="2172"/>
            <p14:sldId id="2173"/>
            <p14:sldId id="2156"/>
            <p14:sldId id="2161"/>
            <p14:sldId id="2167"/>
            <p14:sldId id="2149"/>
            <p14:sldId id="2155"/>
            <p14:sldId id="2150"/>
            <p14:sldId id="2151"/>
            <p14:sldId id="2141"/>
          </p14:sldIdLst>
        </p14:section>
        <p14:section name="非表示" id="{2B7BC4C9-B2F4-4B99-BCC4-F2BDD7DDF695}">
          <p14:sldIdLst/>
        </p14:section>
      </p14:sectionLst>
    </p:ext>
    <p:ext uri="{EFAFB233-063F-42B5-8137-9DF3F51BA10A}">
      <p15:sldGuideLst xmlns:p15="http://schemas.microsoft.com/office/powerpoint/2012/main">
        <p15:guide id="1" orient="horz" pos="3521">
          <p15:clr>
            <a:srgbClr val="A4A3A4"/>
          </p15:clr>
        </p15:guide>
        <p15:guide id="2" orient="horz" pos="799">
          <p15:clr>
            <a:srgbClr val="A4A3A4"/>
          </p15:clr>
        </p15:guide>
        <p15:guide id="3" orient="horz" pos="2160">
          <p15:clr>
            <a:srgbClr val="A4A3A4"/>
          </p15:clr>
        </p15:guide>
        <p15:guide id="4" pos="398">
          <p15:clr>
            <a:srgbClr val="A4A3A4"/>
          </p15:clr>
        </p15:guide>
        <p15:guide id="5" pos="3120">
          <p15:clr>
            <a:srgbClr val="A4A3A4"/>
          </p15:clr>
        </p15:guide>
        <p15:guide id="6" pos="5842">
          <p15:clr>
            <a:srgbClr val="A4A3A4"/>
          </p15:clr>
        </p15:guide>
        <p15:guide id="7" pos="448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青柳 正徳/DIR秘書室" initials="青柳" lastIdx="2" clrIdx="0">
    <p:extLst>
      <p:ext uri="{19B8F6BF-5375-455C-9EA6-DF929625EA0E}">
        <p15:presenceInfo xmlns:p15="http://schemas.microsoft.com/office/powerpoint/2012/main" userId="S-1-5-21-2856710463-1949860053-192716517-161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0EFFF"/>
    <a:srgbClr val="404040"/>
    <a:srgbClr val="FFFFDD"/>
    <a:srgbClr val="E5F2FB"/>
    <a:srgbClr val="79C9FF"/>
    <a:srgbClr val="D1ECFF"/>
    <a:srgbClr val="FFFFCC"/>
    <a:srgbClr val="FFE1E1"/>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25E5076-3810-47DD-B79F-674D7AD40C01}" styleName="濃色スタイル 1 - アクセント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AF606853-7671-496A-8E4F-DF71F8EC918B}" styleName="濃色スタイル 1 - アクセント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濃色スタイル 1 - アクセント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濃色スタイル 1 - アクセント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濃色スタイル 1 - アクセント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濃色スタイル 2 - アクセント 5/アクセント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65" autoAdjust="0"/>
  </p:normalViewPr>
  <p:slideViewPr>
    <p:cSldViewPr snapToObjects="1">
      <p:cViewPr varScale="1">
        <p:scale>
          <a:sx n="110" d="100"/>
          <a:sy n="110" d="100"/>
        </p:scale>
        <p:origin x="1416" y="114"/>
      </p:cViewPr>
      <p:guideLst>
        <p:guide orient="horz" pos="3521"/>
        <p:guide orient="horz" pos="799"/>
        <p:guide orient="horz" pos="2160"/>
        <p:guide pos="398"/>
        <p:guide pos="3120"/>
        <p:guide pos="5842"/>
        <p:guide pos="44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p:scale>
          <a:sx n="66" d="100"/>
          <a:sy n="66" d="100"/>
        </p:scale>
        <p:origin x="4224" y="372"/>
      </p:cViewPr>
      <p:guideLst>
        <p:guide orient="horz" pos="3131"/>
        <p:guide pos="214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5B1E53-CEDA-43D0-9CB4-5E834650D1ED}" type="doc">
      <dgm:prSet loTypeId="urn:microsoft.com/office/officeart/2005/8/layout/StepDownProcess" loCatId="process" qsTypeId="urn:microsoft.com/office/officeart/2005/8/quickstyle/simple1" qsCatId="simple" csTypeId="urn:microsoft.com/office/officeart/2005/8/colors/colorful3" csCatId="colorful" phldr="1"/>
      <dgm:spPr/>
      <dgm:t>
        <a:bodyPr/>
        <a:lstStyle/>
        <a:p>
          <a:endParaRPr kumimoji="1" lang="ja-JP" altLang="en-US"/>
        </a:p>
      </dgm:t>
    </dgm:pt>
    <dgm:pt modelId="{D9D2DB1D-CC22-4174-8778-F5A2751C8AE8}">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要件定義</a:t>
          </a:r>
          <a:endParaRPr kumimoji="1" lang="en-US" altLang="ja-JP" dirty="0">
            <a:latin typeface="ＭＳ ゴシック" panose="020B0609070205080204" pitchFamily="49" charset="-128"/>
            <a:ea typeface="ＭＳ ゴシック" panose="020B0609070205080204" pitchFamily="49" charset="-128"/>
          </a:endParaRPr>
        </a:p>
        <a:p>
          <a:r>
            <a:rPr kumimoji="1" lang="ja-JP" altLang="en-US" dirty="0">
              <a:latin typeface="ＭＳ ゴシック" panose="020B0609070205080204" pitchFamily="49" charset="-128"/>
              <a:ea typeface="ＭＳ ゴシック" panose="020B0609070205080204" pitchFamily="49" charset="-128"/>
            </a:rPr>
            <a:t>プロセス</a:t>
          </a:r>
        </a:p>
      </dgm:t>
    </dgm:pt>
    <dgm:pt modelId="{1AADA84D-529E-43FD-8C5E-D9089D7CCC6E}" type="parTrans" cxnId="{15114B95-AD16-4782-BAF6-465DDC8143C2}">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EBBFB064-6140-483B-BD55-793449A0D435}" type="sibTrans" cxnId="{15114B95-AD16-4782-BAF6-465DDC8143C2}">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DB92D7EB-6236-49F8-83DE-C512309B5A8F}">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見積</a:t>
          </a:r>
          <a:endParaRPr kumimoji="1" lang="en-US" altLang="ja-JP" dirty="0">
            <a:latin typeface="ＭＳ ゴシック" panose="020B0609070205080204" pitchFamily="49" charset="-128"/>
            <a:ea typeface="ＭＳ ゴシック" panose="020B0609070205080204" pitchFamily="49" charset="-128"/>
          </a:endParaRPr>
        </a:p>
        <a:p>
          <a:r>
            <a:rPr kumimoji="1" lang="ja-JP" altLang="en-US" dirty="0">
              <a:latin typeface="ＭＳ ゴシック" panose="020B0609070205080204" pitchFamily="49" charset="-128"/>
              <a:ea typeface="ＭＳ ゴシック" panose="020B0609070205080204" pitchFamily="49" charset="-128"/>
            </a:rPr>
            <a:t>プロセス</a:t>
          </a:r>
        </a:p>
      </dgm:t>
    </dgm:pt>
    <dgm:pt modelId="{6A5A805B-2805-4DD5-BA21-771245FF7FA1}" type="parTrans" cxnId="{33B3BB36-46DD-4AB5-97FA-059B2197BDF2}">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D4C548D5-363D-47C7-9690-79B7D129342E}" type="sibTrans" cxnId="{33B3BB36-46DD-4AB5-97FA-059B2197BDF2}">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3A1410CE-058A-42F1-8549-7A814E0A11EA}">
      <dgm:prSet phldrT="[テキスト]"/>
      <dgm:spPr/>
      <dgm:t>
        <a:bodyPr/>
        <a:lstStyle/>
        <a:p>
          <a:r>
            <a:rPr kumimoji="1" lang="ja-JP" altLang="en-US" u="sng" dirty="0">
              <a:solidFill>
                <a:srgbClr val="FF0000"/>
              </a:solidFill>
              <a:latin typeface="ＭＳ ゴシック" panose="020B0609070205080204" pitchFamily="49" charset="-128"/>
              <a:ea typeface="ＭＳ ゴシック" panose="020B0609070205080204" pitchFamily="49" charset="-128"/>
            </a:rPr>
            <a:t>設計方針書</a:t>
          </a:r>
        </a:p>
      </dgm:t>
    </dgm:pt>
    <dgm:pt modelId="{5E6D1779-8200-45EE-89E0-60304FBACB70}" type="parTrans" cxnId="{76CCC05D-D4ED-4CFE-B70F-D57AE11BC614}">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14F0A4A1-94A1-44DC-AF48-A9689F3D6E3C}" type="sibTrans" cxnId="{76CCC05D-D4ED-4CFE-B70F-D57AE11BC614}">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04959EA4-999C-4924-88AD-61345B00F1FF}">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基本設計</a:t>
          </a:r>
          <a:endParaRPr kumimoji="1" lang="en-US" altLang="ja-JP" dirty="0">
            <a:latin typeface="ＭＳ ゴシック" panose="020B0609070205080204" pitchFamily="49" charset="-128"/>
            <a:ea typeface="ＭＳ ゴシック" panose="020B0609070205080204" pitchFamily="49" charset="-128"/>
          </a:endParaRPr>
        </a:p>
        <a:p>
          <a:r>
            <a:rPr kumimoji="1" lang="ja-JP" altLang="en-US" dirty="0">
              <a:latin typeface="ＭＳ ゴシック" panose="020B0609070205080204" pitchFamily="49" charset="-128"/>
              <a:ea typeface="ＭＳ ゴシック" panose="020B0609070205080204" pitchFamily="49" charset="-128"/>
            </a:rPr>
            <a:t>プロセス</a:t>
          </a:r>
        </a:p>
      </dgm:t>
    </dgm:pt>
    <dgm:pt modelId="{2C0A87F2-B254-4F6C-84C7-4B7074F5DB1D}" type="parTrans" cxnId="{6F8A080D-4894-42A8-9AEB-A12EB2B4EBE0}">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C9FE2F17-CFFC-40BF-BA76-B8EE1C054EEB}" type="sibTrans" cxnId="{6F8A080D-4894-42A8-9AEB-A12EB2B4EBE0}">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483080B2-A717-4B97-A12B-F5F8761D2711}">
      <dgm:prSet phldrT="[テキスト]"/>
      <dgm:spPr/>
      <dgm:t>
        <a:bodyPr/>
        <a:lstStyle/>
        <a:p>
          <a:r>
            <a:rPr kumimoji="1" lang="ja-JP" altLang="en-US" dirty="0">
              <a:solidFill>
                <a:srgbClr val="FF0000"/>
              </a:solidFill>
              <a:latin typeface="ＭＳ ゴシック" panose="020B0609070205080204" pitchFamily="49" charset="-128"/>
              <a:ea typeface="ＭＳ ゴシック" panose="020B0609070205080204" pitchFamily="49" charset="-128"/>
            </a:rPr>
            <a:t>設計方針書</a:t>
          </a:r>
          <a:br>
            <a:rPr kumimoji="1" lang="en-US" altLang="ja-JP" dirty="0">
              <a:latin typeface="ＭＳ ゴシック" panose="020B0609070205080204" pitchFamily="49" charset="-128"/>
              <a:ea typeface="ＭＳ ゴシック" panose="020B0609070205080204" pitchFamily="49" charset="-128"/>
            </a:rPr>
          </a:br>
          <a:r>
            <a:rPr kumimoji="1" lang="ja-JP" altLang="en-US" dirty="0">
              <a:solidFill>
                <a:srgbClr val="FF0000"/>
              </a:solidFill>
              <a:latin typeface="ＭＳ ゴシック" panose="020B0609070205080204" pitchFamily="49" charset="-128"/>
              <a:ea typeface="ＭＳ ゴシック" panose="020B0609070205080204" pitchFamily="49" charset="-128"/>
            </a:rPr>
            <a:t>（変更が生じた場合は修正）</a:t>
          </a:r>
        </a:p>
      </dgm:t>
    </dgm:pt>
    <dgm:pt modelId="{D0FBA8DA-714A-441E-8A11-0234CCDE1336}" type="parTrans" cxnId="{E6E7127C-20A0-4988-90D1-B77C40FFCB0C}">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0CC6DB40-2765-423D-A855-067831C62E0F}" type="sibTrans" cxnId="{E6E7127C-20A0-4988-90D1-B77C40FFCB0C}">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2EA16B50-4EB6-4756-989A-118381FCF481}">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要件整理</a:t>
          </a:r>
        </a:p>
      </dgm:t>
    </dgm:pt>
    <dgm:pt modelId="{B8346FBC-161E-4DC7-A41B-19998A28D6BB}" type="sibTrans" cxnId="{4F4669C0-A0DF-4F87-A455-239A249EEE0B}">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27ED0B82-10CD-4A5B-9620-D4A18EA2F1C5}" type="parTrans" cxnId="{4F4669C0-A0DF-4F87-A455-239A249EEE0B}">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EE85EFE1-8D29-422E-9A6D-1B33C50B9130}">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見積書</a:t>
          </a:r>
        </a:p>
      </dgm:t>
    </dgm:pt>
    <dgm:pt modelId="{E484115A-5314-4EE0-8201-C683C558A169}" type="parTrans" cxnId="{14C3A547-7D18-4D76-8C8C-8CA4870DA2D8}">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CE1C3AD4-855D-46DB-B41D-43174719D128}" type="sibTrans" cxnId="{14C3A547-7D18-4D76-8C8C-8CA4870DA2D8}">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87248AD0-F13C-403B-9D9B-98E356498D4D}">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各種機能設計書</a:t>
          </a:r>
        </a:p>
      </dgm:t>
    </dgm:pt>
    <dgm:pt modelId="{05F64C81-6481-4366-A280-7505040EAF4B}" type="parTrans" cxnId="{D8454360-11DD-48B5-8BB2-5A21A9C84D44}">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597ED00B-6B8D-468A-974F-703DA35B8772}" type="sibTrans" cxnId="{D8454360-11DD-48B5-8BB2-5A21A9C84D44}">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38902E60-62D3-4071-ADA2-EC415DA4B138}">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要件定義書</a:t>
          </a:r>
        </a:p>
      </dgm:t>
    </dgm:pt>
    <dgm:pt modelId="{6393ACCC-2F45-4FA7-967B-75FD22F29C49}" type="parTrans" cxnId="{B4CBAB0E-64FF-4821-BD33-AB80447C4E93}">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2446C739-6C1C-4CFE-A44B-2098624B6E33}" type="sibTrans" cxnId="{B4CBAB0E-64FF-4821-BD33-AB80447C4E93}">
      <dgm:prSet/>
      <dgm:spPr/>
      <dgm:t>
        <a:bodyPr/>
        <a:lstStyle/>
        <a:p>
          <a:endParaRPr kumimoji="1" lang="ja-JP" altLang="en-US">
            <a:latin typeface="ＭＳ ゴシック" panose="020B0609070205080204" pitchFamily="49" charset="-128"/>
            <a:ea typeface="ＭＳ ゴシック" panose="020B0609070205080204" pitchFamily="49" charset="-128"/>
          </a:endParaRPr>
        </a:p>
      </dgm:t>
    </dgm:pt>
    <dgm:pt modelId="{867B8660-386B-4843-B38A-65646053943D}">
      <dgm:prSet phldrT="[テキスト]"/>
      <dgm:spPr/>
      <dgm:t>
        <a:bodyPr/>
        <a:lstStyle/>
        <a:p>
          <a:r>
            <a:rPr kumimoji="1" lang="ja-JP" altLang="en-US" dirty="0">
              <a:latin typeface="ＭＳ ゴシック" panose="020B0609070205080204" pitchFamily="49" charset="-128"/>
              <a:ea typeface="ＭＳ ゴシック" panose="020B0609070205080204" pitchFamily="49" charset="-128"/>
            </a:rPr>
            <a:t>調査資料</a:t>
          </a:r>
        </a:p>
      </dgm:t>
    </dgm:pt>
    <dgm:pt modelId="{8296B0D4-6E49-4CFC-9EA9-3FD1A40A4A20}" type="parTrans" cxnId="{BC674EEA-E340-4DFA-B4AD-48582F4FB632}">
      <dgm:prSet/>
      <dgm:spPr/>
      <dgm:t>
        <a:bodyPr/>
        <a:lstStyle/>
        <a:p>
          <a:endParaRPr kumimoji="1" lang="ja-JP" altLang="en-US"/>
        </a:p>
      </dgm:t>
    </dgm:pt>
    <dgm:pt modelId="{01DBE1F3-E8C7-4C02-8C58-7B6636E44894}" type="sibTrans" cxnId="{BC674EEA-E340-4DFA-B4AD-48582F4FB632}">
      <dgm:prSet/>
      <dgm:spPr/>
      <dgm:t>
        <a:bodyPr/>
        <a:lstStyle/>
        <a:p>
          <a:endParaRPr kumimoji="1" lang="ja-JP" altLang="en-US"/>
        </a:p>
      </dgm:t>
    </dgm:pt>
    <dgm:pt modelId="{758B23A7-1CE6-44A6-AE30-8675658A67E3}" type="pres">
      <dgm:prSet presAssocID="{BA5B1E53-CEDA-43D0-9CB4-5E834650D1ED}" presName="rootnode" presStyleCnt="0">
        <dgm:presLayoutVars>
          <dgm:chMax/>
          <dgm:chPref/>
          <dgm:dir/>
          <dgm:animLvl val="lvl"/>
        </dgm:presLayoutVars>
      </dgm:prSet>
      <dgm:spPr/>
    </dgm:pt>
    <dgm:pt modelId="{38065127-8963-486E-83DD-0A88B2396148}" type="pres">
      <dgm:prSet presAssocID="{D9D2DB1D-CC22-4174-8778-F5A2751C8AE8}" presName="composite" presStyleCnt="0"/>
      <dgm:spPr/>
    </dgm:pt>
    <dgm:pt modelId="{0CA0274B-1E5C-4F2B-A480-59CD499BF370}" type="pres">
      <dgm:prSet presAssocID="{D9D2DB1D-CC22-4174-8778-F5A2751C8AE8}" presName="bentUpArrow1" presStyleLbl="alignImgPlace1" presStyleIdx="0" presStyleCnt="2"/>
      <dgm:spPr/>
    </dgm:pt>
    <dgm:pt modelId="{0A230BF3-2E6F-4FB9-80F0-5866828CF32A}" type="pres">
      <dgm:prSet presAssocID="{D9D2DB1D-CC22-4174-8778-F5A2751C8AE8}" presName="ParentText" presStyleLbl="node1" presStyleIdx="0" presStyleCnt="3">
        <dgm:presLayoutVars>
          <dgm:chMax val="1"/>
          <dgm:chPref val="1"/>
          <dgm:bulletEnabled val="1"/>
        </dgm:presLayoutVars>
      </dgm:prSet>
      <dgm:spPr/>
    </dgm:pt>
    <dgm:pt modelId="{5CC36D92-33C8-43A2-B51E-AFCF31C0BA28}" type="pres">
      <dgm:prSet presAssocID="{D9D2DB1D-CC22-4174-8778-F5A2751C8AE8}" presName="ChildText" presStyleLbl="revTx" presStyleIdx="0" presStyleCnt="3" custScaleX="183619" custLinFactNeighborX="41250">
        <dgm:presLayoutVars>
          <dgm:chMax val="0"/>
          <dgm:chPref val="0"/>
          <dgm:bulletEnabled val="1"/>
        </dgm:presLayoutVars>
      </dgm:prSet>
      <dgm:spPr/>
    </dgm:pt>
    <dgm:pt modelId="{D8A583A6-30B5-4DFC-9928-1C01222C39C2}" type="pres">
      <dgm:prSet presAssocID="{EBBFB064-6140-483B-BD55-793449A0D435}" presName="sibTrans" presStyleCnt="0"/>
      <dgm:spPr/>
    </dgm:pt>
    <dgm:pt modelId="{014DC815-310C-4AE9-9433-731CBE5AEB18}" type="pres">
      <dgm:prSet presAssocID="{DB92D7EB-6236-49F8-83DE-C512309B5A8F}" presName="composite" presStyleCnt="0"/>
      <dgm:spPr/>
    </dgm:pt>
    <dgm:pt modelId="{F5614E57-5BFA-4BAB-8A85-8D3B1ABBAFCA}" type="pres">
      <dgm:prSet presAssocID="{DB92D7EB-6236-49F8-83DE-C512309B5A8F}" presName="bentUpArrow1" presStyleLbl="alignImgPlace1" presStyleIdx="1" presStyleCnt="2"/>
      <dgm:spPr/>
    </dgm:pt>
    <dgm:pt modelId="{558224DD-FE4E-4338-AD84-1EF3F8C42745}" type="pres">
      <dgm:prSet presAssocID="{DB92D7EB-6236-49F8-83DE-C512309B5A8F}" presName="ParentText" presStyleLbl="node1" presStyleIdx="1" presStyleCnt="3" custLinFactNeighborX="-1563" custLinFactNeighborY="-5599">
        <dgm:presLayoutVars>
          <dgm:chMax val="1"/>
          <dgm:chPref val="1"/>
          <dgm:bulletEnabled val="1"/>
        </dgm:presLayoutVars>
      </dgm:prSet>
      <dgm:spPr/>
    </dgm:pt>
    <dgm:pt modelId="{D7D0BE22-3338-4932-9E22-A519B0D9A960}" type="pres">
      <dgm:prSet presAssocID="{DB92D7EB-6236-49F8-83DE-C512309B5A8F}" presName="ChildText" presStyleLbl="revTx" presStyleIdx="1" presStyleCnt="3" custScaleX="151420" custLinFactNeighborX="24123">
        <dgm:presLayoutVars>
          <dgm:chMax val="0"/>
          <dgm:chPref val="0"/>
          <dgm:bulletEnabled val="1"/>
        </dgm:presLayoutVars>
      </dgm:prSet>
      <dgm:spPr/>
    </dgm:pt>
    <dgm:pt modelId="{DB049E5C-8F2F-4F9D-AF13-66E34F2F861B}" type="pres">
      <dgm:prSet presAssocID="{D4C548D5-363D-47C7-9690-79B7D129342E}" presName="sibTrans" presStyleCnt="0"/>
      <dgm:spPr/>
    </dgm:pt>
    <dgm:pt modelId="{109A6928-4283-4BF0-AFA2-82F85B999E2E}" type="pres">
      <dgm:prSet presAssocID="{04959EA4-999C-4924-88AD-61345B00F1FF}" presName="composite" presStyleCnt="0"/>
      <dgm:spPr/>
    </dgm:pt>
    <dgm:pt modelId="{58A0A54F-5590-4F02-ADC4-D1A6F1B50B50}" type="pres">
      <dgm:prSet presAssocID="{04959EA4-999C-4924-88AD-61345B00F1FF}" presName="ParentText" presStyleLbl="node1" presStyleIdx="2" presStyleCnt="3">
        <dgm:presLayoutVars>
          <dgm:chMax val="1"/>
          <dgm:chPref val="1"/>
          <dgm:bulletEnabled val="1"/>
        </dgm:presLayoutVars>
      </dgm:prSet>
      <dgm:spPr/>
    </dgm:pt>
    <dgm:pt modelId="{289D5DE8-51BC-48E0-9B06-883373F9AD80}" type="pres">
      <dgm:prSet presAssocID="{04959EA4-999C-4924-88AD-61345B00F1FF}" presName="FinalChildText" presStyleLbl="revTx" presStyleIdx="2" presStyleCnt="3" custScaleX="222190" custLinFactNeighborX="66587">
        <dgm:presLayoutVars>
          <dgm:chMax val="0"/>
          <dgm:chPref val="0"/>
          <dgm:bulletEnabled val="1"/>
        </dgm:presLayoutVars>
      </dgm:prSet>
      <dgm:spPr/>
    </dgm:pt>
  </dgm:ptLst>
  <dgm:cxnLst>
    <dgm:cxn modelId="{36EA6E09-77BF-4A29-87A5-DCDA68B1A563}" type="presOf" srcId="{DB92D7EB-6236-49F8-83DE-C512309B5A8F}" destId="{558224DD-FE4E-4338-AD84-1EF3F8C42745}" srcOrd="0" destOrd="0" presId="urn:microsoft.com/office/officeart/2005/8/layout/StepDownProcess"/>
    <dgm:cxn modelId="{F4365A0C-8A75-4DF0-8A48-6A8937F6F521}" type="presOf" srcId="{BA5B1E53-CEDA-43D0-9CB4-5E834650D1ED}" destId="{758B23A7-1CE6-44A6-AE30-8675658A67E3}" srcOrd="0" destOrd="0" presId="urn:microsoft.com/office/officeart/2005/8/layout/StepDownProcess"/>
    <dgm:cxn modelId="{6F8A080D-4894-42A8-9AEB-A12EB2B4EBE0}" srcId="{BA5B1E53-CEDA-43D0-9CB4-5E834650D1ED}" destId="{04959EA4-999C-4924-88AD-61345B00F1FF}" srcOrd="2" destOrd="0" parTransId="{2C0A87F2-B254-4F6C-84C7-4B7074F5DB1D}" sibTransId="{C9FE2F17-CFFC-40BF-BA76-B8EE1C054EEB}"/>
    <dgm:cxn modelId="{EDB1C60D-ABC5-4938-ACDD-C5C9527B483C}" type="presOf" srcId="{3A1410CE-058A-42F1-8549-7A814E0A11EA}" destId="{D7D0BE22-3338-4932-9E22-A519B0D9A960}" srcOrd="0" destOrd="0" presId="urn:microsoft.com/office/officeart/2005/8/layout/StepDownProcess"/>
    <dgm:cxn modelId="{B4CBAB0E-64FF-4821-BD33-AB80447C4E93}" srcId="{D9D2DB1D-CC22-4174-8778-F5A2751C8AE8}" destId="{38902E60-62D3-4071-ADA2-EC415DA4B138}" srcOrd="1" destOrd="0" parTransId="{6393ACCC-2F45-4FA7-967B-75FD22F29C49}" sibTransId="{2446C739-6C1C-4CFE-A44B-2098624B6E33}"/>
    <dgm:cxn modelId="{33B3BB36-46DD-4AB5-97FA-059B2197BDF2}" srcId="{BA5B1E53-CEDA-43D0-9CB4-5E834650D1ED}" destId="{DB92D7EB-6236-49F8-83DE-C512309B5A8F}" srcOrd="1" destOrd="0" parTransId="{6A5A805B-2805-4DD5-BA21-771245FF7FA1}" sibTransId="{D4C548D5-363D-47C7-9690-79B7D129342E}"/>
    <dgm:cxn modelId="{76CCC05D-D4ED-4CFE-B70F-D57AE11BC614}" srcId="{DB92D7EB-6236-49F8-83DE-C512309B5A8F}" destId="{3A1410CE-058A-42F1-8549-7A814E0A11EA}" srcOrd="0" destOrd="0" parTransId="{5E6D1779-8200-45EE-89E0-60304FBACB70}" sibTransId="{14F0A4A1-94A1-44DC-AF48-A9689F3D6E3C}"/>
    <dgm:cxn modelId="{D8454360-11DD-48B5-8BB2-5A21A9C84D44}" srcId="{04959EA4-999C-4924-88AD-61345B00F1FF}" destId="{87248AD0-F13C-403B-9D9B-98E356498D4D}" srcOrd="1" destOrd="0" parTransId="{05F64C81-6481-4366-A280-7505040EAF4B}" sibTransId="{597ED00B-6B8D-468A-974F-703DA35B8772}"/>
    <dgm:cxn modelId="{14C3A547-7D18-4D76-8C8C-8CA4870DA2D8}" srcId="{DB92D7EB-6236-49F8-83DE-C512309B5A8F}" destId="{EE85EFE1-8D29-422E-9A6D-1B33C50B9130}" srcOrd="1" destOrd="0" parTransId="{E484115A-5314-4EE0-8201-C683C558A169}" sibTransId="{CE1C3AD4-855D-46DB-B41D-43174719D128}"/>
    <dgm:cxn modelId="{E6E7127C-20A0-4988-90D1-B77C40FFCB0C}" srcId="{04959EA4-999C-4924-88AD-61345B00F1FF}" destId="{483080B2-A717-4B97-A12B-F5F8761D2711}" srcOrd="0" destOrd="0" parTransId="{D0FBA8DA-714A-441E-8A11-0234CCDE1336}" sibTransId="{0CC6DB40-2765-423D-A855-067831C62E0F}"/>
    <dgm:cxn modelId="{061FAA7D-8FE1-4EB2-BA69-276F4181BF5C}" type="presOf" srcId="{04959EA4-999C-4924-88AD-61345B00F1FF}" destId="{58A0A54F-5590-4F02-ADC4-D1A6F1B50B50}" srcOrd="0" destOrd="0" presId="urn:microsoft.com/office/officeart/2005/8/layout/StepDownProcess"/>
    <dgm:cxn modelId="{63569281-B8C6-40EB-89BD-47E8018AB5E5}" type="presOf" srcId="{867B8660-386B-4843-B38A-65646053943D}" destId="{5CC36D92-33C8-43A2-B51E-AFCF31C0BA28}" srcOrd="0" destOrd="2" presId="urn:microsoft.com/office/officeart/2005/8/layout/StepDownProcess"/>
    <dgm:cxn modelId="{85C45082-3C7B-434C-A804-0566806BBBF8}" type="presOf" srcId="{EE85EFE1-8D29-422E-9A6D-1B33C50B9130}" destId="{D7D0BE22-3338-4932-9E22-A519B0D9A960}" srcOrd="0" destOrd="1" presId="urn:microsoft.com/office/officeart/2005/8/layout/StepDownProcess"/>
    <dgm:cxn modelId="{B72E2387-336A-430E-8C33-211945AE57B5}" type="presOf" srcId="{483080B2-A717-4B97-A12B-F5F8761D2711}" destId="{289D5DE8-51BC-48E0-9B06-883373F9AD80}" srcOrd="0" destOrd="0" presId="urn:microsoft.com/office/officeart/2005/8/layout/StepDownProcess"/>
    <dgm:cxn modelId="{15114B95-AD16-4782-BAF6-465DDC8143C2}" srcId="{BA5B1E53-CEDA-43D0-9CB4-5E834650D1ED}" destId="{D9D2DB1D-CC22-4174-8778-F5A2751C8AE8}" srcOrd="0" destOrd="0" parTransId="{1AADA84D-529E-43FD-8C5E-D9089D7CCC6E}" sibTransId="{EBBFB064-6140-483B-BD55-793449A0D435}"/>
    <dgm:cxn modelId="{9574C8A8-5CD0-4209-998F-243FB787467C}" type="presOf" srcId="{87248AD0-F13C-403B-9D9B-98E356498D4D}" destId="{289D5DE8-51BC-48E0-9B06-883373F9AD80}" srcOrd="0" destOrd="1" presId="urn:microsoft.com/office/officeart/2005/8/layout/StepDownProcess"/>
    <dgm:cxn modelId="{7A563FB6-F788-4B5C-ACF8-5372D54A6FA9}" type="presOf" srcId="{2EA16B50-4EB6-4756-989A-118381FCF481}" destId="{5CC36D92-33C8-43A2-B51E-AFCF31C0BA28}" srcOrd="0" destOrd="0" presId="urn:microsoft.com/office/officeart/2005/8/layout/StepDownProcess"/>
    <dgm:cxn modelId="{6447F0BE-994F-425F-93BA-E6D73D97A6BD}" type="presOf" srcId="{D9D2DB1D-CC22-4174-8778-F5A2751C8AE8}" destId="{0A230BF3-2E6F-4FB9-80F0-5866828CF32A}" srcOrd="0" destOrd="0" presId="urn:microsoft.com/office/officeart/2005/8/layout/StepDownProcess"/>
    <dgm:cxn modelId="{4F4669C0-A0DF-4F87-A455-239A249EEE0B}" srcId="{D9D2DB1D-CC22-4174-8778-F5A2751C8AE8}" destId="{2EA16B50-4EB6-4756-989A-118381FCF481}" srcOrd="0" destOrd="0" parTransId="{27ED0B82-10CD-4A5B-9620-D4A18EA2F1C5}" sibTransId="{B8346FBC-161E-4DC7-A41B-19998A28D6BB}"/>
    <dgm:cxn modelId="{9841C4C0-281D-41E8-AFAC-B54C00F59A87}" type="presOf" srcId="{38902E60-62D3-4071-ADA2-EC415DA4B138}" destId="{5CC36D92-33C8-43A2-B51E-AFCF31C0BA28}" srcOrd="0" destOrd="1" presId="urn:microsoft.com/office/officeart/2005/8/layout/StepDownProcess"/>
    <dgm:cxn modelId="{BC674EEA-E340-4DFA-B4AD-48582F4FB632}" srcId="{D9D2DB1D-CC22-4174-8778-F5A2751C8AE8}" destId="{867B8660-386B-4843-B38A-65646053943D}" srcOrd="2" destOrd="0" parTransId="{8296B0D4-6E49-4CFC-9EA9-3FD1A40A4A20}" sibTransId="{01DBE1F3-E8C7-4C02-8C58-7B6636E44894}"/>
    <dgm:cxn modelId="{3287473C-62F1-489E-91DA-D1B227DA230C}" type="presParOf" srcId="{758B23A7-1CE6-44A6-AE30-8675658A67E3}" destId="{38065127-8963-486E-83DD-0A88B2396148}" srcOrd="0" destOrd="0" presId="urn:microsoft.com/office/officeart/2005/8/layout/StepDownProcess"/>
    <dgm:cxn modelId="{8C527AB5-CEBA-4903-8348-EBCA83BB8FE9}" type="presParOf" srcId="{38065127-8963-486E-83DD-0A88B2396148}" destId="{0CA0274B-1E5C-4F2B-A480-59CD499BF370}" srcOrd="0" destOrd="0" presId="urn:microsoft.com/office/officeart/2005/8/layout/StepDownProcess"/>
    <dgm:cxn modelId="{3C909E98-E3D1-49B4-B6B5-927885A0E71B}" type="presParOf" srcId="{38065127-8963-486E-83DD-0A88B2396148}" destId="{0A230BF3-2E6F-4FB9-80F0-5866828CF32A}" srcOrd="1" destOrd="0" presId="urn:microsoft.com/office/officeart/2005/8/layout/StepDownProcess"/>
    <dgm:cxn modelId="{F2B9DF54-3425-43D5-AA21-02E55928F2F4}" type="presParOf" srcId="{38065127-8963-486E-83DD-0A88B2396148}" destId="{5CC36D92-33C8-43A2-B51E-AFCF31C0BA28}" srcOrd="2" destOrd="0" presId="urn:microsoft.com/office/officeart/2005/8/layout/StepDownProcess"/>
    <dgm:cxn modelId="{6600F803-5757-4968-B437-A4ED306EC0D4}" type="presParOf" srcId="{758B23A7-1CE6-44A6-AE30-8675658A67E3}" destId="{D8A583A6-30B5-4DFC-9928-1C01222C39C2}" srcOrd="1" destOrd="0" presId="urn:microsoft.com/office/officeart/2005/8/layout/StepDownProcess"/>
    <dgm:cxn modelId="{2A4AF7C7-4275-4B15-9490-93F3E33D84E7}" type="presParOf" srcId="{758B23A7-1CE6-44A6-AE30-8675658A67E3}" destId="{014DC815-310C-4AE9-9433-731CBE5AEB18}" srcOrd="2" destOrd="0" presId="urn:microsoft.com/office/officeart/2005/8/layout/StepDownProcess"/>
    <dgm:cxn modelId="{E81EE3FC-0C64-4C70-A5F3-7B127D3D16E4}" type="presParOf" srcId="{014DC815-310C-4AE9-9433-731CBE5AEB18}" destId="{F5614E57-5BFA-4BAB-8A85-8D3B1ABBAFCA}" srcOrd="0" destOrd="0" presId="urn:microsoft.com/office/officeart/2005/8/layout/StepDownProcess"/>
    <dgm:cxn modelId="{0158A81B-AC6C-4999-AFA2-309CE1D8B0D5}" type="presParOf" srcId="{014DC815-310C-4AE9-9433-731CBE5AEB18}" destId="{558224DD-FE4E-4338-AD84-1EF3F8C42745}" srcOrd="1" destOrd="0" presId="urn:microsoft.com/office/officeart/2005/8/layout/StepDownProcess"/>
    <dgm:cxn modelId="{723A6DE2-EB57-40D0-A47F-4AACBA12337C}" type="presParOf" srcId="{014DC815-310C-4AE9-9433-731CBE5AEB18}" destId="{D7D0BE22-3338-4932-9E22-A519B0D9A960}" srcOrd="2" destOrd="0" presId="urn:microsoft.com/office/officeart/2005/8/layout/StepDownProcess"/>
    <dgm:cxn modelId="{AA62BB2A-8C8D-455A-9620-610E50FC2427}" type="presParOf" srcId="{758B23A7-1CE6-44A6-AE30-8675658A67E3}" destId="{DB049E5C-8F2F-4F9D-AF13-66E34F2F861B}" srcOrd="3" destOrd="0" presId="urn:microsoft.com/office/officeart/2005/8/layout/StepDownProcess"/>
    <dgm:cxn modelId="{0EAA75A5-7784-4CBD-97A3-123A59C56DAB}" type="presParOf" srcId="{758B23A7-1CE6-44A6-AE30-8675658A67E3}" destId="{109A6928-4283-4BF0-AFA2-82F85B999E2E}" srcOrd="4" destOrd="0" presId="urn:microsoft.com/office/officeart/2005/8/layout/StepDownProcess"/>
    <dgm:cxn modelId="{D88DE6D0-CAFF-4C72-B41B-57C54A69644B}" type="presParOf" srcId="{109A6928-4283-4BF0-AFA2-82F85B999E2E}" destId="{58A0A54F-5590-4F02-ADC4-D1A6F1B50B50}" srcOrd="0" destOrd="0" presId="urn:microsoft.com/office/officeart/2005/8/layout/StepDownProcess"/>
    <dgm:cxn modelId="{9C0AB66F-7357-40BC-AEEF-921E17F4D637}" type="presParOf" srcId="{109A6928-4283-4BF0-AFA2-82F85B999E2E}" destId="{289D5DE8-51BC-48E0-9B06-883373F9AD80}"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A0274B-1E5C-4F2B-A480-59CD499BF370}">
      <dsp:nvSpPr>
        <dsp:cNvPr id="0" name=""/>
        <dsp:cNvSpPr/>
      </dsp:nvSpPr>
      <dsp:spPr>
        <a:xfrm rot="5400000">
          <a:off x="859155" y="827006"/>
          <a:ext cx="731415" cy="832690"/>
        </a:xfrm>
        <a:prstGeom prst="bentUpArrow">
          <a:avLst>
            <a:gd name="adj1" fmla="val 32840"/>
            <a:gd name="adj2" fmla="val 25000"/>
            <a:gd name="adj3" fmla="val 35780"/>
          </a:avLst>
        </a:prstGeom>
        <a:solidFill>
          <a:schemeClr val="accent3">
            <a:tint val="50000"/>
            <a:hueOff val="0"/>
            <a:satOff val="0"/>
            <a:lumOff val="0"/>
            <a:alphaOff val="0"/>
          </a:schemeClr>
        </a:solidFill>
        <a:ln w="1270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A230BF3-2E6F-4FB9-80F0-5866828CF32A}">
      <dsp:nvSpPr>
        <dsp:cNvPr id="0" name=""/>
        <dsp:cNvSpPr/>
      </dsp:nvSpPr>
      <dsp:spPr>
        <a:xfrm>
          <a:off x="665374" y="16217"/>
          <a:ext cx="1231273" cy="861851"/>
        </a:xfrm>
        <a:prstGeom prst="roundRect">
          <a:avLst>
            <a:gd name="adj" fmla="val 16670"/>
          </a:avLst>
        </a:prstGeom>
        <a:solidFill>
          <a:schemeClr val="accent3">
            <a:hueOff val="0"/>
            <a:satOff val="0"/>
            <a:lumOff val="0"/>
            <a:alphaOff val="0"/>
          </a:schemeClr>
        </a:solidFill>
        <a:ln w="1270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要件定義</a:t>
          </a:r>
          <a:endParaRPr kumimoji="1" lang="en-US" altLang="ja-JP" sz="1800" kern="1200" dirty="0">
            <a:latin typeface="ＭＳ ゴシック" panose="020B0609070205080204" pitchFamily="49" charset="-128"/>
            <a:ea typeface="ＭＳ ゴシック" panose="020B0609070205080204" pitchFamily="49" charset="-128"/>
          </a:endParaRPr>
        </a:p>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プロセス</a:t>
          </a:r>
        </a:p>
      </dsp:txBody>
      <dsp:txXfrm>
        <a:off x="707454" y="58297"/>
        <a:ext cx="1147113" cy="777691"/>
      </dsp:txXfrm>
    </dsp:sp>
    <dsp:sp modelId="{5CC36D92-33C8-43A2-B51E-AFCF31C0BA28}">
      <dsp:nvSpPr>
        <dsp:cNvPr id="0" name=""/>
        <dsp:cNvSpPr/>
      </dsp:nvSpPr>
      <dsp:spPr>
        <a:xfrm>
          <a:off x="1891637" y="98414"/>
          <a:ext cx="1644328" cy="696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kumimoji="1" lang="ja-JP" altLang="en-US" sz="1100" kern="1200" dirty="0">
              <a:latin typeface="ＭＳ ゴシック" panose="020B0609070205080204" pitchFamily="49" charset="-128"/>
              <a:ea typeface="ＭＳ ゴシック" panose="020B0609070205080204" pitchFamily="49" charset="-128"/>
            </a:rPr>
            <a:t>要件整理</a:t>
          </a:r>
        </a:p>
        <a:p>
          <a:pPr marL="57150" lvl="1" indent="-57150" algn="l" defTabSz="488950">
            <a:lnSpc>
              <a:spcPct val="90000"/>
            </a:lnSpc>
            <a:spcBef>
              <a:spcPct val="0"/>
            </a:spcBef>
            <a:spcAft>
              <a:spcPct val="15000"/>
            </a:spcAft>
            <a:buChar char="•"/>
          </a:pPr>
          <a:r>
            <a:rPr kumimoji="1" lang="ja-JP" altLang="en-US" sz="1100" kern="1200" dirty="0">
              <a:latin typeface="ＭＳ ゴシック" panose="020B0609070205080204" pitchFamily="49" charset="-128"/>
              <a:ea typeface="ＭＳ ゴシック" panose="020B0609070205080204" pitchFamily="49" charset="-128"/>
            </a:rPr>
            <a:t>要件定義書</a:t>
          </a:r>
        </a:p>
        <a:p>
          <a:pPr marL="57150" lvl="1" indent="-57150" algn="l" defTabSz="488950">
            <a:lnSpc>
              <a:spcPct val="90000"/>
            </a:lnSpc>
            <a:spcBef>
              <a:spcPct val="0"/>
            </a:spcBef>
            <a:spcAft>
              <a:spcPct val="15000"/>
            </a:spcAft>
            <a:buChar char="•"/>
          </a:pPr>
          <a:r>
            <a:rPr kumimoji="1" lang="ja-JP" altLang="en-US" sz="1100" kern="1200" dirty="0">
              <a:latin typeface="ＭＳ ゴシック" panose="020B0609070205080204" pitchFamily="49" charset="-128"/>
              <a:ea typeface="ＭＳ ゴシック" panose="020B0609070205080204" pitchFamily="49" charset="-128"/>
            </a:rPr>
            <a:t>調査資料</a:t>
          </a:r>
        </a:p>
      </dsp:txBody>
      <dsp:txXfrm>
        <a:off x="1891637" y="98414"/>
        <a:ext cx="1644328" cy="696586"/>
      </dsp:txXfrm>
    </dsp:sp>
    <dsp:sp modelId="{F5614E57-5BFA-4BAB-8A85-8D3B1ABBAFCA}">
      <dsp:nvSpPr>
        <dsp:cNvPr id="0" name=""/>
        <dsp:cNvSpPr/>
      </dsp:nvSpPr>
      <dsp:spPr>
        <a:xfrm rot="5400000">
          <a:off x="2059727" y="1795149"/>
          <a:ext cx="731415" cy="832690"/>
        </a:xfrm>
        <a:prstGeom prst="bentUpArrow">
          <a:avLst>
            <a:gd name="adj1" fmla="val 32840"/>
            <a:gd name="adj2" fmla="val 25000"/>
            <a:gd name="adj3" fmla="val 35780"/>
          </a:avLst>
        </a:prstGeom>
        <a:solidFill>
          <a:schemeClr val="accent3">
            <a:tint val="50000"/>
            <a:hueOff val="-1661033"/>
            <a:satOff val="-9650"/>
            <a:lumOff val="11103"/>
            <a:alphaOff val="0"/>
          </a:schemeClr>
        </a:solidFill>
        <a:ln w="1270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8224DD-FE4E-4338-AD84-1EF3F8C42745}">
      <dsp:nvSpPr>
        <dsp:cNvPr id="0" name=""/>
        <dsp:cNvSpPr/>
      </dsp:nvSpPr>
      <dsp:spPr>
        <a:xfrm>
          <a:off x="1846702" y="936105"/>
          <a:ext cx="1231273" cy="861851"/>
        </a:xfrm>
        <a:prstGeom prst="roundRect">
          <a:avLst>
            <a:gd name="adj" fmla="val 16670"/>
          </a:avLst>
        </a:prstGeom>
        <a:solidFill>
          <a:schemeClr val="accent3">
            <a:hueOff val="-964908"/>
            <a:satOff val="0"/>
            <a:lumOff val="-981"/>
            <a:alphaOff val="0"/>
          </a:schemeClr>
        </a:solidFill>
        <a:ln w="1270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見積</a:t>
          </a:r>
          <a:endParaRPr kumimoji="1" lang="en-US" altLang="ja-JP" sz="1800" kern="1200" dirty="0">
            <a:latin typeface="ＭＳ ゴシック" panose="020B0609070205080204" pitchFamily="49" charset="-128"/>
            <a:ea typeface="ＭＳ ゴシック" panose="020B0609070205080204" pitchFamily="49" charset="-128"/>
          </a:endParaRPr>
        </a:p>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プロセス</a:t>
          </a:r>
        </a:p>
      </dsp:txBody>
      <dsp:txXfrm>
        <a:off x="1888782" y="978185"/>
        <a:ext cx="1147113" cy="777691"/>
      </dsp:txXfrm>
    </dsp:sp>
    <dsp:sp modelId="{D7D0BE22-3338-4932-9E22-A519B0D9A960}">
      <dsp:nvSpPr>
        <dsp:cNvPr id="0" name=""/>
        <dsp:cNvSpPr/>
      </dsp:nvSpPr>
      <dsp:spPr>
        <a:xfrm>
          <a:off x="3083008" y="1066557"/>
          <a:ext cx="1355982" cy="696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kumimoji="1" lang="ja-JP" altLang="en-US" sz="1100" u="sng" kern="1200" dirty="0">
              <a:solidFill>
                <a:srgbClr val="FF0000"/>
              </a:solidFill>
              <a:latin typeface="ＭＳ ゴシック" panose="020B0609070205080204" pitchFamily="49" charset="-128"/>
              <a:ea typeface="ＭＳ ゴシック" panose="020B0609070205080204" pitchFamily="49" charset="-128"/>
            </a:rPr>
            <a:t>設計方針書</a:t>
          </a:r>
        </a:p>
        <a:p>
          <a:pPr marL="57150" lvl="1" indent="-57150" algn="l" defTabSz="488950">
            <a:lnSpc>
              <a:spcPct val="90000"/>
            </a:lnSpc>
            <a:spcBef>
              <a:spcPct val="0"/>
            </a:spcBef>
            <a:spcAft>
              <a:spcPct val="15000"/>
            </a:spcAft>
            <a:buChar char="•"/>
          </a:pPr>
          <a:r>
            <a:rPr kumimoji="1" lang="ja-JP" altLang="en-US" sz="1100" kern="1200" dirty="0">
              <a:latin typeface="ＭＳ ゴシック" panose="020B0609070205080204" pitchFamily="49" charset="-128"/>
              <a:ea typeface="ＭＳ ゴシック" panose="020B0609070205080204" pitchFamily="49" charset="-128"/>
            </a:rPr>
            <a:t>見積書</a:t>
          </a:r>
        </a:p>
      </dsp:txBody>
      <dsp:txXfrm>
        <a:off x="3083008" y="1066557"/>
        <a:ext cx="1355982" cy="696586"/>
      </dsp:txXfrm>
    </dsp:sp>
    <dsp:sp modelId="{58A0A54F-5590-4F02-ADC4-D1A6F1B50B50}">
      <dsp:nvSpPr>
        <dsp:cNvPr id="0" name=""/>
        <dsp:cNvSpPr/>
      </dsp:nvSpPr>
      <dsp:spPr>
        <a:xfrm>
          <a:off x="3066519" y="1952504"/>
          <a:ext cx="1231273" cy="861851"/>
        </a:xfrm>
        <a:prstGeom prst="roundRect">
          <a:avLst>
            <a:gd name="adj" fmla="val 16670"/>
          </a:avLst>
        </a:prstGeom>
        <a:solidFill>
          <a:schemeClr val="accent3">
            <a:hueOff val="-1929816"/>
            <a:satOff val="0"/>
            <a:lumOff val="-1961"/>
            <a:alphaOff val="0"/>
          </a:schemeClr>
        </a:solidFill>
        <a:ln w="12700">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基本設計</a:t>
          </a:r>
          <a:endParaRPr kumimoji="1" lang="en-US" altLang="ja-JP" sz="1800" kern="1200" dirty="0">
            <a:latin typeface="ＭＳ ゴシック" panose="020B0609070205080204" pitchFamily="49" charset="-128"/>
            <a:ea typeface="ＭＳ ゴシック" panose="020B0609070205080204" pitchFamily="49" charset="-128"/>
          </a:endParaRPr>
        </a:p>
        <a:p>
          <a:pPr marL="0" lvl="0" indent="0" algn="ctr" defTabSz="800100">
            <a:lnSpc>
              <a:spcPct val="90000"/>
            </a:lnSpc>
            <a:spcBef>
              <a:spcPct val="0"/>
            </a:spcBef>
            <a:spcAft>
              <a:spcPct val="35000"/>
            </a:spcAft>
            <a:buNone/>
          </a:pPr>
          <a:r>
            <a:rPr kumimoji="1" lang="ja-JP" altLang="en-US" sz="1800" kern="1200" dirty="0">
              <a:latin typeface="ＭＳ ゴシック" panose="020B0609070205080204" pitchFamily="49" charset="-128"/>
              <a:ea typeface="ＭＳ ゴシック" panose="020B0609070205080204" pitchFamily="49" charset="-128"/>
            </a:rPr>
            <a:t>プロセス</a:t>
          </a:r>
        </a:p>
      </dsp:txBody>
      <dsp:txXfrm>
        <a:off x="3108599" y="1994584"/>
        <a:ext cx="1147113" cy="777691"/>
      </dsp:txXfrm>
    </dsp:sp>
    <dsp:sp modelId="{289D5DE8-51BC-48E0-9B06-883373F9AD80}">
      <dsp:nvSpPr>
        <dsp:cNvPr id="0" name=""/>
        <dsp:cNvSpPr/>
      </dsp:nvSpPr>
      <dsp:spPr>
        <a:xfrm>
          <a:off x="4346974" y="2034701"/>
          <a:ext cx="1989735" cy="696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kumimoji="1" lang="ja-JP" altLang="en-US" sz="1100" kern="1200" dirty="0">
              <a:solidFill>
                <a:srgbClr val="FF0000"/>
              </a:solidFill>
              <a:latin typeface="ＭＳ ゴシック" panose="020B0609070205080204" pitchFamily="49" charset="-128"/>
              <a:ea typeface="ＭＳ ゴシック" panose="020B0609070205080204" pitchFamily="49" charset="-128"/>
            </a:rPr>
            <a:t>設計方針書</a:t>
          </a:r>
          <a:br>
            <a:rPr kumimoji="1" lang="en-US" altLang="ja-JP" sz="1100" kern="1200" dirty="0">
              <a:latin typeface="ＭＳ ゴシック" panose="020B0609070205080204" pitchFamily="49" charset="-128"/>
              <a:ea typeface="ＭＳ ゴシック" panose="020B0609070205080204" pitchFamily="49" charset="-128"/>
            </a:rPr>
          </a:br>
          <a:r>
            <a:rPr kumimoji="1" lang="ja-JP" altLang="en-US" sz="1100" kern="1200" dirty="0">
              <a:solidFill>
                <a:srgbClr val="FF0000"/>
              </a:solidFill>
              <a:latin typeface="ＭＳ ゴシック" panose="020B0609070205080204" pitchFamily="49" charset="-128"/>
              <a:ea typeface="ＭＳ ゴシック" panose="020B0609070205080204" pitchFamily="49" charset="-128"/>
            </a:rPr>
            <a:t>（変更が生じた場合は修正）</a:t>
          </a:r>
        </a:p>
        <a:p>
          <a:pPr marL="57150" lvl="1" indent="-57150" algn="l" defTabSz="488950">
            <a:lnSpc>
              <a:spcPct val="90000"/>
            </a:lnSpc>
            <a:spcBef>
              <a:spcPct val="0"/>
            </a:spcBef>
            <a:spcAft>
              <a:spcPct val="15000"/>
            </a:spcAft>
            <a:buChar char="•"/>
          </a:pPr>
          <a:r>
            <a:rPr kumimoji="1" lang="ja-JP" altLang="en-US" sz="1100" kern="1200" dirty="0">
              <a:latin typeface="ＭＳ ゴシック" panose="020B0609070205080204" pitchFamily="49" charset="-128"/>
              <a:ea typeface="ＭＳ ゴシック" panose="020B0609070205080204" pitchFamily="49" charset="-128"/>
            </a:rPr>
            <a:t>各種機能設計書</a:t>
          </a:r>
        </a:p>
      </dsp:txBody>
      <dsp:txXfrm>
        <a:off x="4346974" y="2034701"/>
        <a:ext cx="1989735" cy="696586"/>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2" y="1"/>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t" anchorCtr="0" compatLnSpc="1">
            <a:prstTxWarp prst="textNoShape">
              <a:avLst/>
            </a:prstTxWarp>
          </a:bodyPr>
          <a:lstStyle>
            <a:lvl1pPr algn="l" defTabSz="905389">
              <a:lnSpc>
                <a:spcPct val="100000"/>
              </a:lnSpc>
              <a:defRPr sz="1100">
                <a:latin typeface="Times New Roman" pitchFamily="18" charset="0"/>
                <a:ea typeface="ＭＳ Ｐゴシック" pitchFamily="50" charset="-128"/>
              </a:defRPr>
            </a:lvl1pPr>
          </a:lstStyle>
          <a:p>
            <a:pPr>
              <a:defRPr/>
            </a:pPr>
            <a:endParaRPr lang="en-US" altLang="ja-JP"/>
          </a:p>
        </p:txBody>
      </p:sp>
      <p:sp>
        <p:nvSpPr>
          <p:cNvPr id="27651" name="Rectangle 3"/>
          <p:cNvSpPr>
            <a:spLocks noGrp="1" noChangeArrowheads="1"/>
          </p:cNvSpPr>
          <p:nvPr>
            <p:ph type="dt" sz="quarter" idx="1"/>
          </p:nvPr>
        </p:nvSpPr>
        <p:spPr bwMode="auto">
          <a:xfrm>
            <a:off x="3853763" y="1"/>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t" anchorCtr="0" compatLnSpc="1">
            <a:prstTxWarp prst="textNoShape">
              <a:avLst/>
            </a:prstTxWarp>
          </a:bodyPr>
          <a:lstStyle>
            <a:lvl1pPr algn="r" defTabSz="905389">
              <a:lnSpc>
                <a:spcPct val="100000"/>
              </a:lnSpc>
              <a:defRPr sz="1100">
                <a:latin typeface="Times New Roman" pitchFamily="18" charset="0"/>
                <a:ea typeface="ＭＳ Ｐゴシック" pitchFamily="50" charset="-128"/>
              </a:defRPr>
            </a:lvl1pPr>
          </a:lstStyle>
          <a:p>
            <a:pPr>
              <a:defRPr/>
            </a:pPr>
            <a:fld id="{59C65DCB-3F28-4BB1-8C60-DCCAA5FCDE24}" type="datetime8">
              <a:rPr lang="ja-JP" altLang="en-US"/>
              <a:pPr>
                <a:defRPr/>
              </a:pPr>
              <a:t>26/6/12 15時19分</a:t>
            </a:fld>
            <a:endParaRPr lang="en-US" altLang="ja-JP"/>
          </a:p>
        </p:txBody>
      </p:sp>
      <p:sp>
        <p:nvSpPr>
          <p:cNvPr id="27652" name="Rectangle 4"/>
          <p:cNvSpPr>
            <a:spLocks noGrp="1" noChangeArrowheads="1"/>
          </p:cNvSpPr>
          <p:nvPr>
            <p:ph type="ftr" sz="quarter" idx="2"/>
          </p:nvPr>
        </p:nvSpPr>
        <p:spPr bwMode="auto">
          <a:xfrm>
            <a:off x="2" y="9442453"/>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b" anchorCtr="0" compatLnSpc="1">
            <a:prstTxWarp prst="textNoShape">
              <a:avLst/>
            </a:prstTxWarp>
          </a:bodyPr>
          <a:lstStyle>
            <a:lvl1pPr algn="l" defTabSz="905389">
              <a:lnSpc>
                <a:spcPct val="100000"/>
              </a:lnSpc>
              <a:defRPr sz="1100">
                <a:latin typeface="Times New Roman" pitchFamily="18" charset="0"/>
                <a:ea typeface="ＭＳ Ｐゴシック" pitchFamily="50" charset="-128"/>
              </a:defRPr>
            </a:lvl1pPr>
          </a:lstStyle>
          <a:p>
            <a:pPr>
              <a:defRPr/>
            </a:pPr>
            <a:endParaRPr lang="en-US" altLang="ja-JP"/>
          </a:p>
        </p:txBody>
      </p:sp>
      <p:sp>
        <p:nvSpPr>
          <p:cNvPr id="27653" name="Rectangle 5"/>
          <p:cNvSpPr>
            <a:spLocks noGrp="1" noChangeArrowheads="1"/>
          </p:cNvSpPr>
          <p:nvPr>
            <p:ph type="sldNum" sz="quarter" idx="3"/>
          </p:nvPr>
        </p:nvSpPr>
        <p:spPr bwMode="auto">
          <a:xfrm>
            <a:off x="3853763" y="9442453"/>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b" anchorCtr="0" compatLnSpc="1">
            <a:prstTxWarp prst="textNoShape">
              <a:avLst/>
            </a:prstTxWarp>
          </a:bodyPr>
          <a:lstStyle>
            <a:lvl1pPr algn="r" defTabSz="905389">
              <a:lnSpc>
                <a:spcPct val="100000"/>
              </a:lnSpc>
              <a:defRPr sz="1100">
                <a:latin typeface="Times New Roman" pitchFamily="18" charset="0"/>
                <a:ea typeface="ＭＳ Ｐゴシック" pitchFamily="50" charset="-128"/>
              </a:defRPr>
            </a:lvl1pPr>
          </a:lstStyle>
          <a:p>
            <a:pPr>
              <a:defRPr/>
            </a:pPr>
            <a:fld id="{2AA09F98-CC6C-4A85-87A5-4D8B9D292899}" type="slidenum">
              <a:rPr lang="en-US" altLang="ja-JP"/>
              <a:pPr>
                <a:defRPr/>
              </a:pPr>
              <a:t>‹#›</a:t>
            </a:fld>
            <a:endParaRPr lang="en-US" altLang="ja-JP"/>
          </a:p>
        </p:txBody>
      </p:sp>
    </p:spTree>
    <p:extLst>
      <p:ext uri="{BB962C8B-B14F-4D97-AF65-F5344CB8AC3E}">
        <p14:creationId xmlns:p14="http://schemas.microsoft.com/office/powerpoint/2010/main" val="41721470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2" y="1"/>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t" anchorCtr="0" compatLnSpc="1">
            <a:prstTxWarp prst="textNoShape">
              <a:avLst/>
            </a:prstTxWarp>
          </a:bodyPr>
          <a:lstStyle>
            <a:lvl1pPr algn="l" defTabSz="905389">
              <a:lnSpc>
                <a:spcPct val="100000"/>
              </a:lnSpc>
              <a:defRPr sz="1100">
                <a:latin typeface="Times New Roman" pitchFamily="18" charset="0"/>
                <a:ea typeface="ＭＳ Ｐゴシック" pitchFamily="50" charset="-128"/>
              </a:defRPr>
            </a:lvl1pPr>
          </a:lstStyle>
          <a:p>
            <a:pPr>
              <a:defRPr/>
            </a:pPr>
            <a:endParaRPr lang="en-US" altLang="ja-JP"/>
          </a:p>
        </p:txBody>
      </p:sp>
      <p:sp>
        <p:nvSpPr>
          <p:cNvPr id="1027" name="Rectangle 3"/>
          <p:cNvSpPr>
            <a:spLocks noGrp="1" noChangeArrowheads="1"/>
          </p:cNvSpPr>
          <p:nvPr>
            <p:ph type="dt" idx="1"/>
          </p:nvPr>
        </p:nvSpPr>
        <p:spPr bwMode="auto">
          <a:xfrm>
            <a:off x="3853763" y="1"/>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t" anchorCtr="0" compatLnSpc="1">
            <a:prstTxWarp prst="textNoShape">
              <a:avLst/>
            </a:prstTxWarp>
          </a:bodyPr>
          <a:lstStyle>
            <a:lvl1pPr algn="r" defTabSz="905389">
              <a:lnSpc>
                <a:spcPct val="100000"/>
              </a:lnSpc>
              <a:defRPr sz="1100">
                <a:latin typeface="Times New Roman" pitchFamily="18" charset="0"/>
                <a:ea typeface="ＭＳ Ｐゴシック" pitchFamily="50" charset="-128"/>
              </a:defRPr>
            </a:lvl1pPr>
          </a:lstStyle>
          <a:p>
            <a:pPr>
              <a:defRPr/>
            </a:pPr>
            <a:fld id="{13CF5B18-8ACB-4376-BA6D-A90C20BEF3A5}" type="datetime8">
              <a:rPr lang="ja-JP" altLang="en-US"/>
              <a:pPr>
                <a:defRPr/>
              </a:pPr>
              <a:t>26/6/12 15時18分</a:t>
            </a:fld>
            <a:endParaRPr lang="en-US" altLang="ja-JP"/>
          </a:p>
        </p:txBody>
      </p:sp>
      <p:sp>
        <p:nvSpPr>
          <p:cNvPr id="12292" name="Rectangle 4"/>
          <p:cNvSpPr>
            <a:spLocks noGrp="1" noRot="1" noChangeAspect="1" noChangeArrowheads="1" noTextEdit="1"/>
          </p:cNvSpPr>
          <p:nvPr>
            <p:ph type="sldImg" idx="2"/>
          </p:nvPr>
        </p:nvSpPr>
        <p:spPr bwMode="auto">
          <a:xfrm>
            <a:off x="714375" y="744538"/>
            <a:ext cx="5384800" cy="37290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9" name="Rectangle 5"/>
          <p:cNvSpPr>
            <a:spLocks noGrp="1" noChangeArrowheads="1"/>
          </p:cNvSpPr>
          <p:nvPr>
            <p:ph type="body" sz="quarter" idx="3"/>
          </p:nvPr>
        </p:nvSpPr>
        <p:spPr bwMode="auto">
          <a:xfrm>
            <a:off x="906682" y="4721230"/>
            <a:ext cx="4993851"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1030" name="Rectangle 6"/>
          <p:cNvSpPr>
            <a:spLocks noGrp="1" noChangeArrowheads="1"/>
          </p:cNvSpPr>
          <p:nvPr>
            <p:ph type="ftr" sz="quarter" idx="4"/>
          </p:nvPr>
        </p:nvSpPr>
        <p:spPr bwMode="auto">
          <a:xfrm>
            <a:off x="2" y="9442453"/>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b" anchorCtr="0" compatLnSpc="1">
            <a:prstTxWarp prst="textNoShape">
              <a:avLst/>
            </a:prstTxWarp>
          </a:bodyPr>
          <a:lstStyle>
            <a:lvl1pPr algn="l" defTabSz="905389">
              <a:lnSpc>
                <a:spcPct val="100000"/>
              </a:lnSpc>
              <a:defRPr sz="1100">
                <a:latin typeface="Times New Roman" pitchFamily="18" charset="0"/>
                <a:ea typeface="ＭＳ Ｐゴシック" pitchFamily="50" charset="-128"/>
              </a:defRPr>
            </a:lvl1pPr>
          </a:lstStyle>
          <a:p>
            <a:pPr>
              <a:defRPr/>
            </a:pPr>
            <a:endParaRPr lang="en-US" altLang="ja-JP"/>
          </a:p>
        </p:txBody>
      </p:sp>
      <p:sp>
        <p:nvSpPr>
          <p:cNvPr id="1031" name="Rectangle 7"/>
          <p:cNvSpPr>
            <a:spLocks noGrp="1" noChangeArrowheads="1"/>
          </p:cNvSpPr>
          <p:nvPr>
            <p:ph type="sldNum" sz="quarter" idx="5"/>
          </p:nvPr>
        </p:nvSpPr>
        <p:spPr bwMode="auto">
          <a:xfrm>
            <a:off x="3853763" y="9442453"/>
            <a:ext cx="2953439"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240" tIns="45120" rIns="90240" bIns="45120" numCol="1" anchor="b" anchorCtr="0" compatLnSpc="1">
            <a:prstTxWarp prst="textNoShape">
              <a:avLst/>
            </a:prstTxWarp>
          </a:bodyPr>
          <a:lstStyle>
            <a:lvl1pPr algn="r" defTabSz="905389">
              <a:lnSpc>
                <a:spcPct val="100000"/>
              </a:lnSpc>
              <a:defRPr sz="1100">
                <a:latin typeface="Times New Roman" pitchFamily="18" charset="0"/>
                <a:ea typeface="ＭＳ Ｐゴシック" pitchFamily="50" charset="-128"/>
              </a:defRPr>
            </a:lvl1pPr>
          </a:lstStyle>
          <a:p>
            <a:pPr>
              <a:defRPr/>
            </a:pPr>
            <a:fld id="{CB3D28B1-8B4A-4F01-A191-746BB3EEEB26}" type="slidenum">
              <a:rPr lang="en-US" altLang="ja-JP"/>
              <a:pPr>
                <a:defRPr/>
              </a:pPr>
              <a:t>‹#›</a:t>
            </a:fld>
            <a:endParaRPr lang="en-US" altLang="ja-JP"/>
          </a:p>
        </p:txBody>
      </p:sp>
    </p:spTree>
    <p:extLst>
      <p:ext uri="{BB962C8B-B14F-4D97-AF65-F5344CB8AC3E}">
        <p14:creationId xmlns:p14="http://schemas.microsoft.com/office/powerpoint/2010/main" val="27015929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タイトルとコンテンツ">
    <p:bg>
      <p:bgRef idx="1001">
        <a:schemeClr val="bg1"/>
      </p:bgRef>
    </p:bg>
    <p:spTree>
      <p:nvGrpSpPr>
        <p:cNvPr id="1" name=""/>
        <p:cNvGrpSpPr/>
        <p:nvPr/>
      </p:nvGrpSpPr>
      <p:grpSpPr>
        <a:xfrm>
          <a:off x="0" y="0"/>
          <a:ext cx="0" cy="0"/>
          <a:chOff x="0" y="0"/>
          <a:chExt cx="0" cy="0"/>
        </a:xfrm>
      </p:grpSpPr>
      <p:sp>
        <p:nvSpPr>
          <p:cNvPr id="5" name="Rectangle 10"/>
          <p:cNvSpPr>
            <a:spLocks noChangeAspect="1" noChangeArrowheads="1"/>
          </p:cNvSpPr>
          <p:nvPr/>
        </p:nvSpPr>
        <p:spPr bwMode="auto">
          <a:xfrm>
            <a:off x="415925" y="332656"/>
            <a:ext cx="9145587" cy="425186"/>
          </a:xfrm>
          <a:prstGeom prst="rect">
            <a:avLst/>
          </a:prstGeom>
          <a:solidFill>
            <a:srgbClr val="0860A8"/>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8" name="Rectangle 88"/>
          <p:cNvSpPr>
            <a:spLocks noChangeAspect="1" noChangeArrowheads="1"/>
          </p:cNvSpPr>
          <p:nvPr/>
        </p:nvSpPr>
        <p:spPr bwMode="auto">
          <a:xfrm>
            <a:off x="415926" y="332656"/>
            <a:ext cx="300175" cy="425186"/>
          </a:xfrm>
          <a:prstGeom prst="rect">
            <a:avLst/>
          </a:prstGeom>
          <a:solidFill>
            <a:srgbClr val="053F6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9" name="Line 89"/>
          <p:cNvSpPr>
            <a:spLocks noChangeAspect="1" noChangeShapeType="1"/>
          </p:cNvSpPr>
          <p:nvPr/>
        </p:nvSpPr>
        <p:spPr bwMode="auto">
          <a:xfrm>
            <a:off x="417061" y="618745"/>
            <a:ext cx="9144451" cy="0"/>
          </a:xfrm>
          <a:prstGeom prst="line">
            <a:avLst/>
          </a:prstGeom>
          <a:noFill/>
          <a:ln w="15875">
            <a:solidFill>
              <a:srgbClr val="CC8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2700" dir="16200000" algn="ctr" rotWithShape="0">
                    <a:srgbClr val="7A5600"/>
                  </a:outerShdw>
                </a:effectLst>
              </a14:hiddenEffects>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7" name="正方形/長方形 86"/>
          <p:cNvSpPr/>
          <p:nvPr userDrawn="1"/>
        </p:nvSpPr>
        <p:spPr>
          <a:xfrm>
            <a:off x="488504" y="3717032"/>
            <a:ext cx="9073008" cy="144016"/>
          </a:xfrm>
          <a:prstGeom prst="rect">
            <a:avLst/>
          </a:prstGeom>
          <a:gradFill flip="none" rotWithShape="1">
            <a:gsLst>
              <a:gs pos="0">
                <a:srgbClr val="0071BE"/>
              </a:gs>
              <a:gs pos="100000">
                <a:srgbClr val="15A0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0" name="Group 11"/>
          <p:cNvGrpSpPr>
            <a:grpSpLocks noChangeAspect="1"/>
          </p:cNvGrpSpPr>
          <p:nvPr userDrawn="1"/>
        </p:nvGrpSpPr>
        <p:grpSpPr bwMode="auto">
          <a:xfrm>
            <a:off x="3842248" y="5366275"/>
            <a:ext cx="2234888" cy="633012"/>
            <a:chOff x="8969" y="609"/>
            <a:chExt cx="1928" cy="542"/>
          </a:xfrm>
        </p:grpSpPr>
        <p:sp>
          <p:nvSpPr>
            <p:cNvPr id="11" name="Rectangle 12"/>
            <p:cNvSpPr>
              <a:spLocks noChangeAspect="1" noChangeArrowheads="1"/>
            </p:cNvSpPr>
            <p:nvPr/>
          </p:nvSpPr>
          <p:spPr bwMode="auto">
            <a:xfrm>
              <a:off x="8969" y="996"/>
              <a:ext cx="1928" cy="25"/>
            </a:xfrm>
            <a:prstGeom prst="rect">
              <a:avLst/>
            </a:prstGeom>
            <a:solidFill>
              <a:srgbClr val="CC8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grpSp>
          <p:nvGrpSpPr>
            <p:cNvPr id="12" name="Group 13"/>
            <p:cNvGrpSpPr>
              <a:grpSpLocks noChangeAspect="1"/>
            </p:cNvGrpSpPr>
            <p:nvPr/>
          </p:nvGrpSpPr>
          <p:grpSpPr bwMode="auto">
            <a:xfrm>
              <a:off x="9196" y="609"/>
              <a:ext cx="1490" cy="542"/>
              <a:chOff x="9220" y="617"/>
              <a:chExt cx="1490" cy="542"/>
            </a:xfrm>
          </p:grpSpPr>
          <p:sp>
            <p:nvSpPr>
              <p:cNvPr id="13" name="Freeform 14"/>
              <p:cNvSpPr>
                <a:spLocks noChangeAspect="1"/>
              </p:cNvSpPr>
              <p:nvPr/>
            </p:nvSpPr>
            <p:spPr bwMode="auto">
              <a:xfrm>
                <a:off x="9864" y="1081"/>
                <a:ext cx="54" cy="78"/>
              </a:xfrm>
              <a:custGeom>
                <a:avLst/>
                <a:gdLst>
                  <a:gd name="T0" fmla="*/ 86365 w 32"/>
                  <a:gd name="T1" fmla="*/ 209628 h 46"/>
                  <a:gd name="T2" fmla="*/ 138689 w 32"/>
                  <a:gd name="T3" fmla="*/ 209628 h 46"/>
                  <a:gd name="T4" fmla="*/ 138689 w 32"/>
                  <a:gd name="T5" fmla="*/ 168075 h 46"/>
                  <a:gd name="T6" fmla="*/ 138689 w 32"/>
                  <a:gd name="T7" fmla="*/ 0 h 46"/>
                  <a:gd name="T8" fmla="*/ 86365 w 32"/>
                  <a:gd name="T9" fmla="*/ 0 h 46"/>
                  <a:gd name="T10" fmla="*/ 86365 w 32"/>
                  <a:gd name="T11" fmla="*/ 146277 h 46"/>
                  <a:gd name="T12" fmla="*/ 70499 w 32"/>
                  <a:gd name="T13" fmla="*/ 177226 h 46"/>
                  <a:gd name="T14" fmla="*/ 51179 w 32"/>
                  <a:gd name="T15" fmla="*/ 146277 h 46"/>
                  <a:gd name="T16" fmla="*/ 51179 w 32"/>
                  <a:gd name="T17" fmla="*/ 0 h 46"/>
                  <a:gd name="T18" fmla="*/ 0 w 32"/>
                  <a:gd name="T19" fmla="*/ 0 h 46"/>
                  <a:gd name="T20" fmla="*/ 0 w 32"/>
                  <a:gd name="T21" fmla="*/ 168075 h 46"/>
                  <a:gd name="T22" fmla="*/ 44204 w 32"/>
                  <a:gd name="T23" fmla="*/ 214585 h 46"/>
                  <a:gd name="T24" fmla="*/ 86365 w 32"/>
                  <a:gd name="T25" fmla="*/ 186934 h 46"/>
                  <a:gd name="T26" fmla="*/ 86365 w 32"/>
                  <a:gd name="T27" fmla="*/ 186934 h 46"/>
                  <a:gd name="T28" fmla="*/ 86365 w 32"/>
                  <a:gd name="T29" fmla="*/ 209628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2" h="46">
                    <a:moveTo>
                      <a:pt x="20" y="45"/>
                    </a:moveTo>
                    <a:cubicBezTo>
                      <a:pt x="32" y="45"/>
                      <a:pt x="32" y="45"/>
                      <a:pt x="32" y="45"/>
                    </a:cubicBezTo>
                    <a:cubicBezTo>
                      <a:pt x="32" y="42"/>
                      <a:pt x="32" y="39"/>
                      <a:pt x="32" y="36"/>
                    </a:cubicBezTo>
                    <a:cubicBezTo>
                      <a:pt x="32" y="0"/>
                      <a:pt x="32" y="0"/>
                      <a:pt x="32" y="0"/>
                    </a:cubicBezTo>
                    <a:cubicBezTo>
                      <a:pt x="20" y="0"/>
                      <a:pt x="20" y="0"/>
                      <a:pt x="20" y="0"/>
                    </a:cubicBezTo>
                    <a:cubicBezTo>
                      <a:pt x="20" y="31"/>
                      <a:pt x="20" y="31"/>
                      <a:pt x="20" y="31"/>
                    </a:cubicBezTo>
                    <a:cubicBezTo>
                      <a:pt x="20" y="35"/>
                      <a:pt x="19" y="38"/>
                      <a:pt x="16" y="38"/>
                    </a:cubicBezTo>
                    <a:cubicBezTo>
                      <a:pt x="12" y="38"/>
                      <a:pt x="12" y="36"/>
                      <a:pt x="12" y="31"/>
                    </a:cubicBezTo>
                    <a:cubicBezTo>
                      <a:pt x="12" y="0"/>
                      <a:pt x="12" y="0"/>
                      <a:pt x="12" y="0"/>
                    </a:cubicBezTo>
                    <a:cubicBezTo>
                      <a:pt x="0" y="0"/>
                      <a:pt x="0" y="0"/>
                      <a:pt x="0" y="0"/>
                    </a:cubicBezTo>
                    <a:cubicBezTo>
                      <a:pt x="0" y="36"/>
                      <a:pt x="0" y="36"/>
                      <a:pt x="0" y="36"/>
                    </a:cubicBezTo>
                    <a:cubicBezTo>
                      <a:pt x="0" y="42"/>
                      <a:pt x="5" y="46"/>
                      <a:pt x="10" y="46"/>
                    </a:cubicBezTo>
                    <a:cubicBezTo>
                      <a:pt x="15" y="46"/>
                      <a:pt x="18" y="44"/>
                      <a:pt x="20" y="40"/>
                    </a:cubicBezTo>
                    <a:cubicBezTo>
                      <a:pt x="20" y="40"/>
                      <a:pt x="20" y="40"/>
                      <a:pt x="20" y="40"/>
                    </a:cubicBezTo>
                    <a:cubicBezTo>
                      <a:pt x="20" y="45"/>
                      <a:pt x="20" y="45"/>
                      <a:pt x="20" y="45"/>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4" name="Freeform 15"/>
              <p:cNvSpPr>
                <a:spLocks noChangeAspect="1"/>
              </p:cNvSpPr>
              <p:nvPr/>
            </p:nvSpPr>
            <p:spPr bwMode="auto">
              <a:xfrm>
                <a:off x="9407" y="1081"/>
                <a:ext cx="84" cy="75"/>
              </a:xfrm>
              <a:custGeom>
                <a:avLst/>
                <a:gdLst>
                  <a:gd name="T0" fmla="*/ 1 w 116"/>
                  <a:gd name="T1" fmla="*/ 1 h 106"/>
                  <a:gd name="T2" fmla="*/ 1 w 116"/>
                  <a:gd name="T3" fmla="*/ 1 h 106"/>
                  <a:gd name="T4" fmla="*/ 1 w 116"/>
                  <a:gd name="T5" fmla="*/ 1 h 106"/>
                  <a:gd name="T6" fmla="*/ 1 w 116"/>
                  <a:gd name="T7" fmla="*/ 1 h 106"/>
                  <a:gd name="T8" fmla="*/ 1 w 116"/>
                  <a:gd name="T9" fmla="*/ 1 h 106"/>
                  <a:gd name="T10" fmla="*/ 1 w 116"/>
                  <a:gd name="T11" fmla="*/ 1 h 106"/>
                  <a:gd name="T12" fmla="*/ 1 w 116"/>
                  <a:gd name="T13" fmla="*/ 0 h 106"/>
                  <a:gd name="T14" fmla="*/ 1 w 116"/>
                  <a:gd name="T15" fmla="*/ 0 h 106"/>
                  <a:gd name="T16" fmla="*/ 1 w 116"/>
                  <a:gd name="T17" fmla="*/ 1 h 106"/>
                  <a:gd name="T18" fmla="*/ 1 w 116"/>
                  <a:gd name="T19" fmla="*/ 1 h 106"/>
                  <a:gd name="T20" fmla="*/ 1 w 116"/>
                  <a:gd name="T21" fmla="*/ 0 h 106"/>
                  <a:gd name="T22" fmla="*/ 1 w 116"/>
                  <a:gd name="T23" fmla="*/ 0 h 106"/>
                  <a:gd name="T24" fmla="*/ 1 w 116"/>
                  <a:gd name="T25" fmla="*/ 1 h 106"/>
                  <a:gd name="T26" fmla="*/ 1 w 116"/>
                  <a:gd name="T27" fmla="*/ 1 h 106"/>
                  <a:gd name="T28" fmla="*/ 1 w 116"/>
                  <a:gd name="T29" fmla="*/ 0 h 106"/>
                  <a:gd name="T30" fmla="*/ 0 w 116"/>
                  <a:gd name="T31" fmla="*/ 0 h 106"/>
                  <a:gd name="T32" fmla="*/ 1 w 116"/>
                  <a:gd name="T33" fmla="*/ 1 h 1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6" h="106">
                    <a:moveTo>
                      <a:pt x="17" y="106"/>
                    </a:moveTo>
                    <a:lnTo>
                      <a:pt x="48" y="106"/>
                    </a:lnTo>
                    <a:lnTo>
                      <a:pt x="59" y="33"/>
                    </a:lnTo>
                    <a:lnTo>
                      <a:pt x="66" y="106"/>
                    </a:lnTo>
                    <a:lnTo>
                      <a:pt x="97" y="106"/>
                    </a:lnTo>
                    <a:lnTo>
                      <a:pt x="116" y="0"/>
                    </a:lnTo>
                    <a:lnTo>
                      <a:pt x="92" y="0"/>
                    </a:lnTo>
                    <a:lnTo>
                      <a:pt x="83" y="80"/>
                    </a:lnTo>
                    <a:lnTo>
                      <a:pt x="81" y="80"/>
                    </a:lnTo>
                    <a:lnTo>
                      <a:pt x="71" y="0"/>
                    </a:lnTo>
                    <a:lnTo>
                      <a:pt x="45" y="0"/>
                    </a:lnTo>
                    <a:lnTo>
                      <a:pt x="33" y="80"/>
                    </a:lnTo>
                    <a:lnTo>
                      <a:pt x="24" y="0"/>
                    </a:lnTo>
                    <a:lnTo>
                      <a:pt x="0" y="0"/>
                    </a:lnTo>
                    <a:lnTo>
                      <a:pt x="17" y="106"/>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5" name="Freeform 16"/>
              <p:cNvSpPr>
                <a:spLocks noChangeAspect="1"/>
              </p:cNvSpPr>
              <p:nvPr/>
            </p:nvSpPr>
            <p:spPr bwMode="auto">
              <a:xfrm>
                <a:off x="9407" y="1081"/>
                <a:ext cx="84" cy="75"/>
              </a:xfrm>
              <a:custGeom>
                <a:avLst/>
                <a:gdLst>
                  <a:gd name="T0" fmla="*/ 1 w 116"/>
                  <a:gd name="T1" fmla="*/ 1 h 106"/>
                  <a:gd name="T2" fmla="*/ 1 w 116"/>
                  <a:gd name="T3" fmla="*/ 1 h 106"/>
                  <a:gd name="T4" fmla="*/ 1 w 116"/>
                  <a:gd name="T5" fmla="*/ 1 h 106"/>
                  <a:gd name="T6" fmla="*/ 1 w 116"/>
                  <a:gd name="T7" fmla="*/ 1 h 106"/>
                  <a:gd name="T8" fmla="*/ 1 w 116"/>
                  <a:gd name="T9" fmla="*/ 1 h 106"/>
                  <a:gd name="T10" fmla="*/ 1 w 116"/>
                  <a:gd name="T11" fmla="*/ 1 h 106"/>
                  <a:gd name="T12" fmla="*/ 1 w 116"/>
                  <a:gd name="T13" fmla="*/ 0 h 106"/>
                  <a:gd name="T14" fmla="*/ 1 w 116"/>
                  <a:gd name="T15" fmla="*/ 0 h 106"/>
                  <a:gd name="T16" fmla="*/ 1 w 116"/>
                  <a:gd name="T17" fmla="*/ 1 h 106"/>
                  <a:gd name="T18" fmla="*/ 1 w 116"/>
                  <a:gd name="T19" fmla="*/ 1 h 106"/>
                  <a:gd name="T20" fmla="*/ 1 w 116"/>
                  <a:gd name="T21" fmla="*/ 0 h 106"/>
                  <a:gd name="T22" fmla="*/ 1 w 116"/>
                  <a:gd name="T23" fmla="*/ 0 h 106"/>
                  <a:gd name="T24" fmla="*/ 1 w 116"/>
                  <a:gd name="T25" fmla="*/ 1 h 106"/>
                  <a:gd name="T26" fmla="*/ 1 w 116"/>
                  <a:gd name="T27" fmla="*/ 1 h 106"/>
                  <a:gd name="T28" fmla="*/ 1 w 116"/>
                  <a:gd name="T29" fmla="*/ 0 h 106"/>
                  <a:gd name="T30" fmla="*/ 0 w 116"/>
                  <a:gd name="T31" fmla="*/ 0 h 106"/>
                  <a:gd name="T32" fmla="*/ 1 w 116"/>
                  <a:gd name="T33" fmla="*/ 1 h 10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6" h="106">
                    <a:moveTo>
                      <a:pt x="17" y="106"/>
                    </a:moveTo>
                    <a:lnTo>
                      <a:pt x="48" y="106"/>
                    </a:lnTo>
                    <a:lnTo>
                      <a:pt x="59" y="33"/>
                    </a:lnTo>
                    <a:lnTo>
                      <a:pt x="66" y="106"/>
                    </a:lnTo>
                    <a:lnTo>
                      <a:pt x="97" y="106"/>
                    </a:lnTo>
                    <a:lnTo>
                      <a:pt x="116" y="0"/>
                    </a:lnTo>
                    <a:lnTo>
                      <a:pt x="92" y="0"/>
                    </a:lnTo>
                    <a:lnTo>
                      <a:pt x="83" y="80"/>
                    </a:lnTo>
                    <a:lnTo>
                      <a:pt x="81" y="80"/>
                    </a:lnTo>
                    <a:lnTo>
                      <a:pt x="71" y="0"/>
                    </a:lnTo>
                    <a:lnTo>
                      <a:pt x="45" y="0"/>
                    </a:lnTo>
                    <a:lnTo>
                      <a:pt x="33" y="80"/>
                    </a:lnTo>
                    <a:lnTo>
                      <a:pt x="24" y="0"/>
                    </a:lnTo>
                    <a:lnTo>
                      <a:pt x="0" y="0"/>
                    </a:lnTo>
                    <a:lnTo>
                      <a:pt x="17" y="106"/>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6" name="Freeform 17"/>
              <p:cNvSpPr>
                <a:spLocks noChangeAspect="1"/>
              </p:cNvSpPr>
              <p:nvPr/>
            </p:nvSpPr>
            <p:spPr bwMode="auto">
              <a:xfrm>
                <a:off x="10513" y="1081"/>
                <a:ext cx="40" cy="75"/>
              </a:xfrm>
              <a:custGeom>
                <a:avLst/>
                <a:gdLst>
                  <a:gd name="T0" fmla="*/ 0 w 24"/>
                  <a:gd name="T1" fmla="*/ 2765 h 46"/>
                  <a:gd name="T2" fmla="*/ 0 w 24"/>
                  <a:gd name="T3" fmla="*/ 114310 h 46"/>
                  <a:gd name="T4" fmla="*/ 42153 w 24"/>
                  <a:gd name="T5" fmla="*/ 114310 h 46"/>
                  <a:gd name="T6" fmla="*/ 42153 w 24"/>
                  <a:gd name="T7" fmla="*/ 50477 h 46"/>
                  <a:gd name="T8" fmla="*/ 79050 w 24"/>
                  <a:gd name="T9" fmla="*/ 24013 h 46"/>
                  <a:gd name="T10" fmla="*/ 86008 w 24"/>
                  <a:gd name="T11" fmla="*/ 24013 h 46"/>
                  <a:gd name="T12" fmla="*/ 86008 w 24"/>
                  <a:gd name="T13" fmla="*/ 0 h 46"/>
                  <a:gd name="T14" fmla="*/ 79050 w 24"/>
                  <a:gd name="T15" fmla="*/ 0 h 46"/>
                  <a:gd name="T16" fmla="*/ 37978 w 24"/>
                  <a:gd name="T17" fmla="*/ 14728 h 46"/>
                  <a:gd name="T18" fmla="*/ 37978 w 24"/>
                  <a:gd name="T19" fmla="*/ 14728 h 46"/>
                  <a:gd name="T20" fmla="*/ 37978 w 24"/>
                  <a:gd name="T21" fmla="*/ 2765 h 46"/>
                  <a:gd name="T22" fmla="*/ 0 w 24"/>
                  <a:gd name="T23" fmla="*/ 2765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 h="46">
                    <a:moveTo>
                      <a:pt x="0" y="1"/>
                    </a:moveTo>
                    <a:cubicBezTo>
                      <a:pt x="0" y="46"/>
                      <a:pt x="0" y="46"/>
                      <a:pt x="0" y="46"/>
                    </a:cubicBezTo>
                    <a:cubicBezTo>
                      <a:pt x="12" y="46"/>
                      <a:pt x="12" y="46"/>
                      <a:pt x="12" y="46"/>
                    </a:cubicBezTo>
                    <a:cubicBezTo>
                      <a:pt x="12" y="20"/>
                      <a:pt x="12" y="20"/>
                      <a:pt x="12" y="20"/>
                    </a:cubicBezTo>
                    <a:cubicBezTo>
                      <a:pt x="12" y="15"/>
                      <a:pt x="12" y="9"/>
                      <a:pt x="22" y="10"/>
                    </a:cubicBezTo>
                    <a:cubicBezTo>
                      <a:pt x="24" y="10"/>
                      <a:pt x="24" y="10"/>
                      <a:pt x="24" y="10"/>
                    </a:cubicBezTo>
                    <a:cubicBezTo>
                      <a:pt x="24" y="0"/>
                      <a:pt x="24" y="0"/>
                      <a:pt x="24" y="0"/>
                    </a:cubicBezTo>
                    <a:cubicBezTo>
                      <a:pt x="22" y="0"/>
                      <a:pt x="22" y="0"/>
                      <a:pt x="22" y="0"/>
                    </a:cubicBezTo>
                    <a:cubicBezTo>
                      <a:pt x="17" y="0"/>
                      <a:pt x="13" y="1"/>
                      <a:pt x="11" y="6"/>
                    </a:cubicBezTo>
                    <a:cubicBezTo>
                      <a:pt x="11" y="6"/>
                      <a:pt x="11" y="6"/>
                      <a:pt x="11" y="6"/>
                    </a:cubicBezTo>
                    <a:cubicBezTo>
                      <a:pt x="11" y="1"/>
                      <a:pt x="11" y="1"/>
                      <a:pt x="11" y="1"/>
                    </a:cubicBezTo>
                    <a:cubicBezTo>
                      <a:pt x="0" y="1"/>
                      <a:pt x="0" y="1"/>
                      <a:pt x="0" y="1"/>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7" name="Freeform 18"/>
              <p:cNvSpPr>
                <a:spLocks noChangeAspect="1"/>
              </p:cNvSpPr>
              <p:nvPr/>
            </p:nvSpPr>
            <p:spPr bwMode="auto">
              <a:xfrm>
                <a:off x="10323" y="1081"/>
                <a:ext cx="52" cy="78"/>
              </a:xfrm>
              <a:custGeom>
                <a:avLst/>
                <a:gdLst>
                  <a:gd name="T0" fmla="*/ 0 w 31"/>
                  <a:gd name="T1" fmla="*/ 102079 h 47"/>
                  <a:gd name="T2" fmla="*/ 62442 w 31"/>
                  <a:gd name="T3" fmla="*/ 154765 h 47"/>
                  <a:gd name="T4" fmla="*/ 121568 w 31"/>
                  <a:gd name="T5" fmla="*/ 109597 h 47"/>
                  <a:gd name="T6" fmla="*/ 41889 w 31"/>
                  <a:gd name="T7" fmla="*/ 36307 h 47"/>
                  <a:gd name="T8" fmla="*/ 58030 w 31"/>
                  <a:gd name="T9" fmla="*/ 16051 h 47"/>
                  <a:gd name="T10" fmla="*/ 76061 w 31"/>
                  <a:gd name="T11" fmla="*/ 39793 h 47"/>
                  <a:gd name="T12" fmla="*/ 76061 w 31"/>
                  <a:gd name="T13" fmla="*/ 45869 h 47"/>
                  <a:gd name="T14" fmla="*/ 117864 w 31"/>
                  <a:gd name="T15" fmla="*/ 45869 h 47"/>
                  <a:gd name="T16" fmla="*/ 62442 w 31"/>
                  <a:gd name="T17" fmla="*/ 0 h 47"/>
                  <a:gd name="T18" fmla="*/ 0 w 31"/>
                  <a:gd name="T19" fmla="*/ 39793 h 47"/>
                  <a:gd name="T20" fmla="*/ 79929 w 31"/>
                  <a:gd name="T21" fmla="*/ 111751 h 47"/>
                  <a:gd name="T22" fmla="*/ 62442 w 31"/>
                  <a:gd name="T23" fmla="*/ 136261 h 47"/>
                  <a:gd name="T24" fmla="*/ 47650 w 31"/>
                  <a:gd name="T25" fmla="*/ 126332 h 47"/>
                  <a:gd name="T26" fmla="*/ 41889 w 31"/>
                  <a:gd name="T27" fmla="*/ 102079 h 47"/>
                  <a:gd name="T28" fmla="*/ 0 w 31"/>
                  <a:gd name="T29" fmla="*/ 102079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 h="47">
                    <a:moveTo>
                      <a:pt x="0" y="31"/>
                    </a:moveTo>
                    <a:cubicBezTo>
                      <a:pt x="0" y="44"/>
                      <a:pt x="6" y="47"/>
                      <a:pt x="16" y="47"/>
                    </a:cubicBezTo>
                    <a:cubicBezTo>
                      <a:pt x="26" y="47"/>
                      <a:pt x="31" y="41"/>
                      <a:pt x="31" y="33"/>
                    </a:cubicBezTo>
                    <a:cubicBezTo>
                      <a:pt x="31" y="18"/>
                      <a:pt x="11" y="20"/>
                      <a:pt x="11" y="11"/>
                    </a:cubicBezTo>
                    <a:cubicBezTo>
                      <a:pt x="11" y="8"/>
                      <a:pt x="12" y="5"/>
                      <a:pt x="15" y="5"/>
                    </a:cubicBezTo>
                    <a:cubicBezTo>
                      <a:pt x="18" y="5"/>
                      <a:pt x="19" y="7"/>
                      <a:pt x="19" y="12"/>
                    </a:cubicBezTo>
                    <a:cubicBezTo>
                      <a:pt x="19" y="14"/>
                      <a:pt x="19" y="14"/>
                      <a:pt x="19" y="14"/>
                    </a:cubicBezTo>
                    <a:cubicBezTo>
                      <a:pt x="30" y="14"/>
                      <a:pt x="30" y="14"/>
                      <a:pt x="30" y="14"/>
                    </a:cubicBezTo>
                    <a:cubicBezTo>
                      <a:pt x="31" y="4"/>
                      <a:pt x="24" y="0"/>
                      <a:pt x="16" y="0"/>
                    </a:cubicBezTo>
                    <a:cubicBezTo>
                      <a:pt x="9" y="0"/>
                      <a:pt x="0" y="3"/>
                      <a:pt x="0" y="12"/>
                    </a:cubicBezTo>
                    <a:cubicBezTo>
                      <a:pt x="0" y="27"/>
                      <a:pt x="20" y="24"/>
                      <a:pt x="20" y="34"/>
                    </a:cubicBezTo>
                    <a:cubicBezTo>
                      <a:pt x="20" y="38"/>
                      <a:pt x="19" y="41"/>
                      <a:pt x="16" y="41"/>
                    </a:cubicBezTo>
                    <a:cubicBezTo>
                      <a:pt x="14" y="41"/>
                      <a:pt x="13" y="40"/>
                      <a:pt x="12" y="38"/>
                    </a:cubicBezTo>
                    <a:cubicBezTo>
                      <a:pt x="11" y="37"/>
                      <a:pt x="11" y="33"/>
                      <a:pt x="11" y="31"/>
                    </a:cubicBezTo>
                    <a:cubicBezTo>
                      <a:pt x="0" y="31"/>
                      <a:pt x="0" y="31"/>
                      <a:pt x="0" y="31"/>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8" name="Freeform 19"/>
              <p:cNvSpPr>
                <a:spLocks noChangeAspect="1"/>
              </p:cNvSpPr>
              <p:nvPr/>
            </p:nvSpPr>
            <p:spPr bwMode="auto">
              <a:xfrm>
                <a:off x="9926" y="1065"/>
                <a:ext cx="35" cy="91"/>
              </a:xfrm>
              <a:custGeom>
                <a:avLst/>
                <a:gdLst>
                  <a:gd name="T0" fmla="*/ 0 w 21"/>
                  <a:gd name="T1" fmla="*/ 49360 h 55"/>
                  <a:gd name="T2" fmla="*/ 15175 w 21"/>
                  <a:gd name="T3" fmla="*/ 49360 h 55"/>
                  <a:gd name="T4" fmla="*/ 15175 w 21"/>
                  <a:gd name="T5" fmla="*/ 140689 h 55"/>
                  <a:gd name="T6" fmla="*/ 53758 w 21"/>
                  <a:gd name="T7" fmla="*/ 174199 h 55"/>
                  <a:gd name="T8" fmla="*/ 74422 w 21"/>
                  <a:gd name="T9" fmla="*/ 174199 h 55"/>
                  <a:gd name="T10" fmla="*/ 74422 w 21"/>
                  <a:gd name="T11" fmla="*/ 151073 h 55"/>
                  <a:gd name="T12" fmla="*/ 67453 w 21"/>
                  <a:gd name="T13" fmla="*/ 151073 h 55"/>
                  <a:gd name="T14" fmla="*/ 57328 w 21"/>
                  <a:gd name="T15" fmla="*/ 135123 h 55"/>
                  <a:gd name="T16" fmla="*/ 57328 w 21"/>
                  <a:gd name="T17" fmla="*/ 49360 h 55"/>
                  <a:gd name="T18" fmla="*/ 74422 w 21"/>
                  <a:gd name="T19" fmla="*/ 49360 h 55"/>
                  <a:gd name="T20" fmla="*/ 74422 w 21"/>
                  <a:gd name="T21" fmla="*/ 31941 h 55"/>
                  <a:gd name="T22" fmla="*/ 57328 w 21"/>
                  <a:gd name="T23" fmla="*/ 31941 h 55"/>
                  <a:gd name="T24" fmla="*/ 57328 w 21"/>
                  <a:gd name="T25" fmla="*/ 0 h 55"/>
                  <a:gd name="T26" fmla="*/ 15175 w 21"/>
                  <a:gd name="T27" fmla="*/ 0 h 55"/>
                  <a:gd name="T28" fmla="*/ 15175 w 21"/>
                  <a:gd name="T29" fmla="*/ 31941 h 55"/>
                  <a:gd name="T30" fmla="*/ 0 w 21"/>
                  <a:gd name="T31" fmla="*/ 31941 h 55"/>
                  <a:gd name="T32" fmla="*/ 0 w 21"/>
                  <a:gd name="T33" fmla="*/ 4936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55">
                    <a:moveTo>
                      <a:pt x="0" y="16"/>
                    </a:moveTo>
                    <a:cubicBezTo>
                      <a:pt x="4" y="16"/>
                      <a:pt x="4" y="16"/>
                      <a:pt x="4" y="16"/>
                    </a:cubicBezTo>
                    <a:cubicBezTo>
                      <a:pt x="4" y="45"/>
                      <a:pt x="4" y="45"/>
                      <a:pt x="4" y="45"/>
                    </a:cubicBezTo>
                    <a:cubicBezTo>
                      <a:pt x="4" y="48"/>
                      <a:pt x="6" y="55"/>
                      <a:pt x="15" y="55"/>
                    </a:cubicBezTo>
                    <a:cubicBezTo>
                      <a:pt x="18" y="55"/>
                      <a:pt x="20" y="55"/>
                      <a:pt x="21" y="55"/>
                    </a:cubicBezTo>
                    <a:cubicBezTo>
                      <a:pt x="21" y="48"/>
                      <a:pt x="21" y="48"/>
                      <a:pt x="21" y="48"/>
                    </a:cubicBezTo>
                    <a:cubicBezTo>
                      <a:pt x="21" y="48"/>
                      <a:pt x="20" y="48"/>
                      <a:pt x="19" y="48"/>
                    </a:cubicBezTo>
                    <a:cubicBezTo>
                      <a:pt x="16" y="48"/>
                      <a:pt x="16" y="46"/>
                      <a:pt x="16" y="43"/>
                    </a:cubicBezTo>
                    <a:cubicBezTo>
                      <a:pt x="16" y="16"/>
                      <a:pt x="16" y="16"/>
                      <a:pt x="16" y="16"/>
                    </a:cubicBezTo>
                    <a:cubicBezTo>
                      <a:pt x="21" y="16"/>
                      <a:pt x="21" y="16"/>
                      <a:pt x="21" y="16"/>
                    </a:cubicBezTo>
                    <a:cubicBezTo>
                      <a:pt x="21" y="10"/>
                      <a:pt x="21" y="10"/>
                      <a:pt x="21" y="10"/>
                    </a:cubicBezTo>
                    <a:cubicBezTo>
                      <a:pt x="16" y="10"/>
                      <a:pt x="16" y="10"/>
                      <a:pt x="16" y="10"/>
                    </a:cubicBezTo>
                    <a:cubicBezTo>
                      <a:pt x="16" y="0"/>
                      <a:pt x="16" y="0"/>
                      <a:pt x="16" y="0"/>
                    </a:cubicBezTo>
                    <a:cubicBezTo>
                      <a:pt x="4" y="0"/>
                      <a:pt x="4" y="0"/>
                      <a:pt x="4" y="0"/>
                    </a:cubicBezTo>
                    <a:cubicBezTo>
                      <a:pt x="4" y="10"/>
                      <a:pt x="4" y="10"/>
                      <a:pt x="4" y="10"/>
                    </a:cubicBezTo>
                    <a:cubicBezTo>
                      <a:pt x="0" y="10"/>
                      <a:pt x="0" y="10"/>
                      <a:pt x="0" y="10"/>
                    </a:cubicBezTo>
                    <a:cubicBezTo>
                      <a:pt x="0" y="16"/>
                      <a:pt x="0" y="16"/>
                      <a:pt x="0" y="16"/>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19" name="Freeform 20"/>
              <p:cNvSpPr>
                <a:spLocks noChangeAspect="1"/>
              </p:cNvSpPr>
              <p:nvPr/>
            </p:nvSpPr>
            <p:spPr bwMode="auto">
              <a:xfrm>
                <a:off x="9742" y="1065"/>
                <a:ext cx="38" cy="91"/>
              </a:xfrm>
              <a:custGeom>
                <a:avLst/>
                <a:gdLst>
                  <a:gd name="T0" fmla="*/ 0 w 22"/>
                  <a:gd name="T1" fmla="*/ 49360 h 55"/>
                  <a:gd name="T2" fmla="*/ 33851 w 22"/>
                  <a:gd name="T3" fmla="*/ 49360 h 55"/>
                  <a:gd name="T4" fmla="*/ 33851 w 22"/>
                  <a:gd name="T5" fmla="*/ 140689 h 55"/>
                  <a:gd name="T6" fmla="*/ 100994 w 22"/>
                  <a:gd name="T7" fmla="*/ 174199 h 55"/>
                  <a:gd name="T8" fmla="*/ 138705 w 22"/>
                  <a:gd name="T9" fmla="*/ 174199 h 55"/>
                  <a:gd name="T10" fmla="*/ 138705 w 22"/>
                  <a:gd name="T11" fmla="*/ 151073 h 55"/>
                  <a:gd name="T12" fmla="*/ 127027 w 22"/>
                  <a:gd name="T13" fmla="*/ 151073 h 55"/>
                  <a:gd name="T14" fmla="*/ 100994 w 22"/>
                  <a:gd name="T15" fmla="*/ 135123 h 55"/>
                  <a:gd name="T16" fmla="*/ 100994 w 22"/>
                  <a:gd name="T17" fmla="*/ 49360 h 55"/>
                  <a:gd name="T18" fmla="*/ 138705 w 22"/>
                  <a:gd name="T19" fmla="*/ 49360 h 55"/>
                  <a:gd name="T20" fmla="*/ 138705 w 22"/>
                  <a:gd name="T21" fmla="*/ 31941 h 55"/>
                  <a:gd name="T22" fmla="*/ 100994 w 22"/>
                  <a:gd name="T23" fmla="*/ 31941 h 55"/>
                  <a:gd name="T24" fmla="*/ 100994 w 22"/>
                  <a:gd name="T25" fmla="*/ 0 h 55"/>
                  <a:gd name="T26" fmla="*/ 33851 w 22"/>
                  <a:gd name="T27" fmla="*/ 0 h 55"/>
                  <a:gd name="T28" fmla="*/ 33851 w 22"/>
                  <a:gd name="T29" fmla="*/ 31941 h 55"/>
                  <a:gd name="T30" fmla="*/ 0 w 22"/>
                  <a:gd name="T31" fmla="*/ 31941 h 55"/>
                  <a:gd name="T32" fmla="*/ 0 w 22"/>
                  <a:gd name="T33" fmla="*/ 4936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 h="55">
                    <a:moveTo>
                      <a:pt x="0" y="16"/>
                    </a:moveTo>
                    <a:cubicBezTo>
                      <a:pt x="5" y="16"/>
                      <a:pt x="5" y="16"/>
                      <a:pt x="5" y="16"/>
                    </a:cubicBezTo>
                    <a:cubicBezTo>
                      <a:pt x="5" y="45"/>
                      <a:pt x="5" y="45"/>
                      <a:pt x="5" y="45"/>
                    </a:cubicBezTo>
                    <a:cubicBezTo>
                      <a:pt x="5" y="48"/>
                      <a:pt x="6" y="55"/>
                      <a:pt x="16" y="55"/>
                    </a:cubicBezTo>
                    <a:cubicBezTo>
                      <a:pt x="19" y="55"/>
                      <a:pt x="20" y="55"/>
                      <a:pt x="22" y="55"/>
                    </a:cubicBezTo>
                    <a:cubicBezTo>
                      <a:pt x="22" y="48"/>
                      <a:pt x="22" y="48"/>
                      <a:pt x="22" y="48"/>
                    </a:cubicBezTo>
                    <a:cubicBezTo>
                      <a:pt x="21" y="48"/>
                      <a:pt x="21" y="48"/>
                      <a:pt x="20" y="48"/>
                    </a:cubicBezTo>
                    <a:cubicBezTo>
                      <a:pt x="16" y="48"/>
                      <a:pt x="16" y="46"/>
                      <a:pt x="16" y="43"/>
                    </a:cubicBezTo>
                    <a:cubicBezTo>
                      <a:pt x="16" y="16"/>
                      <a:pt x="16" y="16"/>
                      <a:pt x="16" y="16"/>
                    </a:cubicBezTo>
                    <a:cubicBezTo>
                      <a:pt x="22" y="16"/>
                      <a:pt x="22" y="16"/>
                      <a:pt x="22" y="16"/>
                    </a:cubicBezTo>
                    <a:cubicBezTo>
                      <a:pt x="22" y="10"/>
                      <a:pt x="22" y="10"/>
                      <a:pt x="22" y="10"/>
                    </a:cubicBezTo>
                    <a:cubicBezTo>
                      <a:pt x="16" y="10"/>
                      <a:pt x="16" y="10"/>
                      <a:pt x="16" y="10"/>
                    </a:cubicBezTo>
                    <a:cubicBezTo>
                      <a:pt x="16" y="0"/>
                      <a:pt x="16" y="0"/>
                      <a:pt x="16" y="0"/>
                    </a:cubicBezTo>
                    <a:cubicBezTo>
                      <a:pt x="5" y="0"/>
                      <a:pt x="5" y="0"/>
                      <a:pt x="5" y="0"/>
                    </a:cubicBezTo>
                    <a:cubicBezTo>
                      <a:pt x="5" y="10"/>
                      <a:pt x="5" y="10"/>
                      <a:pt x="5" y="10"/>
                    </a:cubicBezTo>
                    <a:cubicBezTo>
                      <a:pt x="0" y="10"/>
                      <a:pt x="0" y="10"/>
                      <a:pt x="0" y="10"/>
                    </a:cubicBezTo>
                    <a:cubicBezTo>
                      <a:pt x="0" y="16"/>
                      <a:pt x="0" y="16"/>
                      <a:pt x="0" y="16"/>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0" name="Freeform 21"/>
              <p:cNvSpPr>
                <a:spLocks noChangeAspect="1"/>
              </p:cNvSpPr>
              <p:nvPr/>
            </p:nvSpPr>
            <p:spPr bwMode="auto">
              <a:xfrm>
                <a:off x="9683" y="1081"/>
                <a:ext cx="54" cy="78"/>
              </a:xfrm>
              <a:custGeom>
                <a:avLst/>
                <a:gdLst>
                  <a:gd name="T0" fmla="*/ 0 w 31"/>
                  <a:gd name="T1" fmla="*/ 102079 h 47"/>
                  <a:gd name="T2" fmla="*/ 115496 w 31"/>
                  <a:gd name="T3" fmla="*/ 154765 h 47"/>
                  <a:gd name="T4" fmla="*/ 222954 w 31"/>
                  <a:gd name="T5" fmla="*/ 109597 h 47"/>
                  <a:gd name="T6" fmla="*/ 77223 w 31"/>
                  <a:gd name="T7" fmla="*/ 36307 h 47"/>
                  <a:gd name="T8" fmla="*/ 106141 w 31"/>
                  <a:gd name="T9" fmla="*/ 16051 h 47"/>
                  <a:gd name="T10" fmla="*/ 134517 w 31"/>
                  <a:gd name="T11" fmla="*/ 39793 h 47"/>
                  <a:gd name="T12" fmla="*/ 134517 w 31"/>
                  <a:gd name="T13" fmla="*/ 45869 h 47"/>
                  <a:gd name="T14" fmla="*/ 222954 w 31"/>
                  <a:gd name="T15" fmla="*/ 45869 h 47"/>
                  <a:gd name="T16" fmla="*/ 115496 w 31"/>
                  <a:gd name="T17" fmla="*/ 0 h 47"/>
                  <a:gd name="T18" fmla="*/ 0 w 31"/>
                  <a:gd name="T19" fmla="*/ 39793 h 47"/>
                  <a:gd name="T20" fmla="*/ 144298 w 31"/>
                  <a:gd name="T21" fmla="*/ 111751 h 47"/>
                  <a:gd name="T22" fmla="*/ 115496 w 31"/>
                  <a:gd name="T23" fmla="*/ 136261 h 47"/>
                  <a:gd name="T24" fmla="*/ 86381 w 31"/>
                  <a:gd name="T25" fmla="*/ 126332 h 47"/>
                  <a:gd name="T26" fmla="*/ 77223 w 31"/>
                  <a:gd name="T27" fmla="*/ 102079 h 47"/>
                  <a:gd name="T28" fmla="*/ 0 w 31"/>
                  <a:gd name="T29" fmla="*/ 102079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1" h="47">
                    <a:moveTo>
                      <a:pt x="0" y="31"/>
                    </a:moveTo>
                    <a:cubicBezTo>
                      <a:pt x="0" y="44"/>
                      <a:pt x="6" y="47"/>
                      <a:pt x="16" y="47"/>
                    </a:cubicBezTo>
                    <a:cubicBezTo>
                      <a:pt x="26" y="47"/>
                      <a:pt x="31" y="41"/>
                      <a:pt x="31" y="33"/>
                    </a:cubicBezTo>
                    <a:cubicBezTo>
                      <a:pt x="31" y="18"/>
                      <a:pt x="11" y="20"/>
                      <a:pt x="11" y="11"/>
                    </a:cubicBezTo>
                    <a:cubicBezTo>
                      <a:pt x="11" y="8"/>
                      <a:pt x="12" y="5"/>
                      <a:pt x="15" y="5"/>
                    </a:cubicBezTo>
                    <a:cubicBezTo>
                      <a:pt x="18" y="5"/>
                      <a:pt x="19" y="7"/>
                      <a:pt x="19" y="12"/>
                    </a:cubicBezTo>
                    <a:cubicBezTo>
                      <a:pt x="19" y="14"/>
                      <a:pt x="19" y="14"/>
                      <a:pt x="19" y="14"/>
                    </a:cubicBezTo>
                    <a:cubicBezTo>
                      <a:pt x="31" y="14"/>
                      <a:pt x="31" y="14"/>
                      <a:pt x="31" y="14"/>
                    </a:cubicBezTo>
                    <a:cubicBezTo>
                      <a:pt x="31" y="4"/>
                      <a:pt x="24" y="0"/>
                      <a:pt x="16" y="0"/>
                    </a:cubicBezTo>
                    <a:cubicBezTo>
                      <a:pt x="9" y="0"/>
                      <a:pt x="0" y="3"/>
                      <a:pt x="0" y="12"/>
                    </a:cubicBezTo>
                    <a:cubicBezTo>
                      <a:pt x="0" y="27"/>
                      <a:pt x="20" y="24"/>
                      <a:pt x="20" y="34"/>
                    </a:cubicBezTo>
                    <a:cubicBezTo>
                      <a:pt x="20" y="38"/>
                      <a:pt x="19" y="41"/>
                      <a:pt x="16" y="41"/>
                    </a:cubicBezTo>
                    <a:cubicBezTo>
                      <a:pt x="14" y="41"/>
                      <a:pt x="13" y="40"/>
                      <a:pt x="12" y="38"/>
                    </a:cubicBezTo>
                    <a:cubicBezTo>
                      <a:pt x="11" y="37"/>
                      <a:pt x="11" y="33"/>
                      <a:pt x="11" y="31"/>
                    </a:cubicBezTo>
                    <a:cubicBezTo>
                      <a:pt x="0" y="31"/>
                      <a:pt x="0" y="31"/>
                      <a:pt x="0" y="31"/>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1" name="Freeform 22"/>
              <p:cNvSpPr>
                <a:spLocks noChangeAspect="1"/>
              </p:cNvSpPr>
              <p:nvPr/>
            </p:nvSpPr>
            <p:spPr bwMode="auto">
              <a:xfrm>
                <a:off x="9620" y="1081"/>
                <a:ext cx="54" cy="75"/>
              </a:xfrm>
              <a:custGeom>
                <a:avLst/>
                <a:gdLst>
                  <a:gd name="T0" fmla="*/ 51179 w 32"/>
                  <a:gd name="T1" fmla="*/ 2765 h 46"/>
                  <a:gd name="T2" fmla="*/ 0 w 32"/>
                  <a:gd name="T3" fmla="*/ 2765 h 46"/>
                  <a:gd name="T4" fmla="*/ 0 w 32"/>
                  <a:gd name="T5" fmla="*/ 114310 h 46"/>
                  <a:gd name="T6" fmla="*/ 51179 w 32"/>
                  <a:gd name="T7" fmla="*/ 114310 h 46"/>
                  <a:gd name="T8" fmla="*/ 51179 w 32"/>
                  <a:gd name="T9" fmla="*/ 35749 h 46"/>
                  <a:gd name="T10" fmla="*/ 70499 w 32"/>
                  <a:gd name="T11" fmla="*/ 16699 h 46"/>
                  <a:gd name="T12" fmla="*/ 86365 w 32"/>
                  <a:gd name="T13" fmla="*/ 35749 h 46"/>
                  <a:gd name="T14" fmla="*/ 86365 w 32"/>
                  <a:gd name="T15" fmla="*/ 114310 h 46"/>
                  <a:gd name="T16" fmla="*/ 138689 w 32"/>
                  <a:gd name="T17" fmla="*/ 114310 h 46"/>
                  <a:gd name="T18" fmla="*/ 138689 w 32"/>
                  <a:gd name="T19" fmla="*/ 24013 h 46"/>
                  <a:gd name="T20" fmla="*/ 90111 w 32"/>
                  <a:gd name="T21" fmla="*/ 0 h 46"/>
                  <a:gd name="T22" fmla="*/ 51179 w 32"/>
                  <a:gd name="T23" fmla="*/ 11984 h 46"/>
                  <a:gd name="T24" fmla="*/ 51179 w 32"/>
                  <a:gd name="T25" fmla="*/ 11984 h 46"/>
                  <a:gd name="T26" fmla="*/ 51179 w 32"/>
                  <a:gd name="T27" fmla="*/ 2765 h 4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 h="46">
                    <a:moveTo>
                      <a:pt x="12" y="1"/>
                    </a:moveTo>
                    <a:cubicBezTo>
                      <a:pt x="0" y="1"/>
                      <a:pt x="0" y="1"/>
                      <a:pt x="0" y="1"/>
                    </a:cubicBezTo>
                    <a:cubicBezTo>
                      <a:pt x="0" y="46"/>
                      <a:pt x="0" y="46"/>
                      <a:pt x="0" y="46"/>
                    </a:cubicBezTo>
                    <a:cubicBezTo>
                      <a:pt x="12" y="46"/>
                      <a:pt x="12" y="46"/>
                      <a:pt x="12" y="46"/>
                    </a:cubicBezTo>
                    <a:cubicBezTo>
                      <a:pt x="12" y="14"/>
                      <a:pt x="12" y="14"/>
                      <a:pt x="12" y="14"/>
                    </a:cubicBezTo>
                    <a:cubicBezTo>
                      <a:pt x="12" y="10"/>
                      <a:pt x="12" y="7"/>
                      <a:pt x="16" y="7"/>
                    </a:cubicBezTo>
                    <a:cubicBezTo>
                      <a:pt x="20" y="7"/>
                      <a:pt x="20" y="10"/>
                      <a:pt x="20" y="14"/>
                    </a:cubicBezTo>
                    <a:cubicBezTo>
                      <a:pt x="20" y="46"/>
                      <a:pt x="20" y="46"/>
                      <a:pt x="20" y="46"/>
                    </a:cubicBezTo>
                    <a:cubicBezTo>
                      <a:pt x="32" y="46"/>
                      <a:pt x="32" y="46"/>
                      <a:pt x="32" y="46"/>
                    </a:cubicBezTo>
                    <a:cubicBezTo>
                      <a:pt x="32" y="10"/>
                      <a:pt x="32" y="10"/>
                      <a:pt x="32" y="10"/>
                    </a:cubicBezTo>
                    <a:cubicBezTo>
                      <a:pt x="32" y="3"/>
                      <a:pt x="27" y="0"/>
                      <a:pt x="21" y="0"/>
                    </a:cubicBezTo>
                    <a:cubicBezTo>
                      <a:pt x="17" y="0"/>
                      <a:pt x="14" y="1"/>
                      <a:pt x="12" y="5"/>
                    </a:cubicBezTo>
                    <a:cubicBezTo>
                      <a:pt x="12" y="5"/>
                      <a:pt x="12" y="5"/>
                      <a:pt x="12" y="5"/>
                    </a:cubicBezTo>
                    <a:cubicBezTo>
                      <a:pt x="12" y="1"/>
                      <a:pt x="12" y="1"/>
                      <a:pt x="12" y="1"/>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2" name="Freeform 23"/>
              <p:cNvSpPr>
                <a:spLocks noChangeAspect="1"/>
              </p:cNvSpPr>
              <p:nvPr/>
            </p:nvSpPr>
            <p:spPr bwMode="auto">
              <a:xfrm>
                <a:off x="9818" y="1065"/>
                <a:ext cx="38" cy="91"/>
              </a:xfrm>
              <a:custGeom>
                <a:avLst/>
                <a:gdLst>
                  <a:gd name="T0" fmla="*/ 0 w 22"/>
                  <a:gd name="T1" fmla="*/ 49360 h 55"/>
                  <a:gd name="T2" fmla="*/ 25368 w 22"/>
                  <a:gd name="T3" fmla="*/ 49360 h 55"/>
                  <a:gd name="T4" fmla="*/ 25368 w 22"/>
                  <a:gd name="T5" fmla="*/ 140689 h 55"/>
                  <a:gd name="T6" fmla="*/ 100994 w 22"/>
                  <a:gd name="T7" fmla="*/ 174199 h 55"/>
                  <a:gd name="T8" fmla="*/ 130727 w 22"/>
                  <a:gd name="T9" fmla="*/ 174199 h 55"/>
                  <a:gd name="T10" fmla="*/ 130727 w 22"/>
                  <a:gd name="T11" fmla="*/ 151073 h 55"/>
                  <a:gd name="T12" fmla="*/ 119147 w 22"/>
                  <a:gd name="T13" fmla="*/ 151073 h 55"/>
                  <a:gd name="T14" fmla="*/ 100994 w 22"/>
                  <a:gd name="T15" fmla="*/ 135123 h 55"/>
                  <a:gd name="T16" fmla="*/ 100994 w 22"/>
                  <a:gd name="T17" fmla="*/ 49360 h 55"/>
                  <a:gd name="T18" fmla="*/ 138705 w 22"/>
                  <a:gd name="T19" fmla="*/ 49360 h 55"/>
                  <a:gd name="T20" fmla="*/ 138705 w 22"/>
                  <a:gd name="T21" fmla="*/ 31941 h 55"/>
                  <a:gd name="T22" fmla="*/ 100994 w 22"/>
                  <a:gd name="T23" fmla="*/ 31941 h 55"/>
                  <a:gd name="T24" fmla="*/ 100994 w 22"/>
                  <a:gd name="T25" fmla="*/ 0 h 55"/>
                  <a:gd name="T26" fmla="*/ 25368 w 22"/>
                  <a:gd name="T27" fmla="*/ 0 h 55"/>
                  <a:gd name="T28" fmla="*/ 25368 w 22"/>
                  <a:gd name="T29" fmla="*/ 31941 h 55"/>
                  <a:gd name="T30" fmla="*/ 0 w 22"/>
                  <a:gd name="T31" fmla="*/ 31941 h 55"/>
                  <a:gd name="T32" fmla="*/ 0 w 22"/>
                  <a:gd name="T33" fmla="*/ 49360 h 5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 h="55">
                    <a:moveTo>
                      <a:pt x="0" y="16"/>
                    </a:moveTo>
                    <a:cubicBezTo>
                      <a:pt x="4" y="16"/>
                      <a:pt x="4" y="16"/>
                      <a:pt x="4" y="16"/>
                    </a:cubicBezTo>
                    <a:cubicBezTo>
                      <a:pt x="4" y="45"/>
                      <a:pt x="4" y="45"/>
                      <a:pt x="4" y="45"/>
                    </a:cubicBezTo>
                    <a:cubicBezTo>
                      <a:pt x="4" y="48"/>
                      <a:pt x="6" y="55"/>
                      <a:pt x="16" y="55"/>
                    </a:cubicBezTo>
                    <a:cubicBezTo>
                      <a:pt x="18" y="55"/>
                      <a:pt x="20" y="55"/>
                      <a:pt x="21" y="55"/>
                    </a:cubicBezTo>
                    <a:cubicBezTo>
                      <a:pt x="21" y="48"/>
                      <a:pt x="21" y="48"/>
                      <a:pt x="21" y="48"/>
                    </a:cubicBezTo>
                    <a:cubicBezTo>
                      <a:pt x="21" y="48"/>
                      <a:pt x="20" y="48"/>
                      <a:pt x="19" y="48"/>
                    </a:cubicBezTo>
                    <a:cubicBezTo>
                      <a:pt x="16" y="48"/>
                      <a:pt x="16" y="46"/>
                      <a:pt x="16" y="43"/>
                    </a:cubicBezTo>
                    <a:cubicBezTo>
                      <a:pt x="16" y="16"/>
                      <a:pt x="16" y="16"/>
                      <a:pt x="16" y="16"/>
                    </a:cubicBezTo>
                    <a:cubicBezTo>
                      <a:pt x="22" y="16"/>
                      <a:pt x="22" y="16"/>
                      <a:pt x="22" y="16"/>
                    </a:cubicBezTo>
                    <a:cubicBezTo>
                      <a:pt x="22" y="10"/>
                      <a:pt x="22" y="10"/>
                      <a:pt x="22" y="10"/>
                    </a:cubicBezTo>
                    <a:cubicBezTo>
                      <a:pt x="16" y="10"/>
                      <a:pt x="16" y="10"/>
                      <a:pt x="16" y="10"/>
                    </a:cubicBezTo>
                    <a:cubicBezTo>
                      <a:pt x="16" y="0"/>
                      <a:pt x="16" y="0"/>
                      <a:pt x="16" y="0"/>
                    </a:cubicBezTo>
                    <a:cubicBezTo>
                      <a:pt x="4" y="0"/>
                      <a:pt x="4" y="0"/>
                      <a:pt x="4" y="0"/>
                    </a:cubicBezTo>
                    <a:cubicBezTo>
                      <a:pt x="4" y="10"/>
                      <a:pt x="4" y="10"/>
                      <a:pt x="4" y="10"/>
                    </a:cubicBezTo>
                    <a:cubicBezTo>
                      <a:pt x="0" y="10"/>
                      <a:pt x="0" y="10"/>
                      <a:pt x="0" y="10"/>
                    </a:cubicBezTo>
                    <a:cubicBezTo>
                      <a:pt x="0" y="16"/>
                      <a:pt x="0" y="16"/>
                      <a:pt x="0" y="16"/>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3" name="Rectangle 24"/>
              <p:cNvSpPr>
                <a:spLocks noChangeAspect="1" noChangeArrowheads="1"/>
              </p:cNvSpPr>
              <p:nvPr/>
            </p:nvSpPr>
            <p:spPr bwMode="auto">
              <a:xfrm>
                <a:off x="9589" y="1048"/>
                <a:ext cx="17" cy="108"/>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24" name="Freeform 25"/>
              <p:cNvSpPr>
                <a:spLocks noChangeAspect="1" noEditPoints="1"/>
              </p:cNvSpPr>
              <p:nvPr/>
            </p:nvSpPr>
            <p:spPr bwMode="auto">
              <a:xfrm>
                <a:off x="10058" y="1081"/>
                <a:ext cx="54" cy="78"/>
              </a:xfrm>
              <a:custGeom>
                <a:avLst/>
                <a:gdLst>
                  <a:gd name="T0" fmla="*/ 45229 w 33"/>
                  <a:gd name="T1" fmla="*/ 154765 h 47"/>
                  <a:gd name="T2" fmla="*/ 86984 w 33"/>
                  <a:gd name="T3" fmla="*/ 76123 h 47"/>
                  <a:gd name="T4" fmla="*/ 45229 w 33"/>
                  <a:gd name="T5" fmla="*/ 0 h 47"/>
                  <a:gd name="T6" fmla="*/ 0 w 33"/>
                  <a:gd name="T7" fmla="*/ 76123 h 47"/>
                  <a:gd name="T8" fmla="*/ 45229 w 33"/>
                  <a:gd name="T9" fmla="*/ 154765 h 47"/>
                  <a:gd name="T10" fmla="*/ 45229 w 33"/>
                  <a:gd name="T11" fmla="*/ 136261 h 47"/>
                  <a:gd name="T12" fmla="*/ 28335 w 33"/>
                  <a:gd name="T13" fmla="*/ 73366 h 47"/>
                  <a:gd name="T14" fmla="*/ 45229 w 33"/>
                  <a:gd name="T15" fmla="*/ 19980 h 47"/>
                  <a:gd name="T16" fmla="*/ 58464 w 33"/>
                  <a:gd name="T17" fmla="*/ 73366 h 47"/>
                  <a:gd name="T18" fmla="*/ 45229 w 33"/>
                  <a:gd name="T19" fmla="*/ 136261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 h="47">
                    <a:moveTo>
                      <a:pt x="17" y="47"/>
                    </a:moveTo>
                    <a:cubicBezTo>
                      <a:pt x="31" y="47"/>
                      <a:pt x="33" y="37"/>
                      <a:pt x="33" y="23"/>
                    </a:cubicBezTo>
                    <a:cubicBezTo>
                      <a:pt x="33" y="10"/>
                      <a:pt x="32" y="0"/>
                      <a:pt x="17" y="0"/>
                    </a:cubicBezTo>
                    <a:cubicBezTo>
                      <a:pt x="2" y="0"/>
                      <a:pt x="0" y="10"/>
                      <a:pt x="0" y="23"/>
                    </a:cubicBezTo>
                    <a:cubicBezTo>
                      <a:pt x="0" y="37"/>
                      <a:pt x="2" y="47"/>
                      <a:pt x="17" y="47"/>
                    </a:cubicBezTo>
                    <a:moveTo>
                      <a:pt x="17" y="41"/>
                    </a:moveTo>
                    <a:cubicBezTo>
                      <a:pt x="12" y="41"/>
                      <a:pt x="11" y="37"/>
                      <a:pt x="11" y="22"/>
                    </a:cubicBezTo>
                    <a:cubicBezTo>
                      <a:pt x="11" y="10"/>
                      <a:pt x="12" y="6"/>
                      <a:pt x="17" y="6"/>
                    </a:cubicBezTo>
                    <a:cubicBezTo>
                      <a:pt x="22" y="6"/>
                      <a:pt x="22" y="10"/>
                      <a:pt x="22" y="22"/>
                    </a:cubicBezTo>
                    <a:cubicBezTo>
                      <a:pt x="22" y="37"/>
                      <a:pt x="21" y="41"/>
                      <a:pt x="17" y="41"/>
                    </a:cubicBez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5" name="Freeform 26"/>
              <p:cNvSpPr>
                <a:spLocks noChangeAspect="1"/>
              </p:cNvSpPr>
              <p:nvPr/>
            </p:nvSpPr>
            <p:spPr bwMode="auto">
              <a:xfrm>
                <a:off x="10121" y="1048"/>
                <a:ext cx="37" cy="108"/>
              </a:xfrm>
              <a:custGeom>
                <a:avLst/>
                <a:gdLst>
                  <a:gd name="T0" fmla="*/ 89474 w 22"/>
                  <a:gd name="T1" fmla="*/ 0 h 65"/>
                  <a:gd name="T2" fmla="*/ 72283 w 22"/>
                  <a:gd name="T3" fmla="*/ 0 h 65"/>
                  <a:gd name="T4" fmla="*/ 18809 w 22"/>
                  <a:gd name="T5" fmla="*/ 66847 h 65"/>
                  <a:gd name="T6" fmla="*/ 0 w 22"/>
                  <a:gd name="T7" fmla="*/ 66847 h 65"/>
                  <a:gd name="T8" fmla="*/ 0 w 22"/>
                  <a:gd name="T9" fmla="*/ 92177 h 65"/>
                  <a:gd name="T10" fmla="*/ 18809 w 22"/>
                  <a:gd name="T11" fmla="*/ 92177 h 65"/>
                  <a:gd name="T12" fmla="*/ 18809 w 22"/>
                  <a:gd name="T13" fmla="*/ 218218 h 65"/>
                  <a:gd name="T14" fmla="*/ 65537 w 22"/>
                  <a:gd name="T15" fmla="*/ 218218 h 65"/>
                  <a:gd name="T16" fmla="*/ 65537 w 22"/>
                  <a:gd name="T17" fmla="*/ 92177 h 65"/>
                  <a:gd name="T18" fmla="*/ 85704 w 22"/>
                  <a:gd name="T19" fmla="*/ 92177 h 65"/>
                  <a:gd name="T20" fmla="*/ 85704 w 22"/>
                  <a:gd name="T21" fmla="*/ 66847 h 65"/>
                  <a:gd name="T22" fmla="*/ 65537 w 22"/>
                  <a:gd name="T23" fmla="*/ 66847 h 65"/>
                  <a:gd name="T24" fmla="*/ 65537 w 22"/>
                  <a:gd name="T25" fmla="*/ 46347 h 65"/>
                  <a:gd name="T26" fmla="*/ 89474 w 22"/>
                  <a:gd name="T27" fmla="*/ 24214 h 65"/>
                  <a:gd name="T28" fmla="*/ 89474 w 22"/>
                  <a:gd name="T29" fmla="*/ 0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2" h="65">
                    <a:moveTo>
                      <a:pt x="22" y="0"/>
                    </a:moveTo>
                    <a:cubicBezTo>
                      <a:pt x="20" y="0"/>
                      <a:pt x="19" y="0"/>
                      <a:pt x="18" y="0"/>
                    </a:cubicBezTo>
                    <a:cubicBezTo>
                      <a:pt x="4" y="0"/>
                      <a:pt x="5" y="7"/>
                      <a:pt x="5" y="20"/>
                    </a:cubicBezTo>
                    <a:cubicBezTo>
                      <a:pt x="0" y="20"/>
                      <a:pt x="0" y="20"/>
                      <a:pt x="0" y="20"/>
                    </a:cubicBezTo>
                    <a:cubicBezTo>
                      <a:pt x="0" y="27"/>
                      <a:pt x="0" y="27"/>
                      <a:pt x="0" y="27"/>
                    </a:cubicBezTo>
                    <a:cubicBezTo>
                      <a:pt x="5" y="27"/>
                      <a:pt x="5" y="27"/>
                      <a:pt x="5" y="27"/>
                    </a:cubicBezTo>
                    <a:cubicBezTo>
                      <a:pt x="5" y="65"/>
                      <a:pt x="5" y="65"/>
                      <a:pt x="5" y="65"/>
                    </a:cubicBezTo>
                    <a:cubicBezTo>
                      <a:pt x="16" y="65"/>
                      <a:pt x="16" y="65"/>
                      <a:pt x="16" y="65"/>
                    </a:cubicBezTo>
                    <a:cubicBezTo>
                      <a:pt x="16" y="27"/>
                      <a:pt x="16" y="27"/>
                      <a:pt x="16" y="27"/>
                    </a:cubicBezTo>
                    <a:cubicBezTo>
                      <a:pt x="21" y="27"/>
                      <a:pt x="21" y="27"/>
                      <a:pt x="21" y="27"/>
                    </a:cubicBezTo>
                    <a:cubicBezTo>
                      <a:pt x="21" y="20"/>
                      <a:pt x="21" y="20"/>
                      <a:pt x="21" y="20"/>
                    </a:cubicBezTo>
                    <a:cubicBezTo>
                      <a:pt x="16" y="20"/>
                      <a:pt x="16" y="20"/>
                      <a:pt x="16" y="20"/>
                    </a:cubicBezTo>
                    <a:cubicBezTo>
                      <a:pt x="16" y="14"/>
                      <a:pt x="16" y="14"/>
                      <a:pt x="16" y="14"/>
                    </a:cubicBezTo>
                    <a:cubicBezTo>
                      <a:pt x="16" y="9"/>
                      <a:pt x="17" y="7"/>
                      <a:pt x="22" y="7"/>
                    </a:cubicBezTo>
                    <a:cubicBezTo>
                      <a:pt x="22" y="0"/>
                      <a:pt x="22" y="0"/>
                      <a:pt x="22"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6" name="Freeform 27"/>
              <p:cNvSpPr>
                <a:spLocks noChangeAspect="1"/>
              </p:cNvSpPr>
              <p:nvPr/>
            </p:nvSpPr>
            <p:spPr bwMode="auto">
              <a:xfrm>
                <a:off x="10618" y="1048"/>
                <a:ext cx="54" cy="108"/>
              </a:xfrm>
              <a:custGeom>
                <a:avLst/>
                <a:gdLst>
                  <a:gd name="T0" fmla="*/ 138689 w 32"/>
                  <a:gd name="T1" fmla="*/ 276205 h 64"/>
                  <a:gd name="T2" fmla="*/ 138689 w 32"/>
                  <a:gd name="T3" fmla="*/ 119482 h 64"/>
                  <a:gd name="T4" fmla="*/ 90111 w 32"/>
                  <a:gd name="T5" fmla="*/ 77353 h 64"/>
                  <a:gd name="T6" fmla="*/ 51179 w 32"/>
                  <a:gd name="T7" fmla="*/ 104635 h 64"/>
                  <a:gd name="T8" fmla="*/ 51179 w 32"/>
                  <a:gd name="T9" fmla="*/ 104635 h 64"/>
                  <a:gd name="T10" fmla="*/ 51179 w 32"/>
                  <a:gd name="T11" fmla="*/ 0 h 64"/>
                  <a:gd name="T12" fmla="*/ 0 w 32"/>
                  <a:gd name="T13" fmla="*/ 0 h 64"/>
                  <a:gd name="T14" fmla="*/ 0 w 32"/>
                  <a:gd name="T15" fmla="*/ 276205 h 64"/>
                  <a:gd name="T16" fmla="*/ 51179 w 32"/>
                  <a:gd name="T17" fmla="*/ 276205 h 64"/>
                  <a:gd name="T18" fmla="*/ 51179 w 32"/>
                  <a:gd name="T19" fmla="*/ 138689 h 64"/>
                  <a:gd name="T20" fmla="*/ 70499 w 32"/>
                  <a:gd name="T21" fmla="*/ 108444 h 64"/>
                  <a:gd name="T22" fmla="*/ 86365 w 32"/>
                  <a:gd name="T23" fmla="*/ 138689 h 64"/>
                  <a:gd name="T24" fmla="*/ 86365 w 32"/>
                  <a:gd name="T25" fmla="*/ 276205 h 64"/>
                  <a:gd name="T26" fmla="*/ 138689 w 32"/>
                  <a:gd name="T27" fmla="*/ 276205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2" h="64">
                    <a:moveTo>
                      <a:pt x="32" y="64"/>
                    </a:moveTo>
                    <a:cubicBezTo>
                      <a:pt x="32" y="28"/>
                      <a:pt x="32" y="28"/>
                      <a:pt x="32" y="28"/>
                    </a:cubicBezTo>
                    <a:cubicBezTo>
                      <a:pt x="32" y="22"/>
                      <a:pt x="27" y="18"/>
                      <a:pt x="21" y="18"/>
                    </a:cubicBezTo>
                    <a:cubicBezTo>
                      <a:pt x="17" y="18"/>
                      <a:pt x="14" y="19"/>
                      <a:pt x="12" y="24"/>
                    </a:cubicBezTo>
                    <a:cubicBezTo>
                      <a:pt x="12" y="24"/>
                      <a:pt x="12" y="24"/>
                      <a:pt x="12" y="24"/>
                    </a:cubicBezTo>
                    <a:cubicBezTo>
                      <a:pt x="12" y="0"/>
                      <a:pt x="12" y="0"/>
                      <a:pt x="12" y="0"/>
                    </a:cubicBezTo>
                    <a:cubicBezTo>
                      <a:pt x="0" y="0"/>
                      <a:pt x="0" y="0"/>
                      <a:pt x="0" y="0"/>
                    </a:cubicBezTo>
                    <a:cubicBezTo>
                      <a:pt x="0" y="64"/>
                      <a:pt x="0" y="64"/>
                      <a:pt x="0" y="64"/>
                    </a:cubicBezTo>
                    <a:cubicBezTo>
                      <a:pt x="12" y="64"/>
                      <a:pt x="12" y="64"/>
                      <a:pt x="12" y="64"/>
                    </a:cubicBezTo>
                    <a:cubicBezTo>
                      <a:pt x="12" y="32"/>
                      <a:pt x="12" y="32"/>
                      <a:pt x="12" y="32"/>
                    </a:cubicBezTo>
                    <a:cubicBezTo>
                      <a:pt x="12" y="28"/>
                      <a:pt x="12" y="25"/>
                      <a:pt x="16" y="25"/>
                    </a:cubicBezTo>
                    <a:cubicBezTo>
                      <a:pt x="20" y="25"/>
                      <a:pt x="20" y="28"/>
                      <a:pt x="20" y="32"/>
                    </a:cubicBezTo>
                    <a:cubicBezTo>
                      <a:pt x="20" y="64"/>
                      <a:pt x="20" y="64"/>
                      <a:pt x="20" y="64"/>
                    </a:cubicBezTo>
                    <a:cubicBezTo>
                      <a:pt x="32" y="64"/>
                      <a:pt x="32" y="64"/>
                      <a:pt x="32" y="6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7" name="Freeform 28"/>
              <p:cNvSpPr>
                <a:spLocks noChangeAspect="1"/>
              </p:cNvSpPr>
              <p:nvPr/>
            </p:nvSpPr>
            <p:spPr bwMode="auto">
              <a:xfrm>
                <a:off x="10553" y="1081"/>
                <a:ext cx="57" cy="78"/>
              </a:xfrm>
              <a:custGeom>
                <a:avLst/>
                <a:gdLst>
                  <a:gd name="T0" fmla="*/ 133023 w 34"/>
                  <a:gd name="T1" fmla="*/ 55028 h 47"/>
                  <a:gd name="T2" fmla="*/ 67714 w 34"/>
                  <a:gd name="T3" fmla="*/ 0 h 47"/>
                  <a:gd name="T4" fmla="*/ 0 w 34"/>
                  <a:gd name="T5" fmla="*/ 76123 h 47"/>
                  <a:gd name="T6" fmla="*/ 67714 w 34"/>
                  <a:gd name="T7" fmla="*/ 154765 h 47"/>
                  <a:gd name="T8" fmla="*/ 133023 w 34"/>
                  <a:gd name="T9" fmla="*/ 99996 h 47"/>
                  <a:gd name="T10" fmla="*/ 85882 w 34"/>
                  <a:gd name="T11" fmla="*/ 99996 h 47"/>
                  <a:gd name="T12" fmla="*/ 67714 w 34"/>
                  <a:gd name="T13" fmla="*/ 136261 h 47"/>
                  <a:gd name="T14" fmla="*/ 47330 w 34"/>
                  <a:gd name="T15" fmla="*/ 73366 h 47"/>
                  <a:gd name="T16" fmla="*/ 67714 w 34"/>
                  <a:gd name="T17" fmla="*/ 19980 h 47"/>
                  <a:gd name="T18" fmla="*/ 85882 w 34"/>
                  <a:gd name="T19" fmla="*/ 55028 h 47"/>
                  <a:gd name="T20" fmla="*/ 133023 w 34"/>
                  <a:gd name="T21" fmla="*/ 55028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 h="47">
                    <a:moveTo>
                      <a:pt x="34" y="17"/>
                    </a:moveTo>
                    <a:cubicBezTo>
                      <a:pt x="34" y="5"/>
                      <a:pt x="28" y="0"/>
                      <a:pt x="17" y="0"/>
                    </a:cubicBezTo>
                    <a:cubicBezTo>
                      <a:pt x="2" y="0"/>
                      <a:pt x="0" y="11"/>
                      <a:pt x="0" y="23"/>
                    </a:cubicBezTo>
                    <a:cubicBezTo>
                      <a:pt x="0" y="37"/>
                      <a:pt x="2" y="47"/>
                      <a:pt x="17" y="47"/>
                    </a:cubicBezTo>
                    <a:cubicBezTo>
                      <a:pt x="28" y="47"/>
                      <a:pt x="34" y="42"/>
                      <a:pt x="34" y="30"/>
                    </a:cubicBezTo>
                    <a:cubicBezTo>
                      <a:pt x="22" y="30"/>
                      <a:pt x="22" y="30"/>
                      <a:pt x="22" y="30"/>
                    </a:cubicBezTo>
                    <a:cubicBezTo>
                      <a:pt x="22" y="38"/>
                      <a:pt x="21" y="41"/>
                      <a:pt x="17" y="41"/>
                    </a:cubicBezTo>
                    <a:cubicBezTo>
                      <a:pt x="13" y="41"/>
                      <a:pt x="12" y="38"/>
                      <a:pt x="12" y="22"/>
                    </a:cubicBezTo>
                    <a:cubicBezTo>
                      <a:pt x="12" y="10"/>
                      <a:pt x="12" y="6"/>
                      <a:pt x="17" y="6"/>
                    </a:cubicBezTo>
                    <a:cubicBezTo>
                      <a:pt x="21" y="6"/>
                      <a:pt x="22" y="9"/>
                      <a:pt x="22" y="17"/>
                    </a:cubicBezTo>
                    <a:cubicBezTo>
                      <a:pt x="34" y="17"/>
                      <a:pt x="34" y="17"/>
                      <a:pt x="34" y="17"/>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8" name="Freeform 29"/>
              <p:cNvSpPr>
                <a:spLocks noChangeAspect="1" noEditPoints="1"/>
              </p:cNvSpPr>
              <p:nvPr/>
            </p:nvSpPr>
            <p:spPr bwMode="auto">
              <a:xfrm>
                <a:off x="10191" y="1048"/>
                <a:ext cx="62" cy="108"/>
              </a:xfrm>
              <a:custGeom>
                <a:avLst/>
                <a:gdLst>
                  <a:gd name="T0" fmla="*/ 47046 w 37"/>
                  <a:gd name="T1" fmla="*/ 123618 h 65"/>
                  <a:gd name="T2" fmla="*/ 47046 w 37"/>
                  <a:gd name="T3" fmla="*/ 218218 h 65"/>
                  <a:gd name="T4" fmla="*/ 0 w 37"/>
                  <a:gd name="T5" fmla="*/ 218218 h 65"/>
                  <a:gd name="T6" fmla="*/ 0 w 37"/>
                  <a:gd name="T7" fmla="*/ 0 h 65"/>
                  <a:gd name="T8" fmla="*/ 89706 w 37"/>
                  <a:gd name="T9" fmla="*/ 0 h 65"/>
                  <a:gd name="T10" fmla="*/ 138555 w 37"/>
                  <a:gd name="T11" fmla="*/ 57503 h 65"/>
                  <a:gd name="T12" fmla="*/ 96033 w 37"/>
                  <a:gd name="T13" fmla="*/ 111069 h 65"/>
                  <a:gd name="T14" fmla="*/ 138555 w 37"/>
                  <a:gd name="T15" fmla="*/ 153747 h 65"/>
                  <a:gd name="T16" fmla="*/ 142893 w 37"/>
                  <a:gd name="T17" fmla="*/ 218218 h 65"/>
                  <a:gd name="T18" fmla="*/ 96033 w 37"/>
                  <a:gd name="T19" fmla="*/ 218218 h 65"/>
                  <a:gd name="T20" fmla="*/ 92191 w 37"/>
                  <a:gd name="T21" fmla="*/ 174809 h 65"/>
                  <a:gd name="T22" fmla="*/ 57310 w 37"/>
                  <a:gd name="T23" fmla="*/ 123618 h 65"/>
                  <a:gd name="T24" fmla="*/ 47046 w 37"/>
                  <a:gd name="T25" fmla="*/ 123618 h 65"/>
                  <a:gd name="T26" fmla="*/ 47046 w 37"/>
                  <a:gd name="T27" fmla="*/ 26950 h 65"/>
                  <a:gd name="T28" fmla="*/ 47046 w 37"/>
                  <a:gd name="T29" fmla="*/ 97873 h 65"/>
                  <a:gd name="T30" fmla="*/ 68905 w 37"/>
                  <a:gd name="T31" fmla="*/ 97873 h 65"/>
                  <a:gd name="T32" fmla="*/ 92191 w 37"/>
                  <a:gd name="T33" fmla="*/ 64783 h 65"/>
                  <a:gd name="T34" fmla="*/ 68905 w 37"/>
                  <a:gd name="T35" fmla="*/ 26950 h 65"/>
                  <a:gd name="T36" fmla="*/ 47046 w 37"/>
                  <a:gd name="T37" fmla="*/ 26950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7" h="65">
                    <a:moveTo>
                      <a:pt x="12" y="37"/>
                    </a:moveTo>
                    <a:cubicBezTo>
                      <a:pt x="12" y="65"/>
                      <a:pt x="12" y="65"/>
                      <a:pt x="12" y="65"/>
                    </a:cubicBezTo>
                    <a:cubicBezTo>
                      <a:pt x="0" y="65"/>
                      <a:pt x="0" y="65"/>
                      <a:pt x="0" y="65"/>
                    </a:cubicBezTo>
                    <a:cubicBezTo>
                      <a:pt x="0" y="0"/>
                      <a:pt x="0" y="0"/>
                      <a:pt x="0" y="0"/>
                    </a:cubicBezTo>
                    <a:cubicBezTo>
                      <a:pt x="23" y="0"/>
                      <a:pt x="23" y="0"/>
                      <a:pt x="23" y="0"/>
                    </a:cubicBezTo>
                    <a:cubicBezTo>
                      <a:pt x="31" y="0"/>
                      <a:pt x="36" y="6"/>
                      <a:pt x="36" y="17"/>
                    </a:cubicBezTo>
                    <a:cubicBezTo>
                      <a:pt x="36" y="25"/>
                      <a:pt x="33" y="32"/>
                      <a:pt x="25" y="33"/>
                    </a:cubicBezTo>
                    <a:cubicBezTo>
                      <a:pt x="28" y="33"/>
                      <a:pt x="36" y="34"/>
                      <a:pt x="36" y="46"/>
                    </a:cubicBezTo>
                    <a:cubicBezTo>
                      <a:pt x="36" y="50"/>
                      <a:pt x="36" y="62"/>
                      <a:pt x="37" y="65"/>
                    </a:cubicBezTo>
                    <a:cubicBezTo>
                      <a:pt x="25" y="65"/>
                      <a:pt x="25" y="65"/>
                      <a:pt x="25" y="65"/>
                    </a:cubicBezTo>
                    <a:cubicBezTo>
                      <a:pt x="24" y="61"/>
                      <a:pt x="24" y="57"/>
                      <a:pt x="24" y="52"/>
                    </a:cubicBezTo>
                    <a:cubicBezTo>
                      <a:pt x="24" y="45"/>
                      <a:pt x="25" y="37"/>
                      <a:pt x="15" y="37"/>
                    </a:cubicBezTo>
                    <a:cubicBezTo>
                      <a:pt x="12" y="37"/>
                      <a:pt x="12" y="37"/>
                      <a:pt x="12" y="37"/>
                    </a:cubicBezTo>
                    <a:moveTo>
                      <a:pt x="12" y="8"/>
                    </a:moveTo>
                    <a:cubicBezTo>
                      <a:pt x="12" y="29"/>
                      <a:pt x="12" y="29"/>
                      <a:pt x="12" y="29"/>
                    </a:cubicBezTo>
                    <a:cubicBezTo>
                      <a:pt x="18" y="29"/>
                      <a:pt x="18" y="29"/>
                      <a:pt x="18" y="29"/>
                    </a:cubicBezTo>
                    <a:cubicBezTo>
                      <a:pt x="23" y="29"/>
                      <a:pt x="24" y="23"/>
                      <a:pt x="24" y="19"/>
                    </a:cubicBezTo>
                    <a:cubicBezTo>
                      <a:pt x="24" y="12"/>
                      <a:pt x="22" y="8"/>
                      <a:pt x="18" y="8"/>
                    </a:cubicBezTo>
                    <a:lnTo>
                      <a:pt x="12" y="8"/>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29" name="Freeform 30"/>
              <p:cNvSpPr>
                <a:spLocks noChangeAspect="1" noEditPoints="1"/>
              </p:cNvSpPr>
              <p:nvPr/>
            </p:nvSpPr>
            <p:spPr bwMode="auto">
              <a:xfrm>
                <a:off x="9491" y="1081"/>
                <a:ext cx="56" cy="78"/>
              </a:xfrm>
              <a:custGeom>
                <a:avLst/>
                <a:gdLst>
                  <a:gd name="T0" fmla="*/ 151236 w 33"/>
                  <a:gd name="T1" fmla="*/ 49474 h 47"/>
                  <a:gd name="T2" fmla="*/ 75296 w 33"/>
                  <a:gd name="T3" fmla="*/ 0 h 47"/>
                  <a:gd name="T4" fmla="*/ 23601 w 33"/>
                  <a:gd name="T5" fmla="*/ 9672 h 47"/>
                  <a:gd name="T6" fmla="*/ 4830 w 33"/>
                  <a:gd name="T7" fmla="*/ 45869 h 47"/>
                  <a:gd name="T8" fmla="*/ 55924 w 33"/>
                  <a:gd name="T9" fmla="*/ 45869 h 47"/>
                  <a:gd name="T10" fmla="*/ 75296 w 33"/>
                  <a:gd name="T11" fmla="*/ 16051 h 47"/>
                  <a:gd name="T12" fmla="*/ 100349 w 33"/>
                  <a:gd name="T13" fmla="*/ 44208 h 47"/>
                  <a:gd name="T14" fmla="*/ 100349 w 33"/>
                  <a:gd name="T15" fmla="*/ 55028 h 47"/>
                  <a:gd name="T16" fmla="*/ 0 w 33"/>
                  <a:gd name="T17" fmla="*/ 105703 h 47"/>
                  <a:gd name="T18" fmla="*/ 52518 w 33"/>
                  <a:gd name="T19" fmla="*/ 154765 h 47"/>
                  <a:gd name="T20" fmla="*/ 100349 w 33"/>
                  <a:gd name="T21" fmla="*/ 132784 h 47"/>
                  <a:gd name="T22" fmla="*/ 100349 w 33"/>
                  <a:gd name="T23" fmla="*/ 132784 h 47"/>
                  <a:gd name="T24" fmla="*/ 103785 w 33"/>
                  <a:gd name="T25" fmla="*/ 151557 h 47"/>
                  <a:gd name="T26" fmla="*/ 155697 w 33"/>
                  <a:gd name="T27" fmla="*/ 151557 h 47"/>
                  <a:gd name="T28" fmla="*/ 151236 w 33"/>
                  <a:gd name="T29" fmla="*/ 121756 h 47"/>
                  <a:gd name="T30" fmla="*/ 151236 w 33"/>
                  <a:gd name="T31" fmla="*/ 49474 h 47"/>
                  <a:gd name="T32" fmla="*/ 100349 w 33"/>
                  <a:gd name="T33" fmla="*/ 73366 h 47"/>
                  <a:gd name="T34" fmla="*/ 68488 w 33"/>
                  <a:gd name="T35" fmla="*/ 129706 h 47"/>
                  <a:gd name="T36" fmla="*/ 52518 w 33"/>
                  <a:gd name="T37" fmla="*/ 105703 h 47"/>
                  <a:gd name="T38" fmla="*/ 100349 w 33"/>
                  <a:gd name="T39" fmla="*/ 73366 h 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3" h="47">
                    <a:moveTo>
                      <a:pt x="32" y="15"/>
                    </a:moveTo>
                    <a:cubicBezTo>
                      <a:pt x="32" y="7"/>
                      <a:pt x="30" y="0"/>
                      <a:pt x="16" y="0"/>
                    </a:cubicBezTo>
                    <a:cubicBezTo>
                      <a:pt x="11" y="0"/>
                      <a:pt x="8" y="0"/>
                      <a:pt x="5" y="3"/>
                    </a:cubicBezTo>
                    <a:cubicBezTo>
                      <a:pt x="2" y="5"/>
                      <a:pt x="1" y="8"/>
                      <a:pt x="1" y="14"/>
                    </a:cubicBezTo>
                    <a:cubicBezTo>
                      <a:pt x="12" y="14"/>
                      <a:pt x="12" y="14"/>
                      <a:pt x="12" y="14"/>
                    </a:cubicBezTo>
                    <a:cubicBezTo>
                      <a:pt x="12" y="8"/>
                      <a:pt x="12" y="5"/>
                      <a:pt x="16" y="5"/>
                    </a:cubicBezTo>
                    <a:cubicBezTo>
                      <a:pt x="20" y="5"/>
                      <a:pt x="21" y="8"/>
                      <a:pt x="21" y="13"/>
                    </a:cubicBezTo>
                    <a:cubicBezTo>
                      <a:pt x="21" y="17"/>
                      <a:pt x="21" y="17"/>
                      <a:pt x="21" y="17"/>
                    </a:cubicBezTo>
                    <a:cubicBezTo>
                      <a:pt x="10" y="17"/>
                      <a:pt x="0" y="17"/>
                      <a:pt x="0" y="32"/>
                    </a:cubicBezTo>
                    <a:cubicBezTo>
                      <a:pt x="0" y="40"/>
                      <a:pt x="3" y="47"/>
                      <a:pt x="11" y="47"/>
                    </a:cubicBezTo>
                    <a:cubicBezTo>
                      <a:pt x="16" y="47"/>
                      <a:pt x="19" y="44"/>
                      <a:pt x="21" y="40"/>
                    </a:cubicBezTo>
                    <a:cubicBezTo>
                      <a:pt x="21" y="40"/>
                      <a:pt x="21" y="40"/>
                      <a:pt x="21" y="40"/>
                    </a:cubicBezTo>
                    <a:cubicBezTo>
                      <a:pt x="22" y="46"/>
                      <a:pt x="22" y="46"/>
                      <a:pt x="22" y="46"/>
                    </a:cubicBezTo>
                    <a:cubicBezTo>
                      <a:pt x="33" y="46"/>
                      <a:pt x="33" y="46"/>
                      <a:pt x="33" y="46"/>
                    </a:cubicBezTo>
                    <a:cubicBezTo>
                      <a:pt x="32" y="43"/>
                      <a:pt x="32" y="40"/>
                      <a:pt x="32" y="37"/>
                    </a:cubicBezTo>
                    <a:cubicBezTo>
                      <a:pt x="32" y="15"/>
                      <a:pt x="32" y="15"/>
                      <a:pt x="32" y="15"/>
                    </a:cubicBezTo>
                    <a:moveTo>
                      <a:pt x="21" y="22"/>
                    </a:moveTo>
                    <a:cubicBezTo>
                      <a:pt x="21" y="31"/>
                      <a:pt x="22" y="39"/>
                      <a:pt x="15" y="39"/>
                    </a:cubicBezTo>
                    <a:cubicBezTo>
                      <a:pt x="12" y="39"/>
                      <a:pt x="11" y="37"/>
                      <a:pt x="11" y="32"/>
                    </a:cubicBezTo>
                    <a:cubicBezTo>
                      <a:pt x="11" y="24"/>
                      <a:pt x="15" y="22"/>
                      <a:pt x="21" y="22"/>
                    </a:cubicBez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0" name="Freeform 31"/>
              <p:cNvSpPr>
                <a:spLocks noChangeAspect="1" noEditPoints="1"/>
              </p:cNvSpPr>
              <p:nvPr/>
            </p:nvSpPr>
            <p:spPr bwMode="auto">
              <a:xfrm>
                <a:off x="9242" y="1048"/>
                <a:ext cx="67" cy="108"/>
              </a:xfrm>
              <a:custGeom>
                <a:avLst/>
                <a:gdLst>
                  <a:gd name="T0" fmla="*/ 0 w 40"/>
                  <a:gd name="T1" fmla="*/ 218218 h 65"/>
                  <a:gd name="T2" fmla="*/ 73693 w 40"/>
                  <a:gd name="T3" fmla="*/ 218218 h 65"/>
                  <a:gd name="T4" fmla="*/ 149621 w 40"/>
                  <a:gd name="T5" fmla="*/ 107639 h 65"/>
                  <a:gd name="T6" fmla="*/ 77502 w 40"/>
                  <a:gd name="T7" fmla="*/ 0 h 65"/>
                  <a:gd name="T8" fmla="*/ 0 w 40"/>
                  <a:gd name="T9" fmla="*/ 0 h 65"/>
                  <a:gd name="T10" fmla="*/ 0 w 40"/>
                  <a:gd name="T11" fmla="*/ 218218 h 65"/>
                  <a:gd name="T12" fmla="*/ 46270 w 40"/>
                  <a:gd name="T13" fmla="*/ 26950 h 65"/>
                  <a:gd name="T14" fmla="*/ 68735 w 40"/>
                  <a:gd name="T15" fmla="*/ 26950 h 65"/>
                  <a:gd name="T16" fmla="*/ 102706 w 40"/>
                  <a:gd name="T17" fmla="*/ 107639 h 65"/>
                  <a:gd name="T18" fmla="*/ 68735 w 40"/>
                  <a:gd name="T19" fmla="*/ 193435 h 65"/>
                  <a:gd name="T20" fmla="*/ 46270 w 40"/>
                  <a:gd name="T21" fmla="*/ 193435 h 65"/>
                  <a:gd name="T22" fmla="*/ 46270 w 40"/>
                  <a:gd name="T23" fmla="*/ 26950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 h="65">
                    <a:moveTo>
                      <a:pt x="0" y="65"/>
                    </a:moveTo>
                    <a:cubicBezTo>
                      <a:pt x="19" y="65"/>
                      <a:pt x="19" y="65"/>
                      <a:pt x="19" y="65"/>
                    </a:cubicBezTo>
                    <a:cubicBezTo>
                      <a:pt x="40" y="65"/>
                      <a:pt x="39" y="42"/>
                      <a:pt x="39" y="32"/>
                    </a:cubicBezTo>
                    <a:cubicBezTo>
                      <a:pt x="39" y="12"/>
                      <a:pt x="36" y="0"/>
                      <a:pt x="20" y="0"/>
                    </a:cubicBezTo>
                    <a:cubicBezTo>
                      <a:pt x="0" y="0"/>
                      <a:pt x="0" y="0"/>
                      <a:pt x="0" y="0"/>
                    </a:cubicBezTo>
                    <a:cubicBezTo>
                      <a:pt x="0" y="65"/>
                      <a:pt x="0" y="65"/>
                      <a:pt x="0" y="65"/>
                    </a:cubicBezTo>
                    <a:moveTo>
                      <a:pt x="12" y="8"/>
                    </a:moveTo>
                    <a:cubicBezTo>
                      <a:pt x="18" y="8"/>
                      <a:pt x="18" y="8"/>
                      <a:pt x="18" y="8"/>
                    </a:cubicBezTo>
                    <a:cubicBezTo>
                      <a:pt x="27" y="8"/>
                      <a:pt x="27" y="21"/>
                      <a:pt x="27" y="32"/>
                    </a:cubicBezTo>
                    <a:cubicBezTo>
                      <a:pt x="27" y="49"/>
                      <a:pt x="25" y="57"/>
                      <a:pt x="18" y="57"/>
                    </a:cubicBezTo>
                    <a:cubicBezTo>
                      <a:pt x="12" y="57"/>
                      <a:pt x="12" y="57"/>
                      <a:pt x="12" y="57"/>
                    </a:cubicBezTo>
                    <a:lnTo>
                      <a:pt x="12" y="8"/>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1" name="Freeform 32"/>
              <p:cNvSpPr>
                <a:spLocks noChangeAspect="1" noEditPoints="1"/>
              </p:cNvSpPr>
              <p:nvPr/>
            </p:nvSpPr>
            <p:spPr bwMode="auto">
              <a:xfrm>
                <a:off x="9315" y="1081"/>
                <a:ext cx="57" cy="78"/>
              </a:xfrm>
              <a:custGeom>
                <a:avLst/>
                <a:gdLst>
                  <a:gd name="T0" fmla="*/ 199813 w 33"/>
                  <a:gd name="T1" fmla="*/ 49474 h 47"/>
                  <a:gd name="T2" fmla="*/ 100994 w 33"/>
                  <a:gd name="T3" fmla="*/ 0 h 47"/>
                  <a:gd name="T4" fmla="*/ 33851 w 33"/>
                  <a:gd name="T5" fmla="*/ 9672 h 47"/>
                  <a:gd name="T6" fmla="*/ 6569 w 33"/>
                  <a:gd name="T7" fmla="*/ 45869 h 47"/>
                  <a:gd name="T8" fmla="*/ 75684 w 33"/>
                  <a:gd name="T9" fmla="*/ 45869 h 47"/>
                  <a:gd name="T10" fmla="*/ 105010 w 33"/>
                  <a:gd name="T11" fmla="*/ 16051 h 47"/>
                  <a:gd name="T12" fmla="*/ 130727 w 33"/>
                  <a:gd name="T13" fmla="*/ 44208 h 47"/>
                  <a:gd name="T14" fmla="*/ 130727 w 33"/>
                  <a:gd name="T15" fmla="*/ 55028 h 47"/>
                  <a:gd name="T16" fmla="*/ 0 w 33"/>
                  <a:gd name="T17" fmla="*/ 105703 h 47"/>
                  <a:gd name="T18" fmla="*/ 68980 w 33"/>
                  <a:gd name="T19" fmla="*/ 154765 h 47"/>
                  <a:gd name="T20" fmla="*/ 138705 w 33"/>
                  <a:gd name="T21" fmla="*/ 132784 h 47"/>
                  <a:gd name="T22" fmla="*/ 138705 w 33"/>
                  <a:gd name="T23" fmla="*/ 132784 h 47"/>
                  <a:gd name="T24" fmla="*/ 138705 w 33"/>
                  <a:gd name="T25" fmla="*/ 151557 h 47"/>
                  <a:gd name="T26" fmla="*/ 205799 w 33"/>
                  <a:gd name="T27" fmla="*/ 151557 h 47"/>
                  <a:gd name="T28" fmla="*/ 199813 w 33"/>
                  <a:gd name="T29" fmla="*/ 121756 h 47"/>
                  <a:gd name="T30" fmla="*/ 199813 w 33"/>
                  <a:gd name="T31" fmla="*/ 49474 h 47"/>
                  <a:gd name="T32" fmla="*/ 130727 w 33"/>
                  <a:gd name="T33" fmla="*/ 73366 h 47"/>
                  <a:gd name="T34" fmla="*/ 100994 w 33"/>
                  <a:gd name="T35" fmla="*/ 129706 h 47"/>
                  <a:gd name="T36" fmla="*/ 68980 w 33"/>
                  <a:gd name="T37" fmla="*/ 105703 h 47"/>
                  <a:gd name="T38" fmla="*/ 130727 w 33"/>
                  <a:gd name="T39" fmla="*/ 73366 h 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3" h="47">
                    <a:moveTo>
                      <a:pt x="32" y="15"/>
                    </a:moveTo>
                    <a:cubicBezTo>
                      <a:pt x="32" y="7"/>
                      <a:pt x="30" y="0"/>
                      <a:pt x="16" y="0"/>
                    </a:cubicBezTo>
                    <a:cubicBezTo>
                      <a:pt x="12" y="0"/>
                      <a:pt x="8" y="0"/>
                      <a:pt x="5" y="3"/>
                    </a:cubicBezTo>
                    <a:cubicBezTo>
                      <a:pt x="3" y="5"/>
                      <a:pt x="1" y="8"/>
                      <a:pt x="1" y="14"/>
                    </a:cubicBezTo>
                    <a:cubicBezTo>
                      <a:pt x="12" y="14"/>
                      <a:pt x="12" y="14"/>
                      <a:pt x="12" y="14"/>
                    </a:cubicBezTo>
                    <a:cubicBezTo>
                      <a:pt x="12" y="8"/>
                      <a:pt x="13" y="5"/>
                      <a:pt x="17" y="5"/>
                    </a:cubicBezTo>
                    <a:cubicBezTo>
                      <a:pt x="21" y="5"/>
                      <a:pt x="21" y="8"/>
                      <a:pt x="21" y="13"/>
                    </a:cubicBezTo>
                    <a:cubicBezTo>
                      <a:pt x="21" y="17"/>
                      <a:pt x="21" y="17"/>
                      <a:pt x="21" y="17"/>
                    </a:cubicBezTo>
                    <a:cubicBezTo>
                      <a:pt x="11" y="17"/>
                      <a:pt x="0" y="17"/>
                      <a:pt x="0" y="32"/>
                    </a:cubicBezTo>
                    <a:cubicBezTo>
                      <a:pt x="0" y="40"/>
                      <a:pt x="3" y="47"/>
                      <a:pt x="11" y="47"/>
                    </a:cubicBezTo>
                    <a:cubicBezTo>
                      <a:pt x="16" y="47"/>
                      <a:pt x="19" y="44"/>
                      <a:pt x="22" y="40"/>
                    </a:cubicBezTo>
                    <a:cubicBezTo>
                      <a:pt x="22" y="40"/>
                      <a:pt x="22" y="40"/>
                      <a:pt x="22" y="40"/>
                    </a:cubicBezTo>
                    <a:cubicBezTo>
                      <a:pt x="22" y="46"/>
                      <a:pt x="22" y="46"/>
                      <a:pt x="22" y="46"/>
                    </a:cubicBezTo>
                    <a:cubicBezTo>
                      <a:pt x="33" y="46"/>
                      <a:pt x="33" y="46"/>
                      <a:pt x="33" y="46"/>
                    </a:cubicBezTo>
                    <a:cubicBezTo>
                      <a:pt x="33" y="43"/>
                      <a:pt x="32" y="40"/>
                      <a:pt x="32" y="37"/>
                    </a:cubicBezTo>
                    <a:cubicBezTo>
                      <a:pt x="32" y="15"/>
                      <a:pt x="32" y="15"/>
                      <a:pt x="32" y="15"/>
                    </a:cubicBezTo>
                    <a:moveTo>
                      <a:pt x="21" y="22"/>
                    </a:moveTo>
                    <a:cubicBezTo>
                      <a:pt x="21" y="31"/>
                      <a:pt x="22" y="39"/>
                      <a:pt x="16" y="39"/>
                    </a:cubicBezTo>
                    <a:cubicBezTo>
                      <a:pt x="13" y="39"/>
                      <a:pt x="11" y="37"/>
                      <a:pt x="11" y="32"/>
                    </a:cubicBezTo>
                    <a:cubicBezTo>
                      <a:pt x="11" y="24"/>
                      <a:pt x="15" y="22"/>
                      <a:pt x="21" y="22"/>
                    </a:cubicBez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2" name="Freeform 33"/>
              <p:cNvSpPr>
                <a:spLocks noChangeAspect="1" noEditPoints="1"/>
              </p:cNvSpPr>
              <p:nvPr/>
            </p:nvSpPr>
            <p:spPr bwMode="auto">
              <a:xfrm>
                <a:off x="9380" y="1048"/>
                <a:ext cx="19" cy="108"/>
              </a:xfrm>
              <a:custGeom>
                <a:avLst/>
                <a:gdLst>
                  <a:gd name="T0" fmla="*/ 0 w 26"/>
                  <a:gd name="T1" fmla="*/ 1 h 154"/>
                  <a:gd name="T2" fmla="*/ 1 w 26"/>
                  <a:gd name="T3" fmla="*/ 1 h 154"/>
                  <a:gd name="T4" fmla="*/ 1 w 26"/>
                  <a:gd name="T5" fmla="*/ 0 h 154"/>
                  <a:gd name="T6" fmla="*/ 0 w 26"/>
                  <a:gd name="T7" fmla="*/ 0 h 154"/>
                  <a:gd name="T8" fmla="*/ 0 w 26"/>
                  <a:gd name="T9" fmla="*/ 1 h 154"/>
                  <a:gd name="T10" fmla="*/ 0 w 26"/>
                  <a:gd name="T11" fmla="*/ 1 h 154"/>
                  <a:gd name="T12" fmla="*/ 1 w 26"/>
                  <a:gd name="T13" fmla="*/ 1 h 154"/>
                  <a:gd name="T14" fmla="*/ 1 w 26"/>
                  <a:gd name="T15" fmla="*/ 1 h 154"/>
                  <a:gd name="T16" fmla="*/ 0 w 26"/>
                  <a:gd name="T17" fmla="*/ 1 h 154"/>
                  <a:gd name="T18" fmla="*/ 0 w 26"/>
                  <a:gd name="T19" fmla="*/ 1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154">
                    <a:moveTo>
                      <a:pt x="0" y="24"/>
                    </a:moveTo>
                    <a:lnTo>
                      <a:pt x="26" y="24"/>
                    </a:lnTo>
                    <a:lnTo>
                      <a:pt x="26" y="0"/>
                    </a:lnTo>
                    <a:lnTo>
                      <a:pt x="0" y="0"/>
                    </a:lnTo>
                    <a:lnTo>
                      <a:pt x="0" y="24"/>
                    </a:lnTo>
                    <a:close/>
                    <a:moveTo>
                      <a:pt x="0" y="154"/>
                    </a:moveTo>
                    <a:lnTo>
                      <a:pt x="26" y="154"/>
                    </a:lnTo>
                    <a:lnTo>
                      <a:pt x="26" y="48"/>
                    </a:lnTo>
                    <a:lnTo>
                      <a:pt x="0" y="48"/>
                    </a:lnTo>
                    <a:lnTo>
                      <a:pt x="0" y="154"/>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3" name="Freeform 34"/>
              <p:cNvSpPr>
                <a:spLocks noChangeAspect="1" noEditPoints="1"/>
              </p:cNvSpPr>
              <p:nvPr/>
            </p:nvSpPr>
            <p:spPr bwMode="auto">
              <a:xfrm>
                <a:off x="9788" y="1048"/>
                <a:ext cx="22" cy="108"/>
              </a:xfrm>
              <a:custGeom>
                <a:avLst/>
                <a:gdLst>
                  <a:gd name="T0" fmla="*/ 0 w 28"/>
                  <a:gd name="T1" fmla="*/ 1 h 154"/>
                  <a:gd name="T2" fmla="*/ 2 w 28"/>
                  <a:gd name="T3" fmla="*/ 1 h 154"/>
                  <a:gd name="T4" fmla="*/ 2 w 28"/>
                  <a:gd name="T5" fmla="*/ 0 h 154"/>
                  <a:gd name="T6" fmla="*/ 0 w 28"/>
                  <a:gd name="T7" fmla="*/ 0 h 154"/>
                  <a:gd name="T8" fmla="*/ 0 w 28"/>
                  <a:gd name="T9" fmla="*/ 1 h 154"/>
                  <a:gd name="T10" fmla="*/ 0 w 28"/>
                  <a:gd name="T11" fmla="*/ 1 h 154"/>
                  <a:gd name="T12" fmla="*/ 2 w 28"/>
                  <a:gd name="T13" fmla="*/ 1 h 154"/>
                  <a:gd name="T14" fmla="*/ 2 w 28"/>
                  <a:gd name="T15" fmla="*/ 1 h 154"/>
                  <a:gd name="T16" fmla="*/ 0 w 28"/>
                  <a:gd name="T17" fmla="*/ 1 h 154"/>
                  <a:gd name="T18" fmla="*/ 0 w 28"/>
                  <a:gd name="T19" fmla="*/ 1 h 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 h="154">
                    <a:moveTo>
                      <a:pt x="0" y="24"/>
                    </a:moveTo>
                    <a:lnTo>
                      <a:pt x="28" y="24"/>
                    </a:lnTo>
                    <a:lnTo>
                      <a:pt x="28" y="0"/>
                    </a:lnTo>
                    <a:lnTo>
                      <a:pt x="0" y="0"/>
                    </a:lnTo>
                    <a:lnTo>
                      <a:pt x="0" y="24"/>
                    </a:lnTo>
                    <a:close/>
                    <a:moveTo>
                      <a:pt x="0" y="154"/>
                    </a:moveTo>
                    <a:lnTo>
                      <a:pt x="28" y="154"/>
                    </a:lnTo>
                    <a:lnTo>
                      <a:pt x="28" y="48"/>
                    </a:lnTo>
                    <a:lnTo>
                      <a:pt x="0" y="48"/>
                    </a:lnTo>
                    <a:lnTo>
                      <a:pt x="0" y="154"/>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4" name="Freeform 35"/>
              <p:cNvSpPr>
                <a:spLocks noChangeAspect="1" noEditPoints="1"/>
              </p:cNvSpPr>
              <p:nvPr/>
            </p:nvSpPr>
            <p:spPr bwMode="auto">
              <a:xfrm>
                <a:off x="10445" y="1081"/>
                <a:ext cx="54" cy="78"/>
              </a:xfrm>
              <a:custGeom>
                <a:avLst/>
                <a:gdLst>
                  <a:gd name="T0" fmla="*/ 138689 w 32"/>
                  <a:gd name="T1" fmla="*/ 49474 h 47"/>
                  <a:gd name="T2" fmla="*/ 70499 w 32"/>
                  <a:gd name="T3" fmla="*/ 0 h 47"/>
                  <a:gd name="T4" fmla="*/ 21774 w 32"/>
                  <a:gd name="T5" fmla="*/ 9672 h 47"/>
                  <a:gd name="T6" fmla="*/ 4531 w 32"/>
                  <a:gd name="T7" fmla="*/ 45869 h 47"/>
                  <a:gd name="T8" fmla="*/ 51179 w 32"/>
                  <a:gd name="T9" fmla="*/ 45869 h 47"/>
                  <a:gd name="T10" fmla="*/ 70499 w 32"/>
                  <a:gd name="T11" fmla="*/ 16051 h 47"/>
                  <a:gd name="T12" fmla="*/ 90111 w 32"/>
                  <a:gd name="T13" fmla="*/ 44208 h 47"/>
                  <a:gd name="T14" fmla="*/ 90111 w 32"/>
                  <a:gd name="T15" fmla="*/ 55028 h 47"/>
                  <a:gd name="T16" fmla="*/ 0 w 32"/>
                  <a:gd name="T17" fmla="*/ 105703 h 47"/>
                  <a:gd name="T18" fmla="*/ 48703 w 32"/>
                  <a:gd name="T19" fmla="*/ 154765 h 47"/>
                  <a:gd name="T20" fmla="*/ 90111 w 32"/>
                  <a:gd name="T21" fmla="*/ 132784 h 47"/>
                  <a:gd name="T22" fmla="*/ 90111 w 32"/>
                  <a:gd name="T23" fmla="*/ 132784 h 47"/>
                  <a:gd name="T24" fmla="*/ 94584 w 32"/>
                  <a:gd name="T25" fmla="*/ 151557 h 47"/>
                  <a:gd name="T26" fmla="*/ 138689 w 32"/>
                  <a:gd name="T27" fmla="*/ 151557 h 47"/>
                  <a:gd name="T28" fmla="*/ 138689 w 32"/>
                  <a:gd name="T29" fmla="*/ 121756 h 47"/>
                  <a:gd name="T30" fmla="*/ 138689 w 32"/>
                  <a:gd name="T31" fmla="*/ 49474 h 47"/>
                  <a:gd name="T32" fmla="*/ 90111 w 32"/>
                  <a:gd name="T33" fmla="*/ 73366 h 47"/>
                  <a:gd name="T34" fmla="*/ 64263 w 32"/>
                  <a:gd name="T35" fmla="*/ 129706 h 47"/>
                  <a:gd name="T36" fmla="*/ 48703 w 32"/>
                  <a:gd name="T37" fmla="*/ 105703 h 47"/>
                  <a:gd name="T38" fmla="*/ 90111 w 32"/>
                  <a:gd name="T39" fmla="*/ 73366 h 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2" h="47">
                    <a:moveTo>
                      <a:pt x="32" y="15"/>
                    </a:moveTo>
                    <a:cubicBezTo>
                      <a:pt x="32" y="7"/>
                      <a:pt x="30" y="0"/>
                      <a:pt x="16" y="0"/>
                    </a:cubicBezTo>
                    <a:cubicBezTo>
                      <a:pt x="11" y="0"/>
                      <a:pt x="8" y="0"/>
                      <a:pt x="5" y="3"/>
                    </a:cubicBezTo>
                    <a:cubicBezTo>
                      <a:pt x="2" y="5"/>
                      <a:pt x="1" y="8"/>
                      <a:pt x="1" y="14"/>
                    </a:cubicBezTo>
                    <a:cubicBezTo>
                      <a:pt x="12" y="14"/>
                      <a:pt x="12" y="14"/>
                      <a:pt x="12" y="14"/>
                    </a:cubicBezTo>
                    <a:cubicBezTo>
                      <a:pt x="12" y="8"/>
                      <a:pt x="12" y="5"/>
                      <a:pt x="16" y="5"/>
                    </a:cubicBezTo>
                    <a:cubicBezTo>
                      <a:pt x="20" y="5"/>
                      <a:pt x="21" y="8"/>
                      <a:pt x="21" y="13"/>
                    </a:cubicBezTo>
                    <a:cubicBezTo>
                      <a:pt x="21" y="17"/>
                      <a:pt x="21" y="17"/>
                      <a:pt x="21" y="17"/>
                    </a:cubicBezTo>
                    <a:cubicBezTo>
                      <a:pt x="10" y="17"/>
                      <a:pt x="0" y="17"/>
                      <a:pt x="0" y="32"/>
                    </a:cubicBezTo>
                    <a:cubicBezTo>
                      <a:pt x="0" y="40"/>
                      <a:pt x="3" y="47"/>
                      <a:pt x="11" y="47"/>
                    </a:cubicBezTo>
                    <a:cubicBezTo>
                      <a:pt x="16" y="47"/>
                      <a:pt x="19" y="44"/>
                      <a:pt x="21" y="40"/>
                    </a:cubicBezTo>
                    <a:cubicBezTo>
                      <a:pt x="21" y="40"/>
                      <a:pt x="21" y="40"/>
                      <a:pt x="21" y="40"/>
                    </a:cubicBezTo>
                    <a:cubicBezTo>
                      <a:pt x="22" y="46"/>
                      <a:pt x="22" y="46"/>
                      <a:pt x="22" y="46"/>
                    </a:cubicBezTo>
                    <a:cubicBezTo>
                      <a:pt x="32" y="46"/>
                      <a:pt x="32" y="46"/>
                      <a:pt x="32" y="46"/>
                    </a:cubicBezTo>
                    <a:cubicBezTo>
                      <a:pt x="32" y="43"/>
                      <a:pt x="32" y="40"/>
                      <a:pt x="32" y="37"/>
                    </a:cubicBezTo>
                    <a:cubicBezTo>
                      <a:pt x="32" y="15"/>
                      <a:pt x="32" y="15"/>
                      <a:pt x="32" y="15"/>
                    </a:cubicBezTo>
                    <a:moveTo>
                      <a:pt x="21" y="22"/>
                    </a:moveTo>
                    <a:cubicBezTo>
                      <a:pt x="21" y="31"/>
                      <a:pt x="22" y="39"/>
                      <a:pt x="15" y="39"/>
                    </a:cubicBezTo>
                    <a:cubicBezTo>
                      <a:pt x="12" y="39"/>
                      <a:pt x="11" y="37"/>
                      <a:pt x="11" y="32"/>
                    </a:cubicBezTo>
                    <a:cubicBezTo>
                      <a:pt x="11" y="24"/>
                      <a:pt x="15" y="22"/>
                      <a:pt x="21" y="22"/>
                    </a:cubicBez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5" name="Freeform 36"/>
              <p:cNvSpPr>
                <a:spLocks noChangeAspect="1" noEditPoints="1"/>
              </p:cNvSpPr>
              <p:nvPr/>
            </p:nvSpPr>
            <p:spPr bwMode="auto">
              <a:xfrm>
                <a:off x="10261" y="1081"/>
                <a:ext cx="60" cy="78"/>
              </a:xfrm>
              <a:custGeom>
                <a:avLst/>
                <a:gdLst>
                  <a:gd name="T0" fmla="*/ 290005 w 34"/>
                  <a:gd name="T1" fmla="*/ 82106 h 47"/>
                  <a:gd name="T2" fmla="*/ 138628 w 34"/>
                  <a:gd name="T3" fmla="*/ 0 h 47"/>
                  <a:gd name="T4" fmla="*/ 0 w 34"/>
                  <a:gd name="T5" fmla="*/ 76123 h 47"/>
                  <a:gd name="T6" fmla="*/ 138628 w 34"/>
                  <a:gd name="T7" fmla="*/ 154765 h 47"/>
                  <a:gd name="T8" fmla="*/ 256281 w 34"/>
                  <a:gd name="T9" fmla="*/ 139582 h 47"/>
                  <a:gd name="T10" fmla="*/ 290005 w 34"/>
                  <a:gd name="T11" fmla="*/ 102079 h 47"/>
                  <a:gd name="T12" fmla="*/ 196050 w 34"/>
                  <a:gd name="T13" fmla="*/ 102079 h 47"/>
                  <a:gd name="T14" fmla="*/ 151313 w 34"/>
                  <a:gd name="T15" fmla="*/ 136261 h 47"/>
                  <a:gd name="T16" fmla="*/ 96589 w 34"/>
                  <a:gd name="T17" fmla="*/ 82106 h 47"/>
                  <a:gd name="T18" fmla="*/ 290005 w 34"/>
                  <a:gd name="T19" fmla="*/ 82106 h 47"/>
                  <a:gd name="T20" fmla="*/ 96589 w 34"/>
                  <a:gd name="T21" fmla="*/ 63693 h 47"/>
                  <a:gd name="T22" fmla="*/ 138628 w 34"/>
                  <a:gd name="T23" fmla="*/ 16051 h 47"/>
                  <a:gd name="T24" fmla="*/ 196050 w 34"/>
                  <a:gd name="T25" fmla="*/ 63693 h 47"/>
                  <a:gd name="T26" fmla="*/ 96589 w 34"/>
                  <a:gd name="T27" fmla="*/ 63693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 h="47">
                    <a:moveTo>
                      <a:pt x="33" y="25"/>
                    </a:moveTo>
                    <a:cubicBezTo>
                      <a:pt x="34" y="10"/>
                      <a:pt x="32" y="0"/>
                      <a:pt x="16" y="0"/>
                    </a:cubicBezTo>
                    <a:cubicBezTo>
                      <a:pt x="1" y="0"/>
                      <a:pt x="0" y="10"/>
                      <a:pt x="0" y="23"/>
                    </a:cubicBezTo>
                    <a:cubicBezTo>
                      <a:pt x="0" y="37"/>
                      <a:pt x="2" y="47"/>
                      <a:pt x="16" y="47"/>
                    </a:cubicBezTo>
                    <a:cubicBezTo>
                      <a:pt x="22" y="47"/>
                      <a:pt x="26" y="45"/>
                      <a:pt x="29" y="42"/>
                    </a:cubicBezTo>
                    <a:cubicBezTo>
                      <a:pt x="31" y="40"/>
                      <a:pt x="33" y="36"/>
                      <a:pt x="33" y="31"/>
                    </a:cubicBezTo>
                    <a:cubicBezTo>
                      <a:pt x="22" y="31"/>
                      <a:pt x="22" y="31"/>
                      <a:pt x="22" y="31"/>
                    </a:cubicBezTo>
                    <a:cubicBezTo>
                      <a:pt x="22" y="37"/>
                      <a:pt x="21" y="41"/>
                      <a:pt x="17" y="41"/>
                    </a:cubicBezTo>
                    <a:cubicBezTo>
                      <a:pt x="12" y="41"/>
                      <a:pt x="11" y="38"/>
                      <a:pt x="11" y="25"/>
                    </a:cubicBezTo>
                    <a:cubicBezTo>
                      <a:pt x="33" y="25"/>
                      <a:pt x="33" y="25"/>
                      <a:pt x="33" y="25"/>
                    </a:cubicBezTo>
                    <a:moveTo>
                      <a:pt x="11" y="19"/>
                    </a:moveTo>
                    <a:cubicBezTo>
                      <a:pt x="11" y="11"/>
                      <a:pt x="11" y="5"/>
                      <a:pt x="16" y="5"/>
                    </a:cubicBezTo>
                    <a:cubicBezTo>
                      <a:pt x="22" y="5"/>
                      <a:pt x="22" y="12"/>
                      <a:pt x="22" y="19"/>
                    </a:cubicBezTo>
                    <a:lnTo>
                      <a:pt x="11"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6" name="Freeform 37"/>
              <p:cNvSpPr>
                <a:spLocks noChangeAspect="1" noEditPoints="1"/>
              </p:cNvSpPr>
              <p:nvPr/>
            </p:nvSpPr>
            <p:spPr bwMode="auto">
              <a:xfrm>
                <a:off x="9966" y="1081"/>
                <a:ext cx="57" cy="78"/>
              </a:xfrm>
              <a:custGeom>
                <a:avLst/>
                <a:gdLst>
                  <a:gd name="T0" fmla="*/ 127304 w 34"/>
                  <a:gd name="T1" fmla="*/ 82106 h 47"/>
                  <a:gd name="T2" fmla="*/ 67714 w 34"/>
                  <a:gd name="T3" fmla="*/ 0 h 47"/>
                  <a:gd name="T4" fmla="*/ 0 w 34"/>
                  <a:gd name="T5" fmla="*/ 76123 h 47"/>
                  <a:gd name="T6" fmla="*/ 67714 w 34"/>
                  <a:gd name="T7" fmla="*/ 154765 h 47"/>
                  <a:gd name="T8" fmla="*/ 113521 w 34"/>
                  <a:gd name="T9" fmla="*/ 139582 h 47"/>
                  <a:gd name="T10" fmla="*/ 127304 w 34"/>
                  <a:gd name="T11" fmla="*/ 102079 h 47"/>
                  <a:gd name="T12" fmla="*/ 85882 w 34"/>
                  <a:gd name="T13" fmla="*/ 102079 h 47"/>
                  <a:gd name="T14" fmla="*/ 67714 w 34"/>
                  <a:gd name="T15" fmla="*/ 136261 h 47"/>
                  <a:gd name="T16" fmla="*/ 47330 w 34"/>
                  <a:gd name="T17" fmla="*/ 82106 h 47"/>
                  <a:gd name="T18" fmla="*/ 127304 w 34"/>
                  <a:gd name="T19" fmla="*/ 82106 h 47"/>
                  <a:gd name="T20" fmla="*/ 47330 w 34"/>
                  <a:gd name="T21" fmla="*/ 63693 h 47"/>
                  <a:gd name="T22" fmla="*/ 67714 w 34"/>
                  <a:gd name="T23" fmla="*/ 16051 h 47"/>
                  <a:gd name="T24" fmla="*/ 85882 w 34"/>
                  <a:gd name="T25" fmla="*/ 63693 h 47"/>
                  <a:gd name="T26" fmla="*/ 47330 w 34"/>
                  <a:gd name="T27" fmla="*/ 63693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4" h="47">
                    <a:moveTo>
                      <a:pt x="33" y="25"/>
                    </a:moveTo>
                    <a:cubicBezTo>
                      <a:pt x="34" y="10"/>
                      <a:pt x="32" y="0"/>
                      <a:pt x="17" y="0"/>
                    </a:cubicBezTo>
                    <a:cubicBezTo>
                      <a:pt x="2" y="0"/>
                      <a:pt x="0" y="10"/>
                      <a:pt x="0" y="23"/>
                    </a:cubicBezTo>
                    <a:cubicBezTo>
                      <a:pt x="0" y="37"/>
                      <a:pt x="2" y="47"/>
                      <a:pt x="17" y="47"/>
                    </a:cubicBezTo>
                    <a:cubicBezTo>
                      <a:pt x="22" y="47"/>
                      <a:pt x="26" y="45"/>
                      <a:pt x="29" y="42"/>
                    </a:cubicBezTo>
                    <a:cubicBezTo>
                      <a:pt x="32" y="40"/>
                      <a:pt x="33" y="36"/>
                      <a:pt x="33" y="31"/>
                    </a:cubicBezTo>
                    <a:cubicBezTo>
                      <a:pt x="22" y="31"/>
                      <a:pt x="22" y="31"/>
                      <a:pt x="22" y="31"/>
                    </a:cubicBezTo>
                    <a:cubicBezTo>
                      <a:pt x="22" y="37"/>
                      <a:pt x="21" y="41"/>
                      <a:pt x="17" y="41"/>
                    </a:cubicBezTo>
                    <a:cubicBezTo>
                      <a:pt x="13" y="41"/>
                      <a:pt x="12" y="38"/>
                      <a:pt x="12" y="25"/>
                    </a:cubicBezTo>
                    <a:cubicBezTo>
                      <a:pt x="33" y="25"/>
                      <a:pt x="33" y="25"/>
                      <a:pt x="33" y="25"/>
                    </a:cubicBezTo>
                    <a:moveTo>
                      <a:pt x="12" y="19"/>
                    </a:moveTo>
                    <a:cubicBezTo>
                      <a:pt x="12" y="11"/>
                      <a:pt x="12" y="5"/>
                      <a:pt x="17" y="5"/>
                    </a:cubicBezTo>
                    <a:cubicBezTo>
                      <a:pt x="22" y="5"/>
                      <a:pt x="22" y="12"/>
                      <a:pt x="22" y="19"/>
                    </a:cubicBezTo>
                    <a:lnTo>
                      <a:pt x="12"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7" name="Freeform 38"/>
              <p:cNvSpPr>
                <a:spLocks noChangeAspect="1" noEditPoints="1"/>
              </p:cNvSpPr>
              <p:nvPr/>
            </p:nvSpPr>
            <p:spPr bwMode="auto">
              <a:xfrm>
                <a:off x="10383" y="1081"/>
                <a:ext cx="54" cy="78"/>
              </a:xfrm>
              <a:custGeom>
                <a:avLst/>
                <a:gdLst>
                  <a:gd name="T0" fmla="*/ 86984 w 33"/>
                  <a:gd name="T1" fmla="*/ 82106 h 47"/>
                  <a:gd name="T2" fmla="*/ 42410 w 33"/>
                  <a:gd name="T3" fmla="*/ 0 h 47"/>
                  <a:gd name="T4" fmla="*/ 0 w 33"/>
                  <a:gd name="T5" fmla="*/ 76123 h 47"/>
                  <a:gd name="T6" fmla="*/ 42410 w 33"/>
                  <a:gd name="T7" fmla="*/ 154765 h 47"/>
                  <a:gd name="T8" fmla="*/ 74011 w 33"/>
                  <a:gd name="T9" fmla="*/ 139582 h 47"/>
                  <a:gd name="T10" fmla="*/ 86984 w 33"/>
                  <a:gd name="T11" fmla="*/ 102079 h 47"/>
                  <a:gd name="T12" fmla="*/ 58464 w 33"/>
                  <a:gd name="T13" fmla="*/ 102079 h 47"/>
                  <a:gd name="T14" fmla="*/ 42410 w 33"/>
                  <a:gd name="T15" fmla="*/ 136261 h 47"/>
                  <a:gd name="T16" fmla="*/ 28335 w 33"/>
                  <a:gd name="T17" fmla="*/ 82106 h 47"/>
                  <a:gd name="T18" fmla="*/ 86984 w 33"/>
                  <a:gd name="T19" fmla="*/ 82106 h 47"/>
                  <a:gd name="T20" fmla="*/ 28335 w 33"/>
                  <a:gd name="T21" fmla="*/ 63693 h 47"/>
                  <a:gd name="T22" fmla="*/ 42410 w 33"/>
                  <a:gd name="T23" fmla="*/ 16051 h 47"/>
                  <a:gd name="T24" fmla="*/ 55640 w 33"/>
                  <a:gd name="T25" fmla="*/ 63693 h 47"/>
                  <a:gd name="T26" fmla="*/ 28335 w 33"/>
                  <a:gd name="T27" fmla="*/ 63693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3" h="47">
                    <a:moveTo>
                      <a:pt x="33" y="25"/>
                    </a:moveTo>
                    <a:cubicBezTo>
                      <a:pt x="33" y="10"/>
                      <a:pt x="31" y="0"/>
                      <a:pt x="16" y="0"/>
                    </a:cubicBezTo>
                    <a:cubicBezTo>
                      <a:pt x="1" y="0"/>
                      <a:pt x="0" y="10"/>
                      <a:pt x="0" y="23"/>
                    </a:cubicBezTo>
                    <a:cubicBezTo>
                      <a:pt x="0" y="37"/>
                      <a:pt x="1" y="47"/>
                      <a:pt x="16" y="47"/>
                    </a:cubicBezTo>
                    <a:cubicBezTo>
                      <a:pt x="21" y="47"/>
                      <a:pt x="26" y="45"/>
                      <a:pt x="28" y="42"/>
                    </a:cubicBezTo>
                    <a:cubicBezTo>
                      <a:pt x="31" y="40"/>
                      <a:pt x="32" y="36"/>
                      <a:pt x="33" y="31"/>
                    </a:cubicBezTo>
                    <a:cubicBezTo>
                      <a:pt x="22" y="31"/>
                      <a:pt x="22" y="31"/>
                      <a:pt x="22" y="31"/>
                    </a:cubicBezTo>
                    <a:cubicBezTo>
                      <a:pt x="22" y="37"/>
                      <a:pt x="20" y="41"/>
                      <a:pt x="16" y="41"/>
                    </a:cubicBezTo>
                    <a:cubicBezTo>
                      <a:pt x="12" y="41"/>
                      <a:pt x="11" y="38"/>
                      <a:pt x="11" y="25"/>
                    </a:cubicBezTo>
                    <a:cubicBezTo>
                      <a:pt x="33" y="25"/>
                      <a:pt x="33" y="25"/>
                      <a:pt x="33" y="25"/>
                    </a:cubicBezTo>
                    <a:moveTo>
                      <a:pt x="11" y="19"/>
                    </a:moveTo>
                    <a:cubicBezTo>
                      <a:pt x="11" y="11"/>
                      <a:pt x="11" y="5"/>
                      <a:pt x="16" y="5"/>
                    </a:cubicBezTo>
                    <a:cubicBezTo>
                      <a:pt x="22" y="5"/>
                      <a:pt x="21" y="12"/>
                      <a:pt x="21" y="19"/>
                    </a:cubicBezTo>
                    <a:lnTo>
                      <a:pt x="11"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8" name="Freeform 39"/>
              <p:cNvSpPr>
                <a:spLocks noChangeAspect="1"/>
              </p:cNvSpPr>
              <p:nvPr/>
            </p:nvSpPr>
            <p:spPr bwMode="auto">
              <a:xfrm>
                <a:off x="9223" y="701"/>
                <a:ext cx="341" cy="32"/>
              </a:xfrm>
              <a:custGeom>
                <a:avLst/>
                <a:gdLst>
                  <a:gd name="T0" fmla="*/ 0 w 475"/>
                  <a:gd name="T1" fmla="*/ 1 h 45"/>
                  <a:gd name="T2" fmla="*/ 2 w 475"/>
                  <a:gd name="T3" fmla="*/ 1 h 45"/>
                  <a:gd name="T4" fmla="*/ 2 w 475"/>
                  <a:gd name="T5" fmla="*/ 0 h 45"/>
                  <a:gd name="T6" fmla="*/ 2 w 475"/>
                  <a:gd name="T7" fmla="*/ 1 h 45"/>
                  <a:gd name="T8" fmla="*/ 2 w 475"/>
                  <a:gd name="T9" fmla="*/ 1 h 45"/>
                  <a:gd name="T10" fmla="*/ 1 w 475"/>
                  <a:gd name="T11" fmla="*/ 1 h 45"/>
                  <a:gd name="T12" fmla="*/ 0 w 475"/>
                  <a:gd name="T13" fmla="*/ 1 h 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5" h="45">
                    <a:moveTo>
                      <a:pt x="0" y="24"/>
                    </a:moveTo>
                    <a:lnTo>
                      <a:pt x="371" y="24"/>
                    </a:lnTo>
                    <a:lnTo>
                      <a:pt x="385" y="0"/>
                    </a:lnTo>
                    <a:lnTo>
                      <a:pt x="475" y="26"/>
                    </a:lnTo>
                    <a:lnTo>
                      <a:pt x="466" y="45"/>
                    </a:lnTo>
                    <a:lnTo>
                      <a:pt x="5" y="45"/>
                    </a:lnTo>
                    <a:lnTo>
                      <a:pt x="0" y="24"/>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39" name="Freeform 40"/>
              <p:cNvSpPr>
                <a:spLocks noChangeAspect="1"/>
              </p:cNvSpPr>
              <p:nvPr/>
            </p:nvSpPr>
            <p:spPr bwMode="auto">
              <a:xfrm>
                <a:off x="9223" y="701"/>
                <a:ext cx="341" cy="32"/>
              </a:xfrm>
              <a:custGeom>
                <a:avLst/>
                <a:gdLst>
                  <a:gd name="T0" fmla="*/ 0 w 475"/>
                  <a:gd name="T1" fmla="*/ 1 h 45"/>
                  <a:gd name="T2" fmla="*/ 2 w 475"/>
                  <a:gd name="T3" fmla="*/ 1 h 45"/>
                  <a:gd name="T4" fmla="*/ 2 w 475"/>
                  <a:gd name="T5" fmla="*/ 0 h 45"/>
                  <a:gd name="T6" fmla="*/ 2 w 475"/>
                  <a:gd name="T7" fmla="*/ 1 h 45"/>
                  <a:gd name="T8" fmla="*/ 2 w 475"/>
                  <a:gd name="T9" fmla="*/ 1 h 45"/>
                  <a:gd name="T10" fmla="*/ 1 w 475"/>
                  <a:gd name="T11" fmla="*/ 1 h 45"/>
                  <a:gd name="T12" fmla="*/ 0 w 475"/>
                  <a:gd name="T13" fmla="*/ 1 h 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5" h="45">
                    <a:moveTo>
                      <a:pt x="0" y="24"/>
                    </a:moveTo>
                    <a:lnTo>
                      <a:pt x="371" y="24"/>
                    </a:lnTo>
                    <a:lnTo>
                      <a:pt x="385" y="0"/>
                    </a:lnTo>
                    <a:lnTo>
                      <a:pt x="475" y="26"/>
                    </a:lnTo>
                    <a:lnTo>
                      <a:pt x="466" y="45"/>
                    </a:lnTo>
                    <a:lnTo>
                      <a:pt x="5" y="45"/>
                    </a:lnTo>
                    <a:lnTo>
                      <a:pt x="0" y="24"/>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0" name="Freeform 41"/>
              <p:cNvSpPr>
                <a:spLocks noChangeAspect="1"/>
              </p:cNvSpPr>
              <p:nvPr/>
            </p:nvSpPr>
            <p:spPr bwMode="auto">
              <a:xfrm>
                <a:off x="9399" y="728"/>
                <a:ext cx="162" cy="229"/>
              </a:xfrm>
              <a:custGeom>
                <a:avLst/>
                <a:gdLst>
                  <a:gd name="T0" fmla="*/ 29733 w 95"/>
                  <a:gd name="T1" fmla="*/ 0 h 136"/>
                  <a:gd name="T2" fmla="*/ 485509 w 95"/>
                  <a:gd name="T3" fmla="*/ 446122 h 136"/>
                  <a:gd name="T4" fmla="*/ 476512 w 95"/>
                  <a:gd name="T5" fmla="*/ 508025 h 136"/>
                  <a:gd name="T6" fmla="*/ 443348 w 95"/>
                  <a:gd name="T7" fmla="*/ 568334 h 136"/>
                  <a:gd name="T8" fmla="*/ 0 w 95"/>
                  <a:gd name="T9" fmla="*/ 17658 h 136"/>
                  <a:gd name="T10" fmla="*/ 0 w 95"/>
                  <a:gd name="T11" fmla="*/ 0 h 136"/>
                  <a:gd name="T12" fmla="*/ 29733 w 95"/>
                  <a:gd name="T13" fmla="*/ 0 h 1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 h="136">
                    <a:moveTo>
                      <a:pt x="6" y="0"/>
                    </a:moveTo>
                    <a:cubicBezTo>
                      <a:pt x="16" y="52"/>
                      <a:pt x="45" y="87"/>
                      <a:pt x="95" y="107"/>
                    </a:cubicBezTo>
                    <a:cubicBezTo>
                      <a:pt x="95" y="107"/>
                      <a:pt x="95" y="114"/>
                      <a:pt x="93" y="122"/>
                    </a:cubicBezTo>
                    <a:cubicBezTo>
                      <a:pt x="90" y="132"/>
                      <a:pt x="87" y="136"/>
                      <a:pt x="87" y="136"/>
                    </a:cubicBezTo>
                    <a:cubicBezTo>
                      <a:pt x="27" y="117"/>
                      <a:pt x="3" y="61"/>
                      <a:pt x="0" y="4"/>
                    </a:cubicBezTo>
                    <a:cubicBezTo>
                      <a:pt x="0" y="0"/>
                      <a:pt x="0" y="0"/>
                      <a:pt x="0" y="0"/>
                    </a:cubicBezTo>
                    <a:cubicBezTo>
                      <a:pt x="6" y="0"/>
                      <a:pt x="6" y="0"/>
                      <a:pt x="6"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1" name="Freeform 42"/>
              <p:cNvSpPr>
                <a:spLocks noChangeAspect="1"/>
              </p:cNvSpPr>
              <p:nvPr/>
            </p:nvSpPr>
            <p:spPr bwMode="auto">
              <a:xfrm>
                <a:off x="9220" y="617"/>
                <a:ext cx="200" cy="340"/>
              </a:xfrm>
              <a:custGeom>
                <a:avLst/>
                <a:gdLst>
                  <a:gd name="T0" fmla="*/ 0 w 118"/>
                  <a:gd name="T1" fmla="*/ 871371 h 201"/>
                  <a:gd name="T2" fmla="*/ 362134 w 118"/>
                  <a:gd name="T3" fmla="*/ 311142 h 201"/>
                  <a:gd name="T4" fmla="*/ 362134 w 118"/>
                  <a:gd name="T5" fmla="*/ 0 h 201"/>
                  <a:gd name="T6" fmla="*/ 548173 w 118"/>
                  <a:gd name="T7" fmla="*/ 18805 h 201"/>
                  <a:gd name="T8" fmla="*/ 548173 w 118"/>
                  <a:gd name="T9" fmla="*/ 45452 h 201"/>
                  <a:gd name="T10" fmla="*/ 500041 w 118"/>
                  <a:gd name="T11" fmla="*/ 99351 h 201"/>
                  <a:gd name="T12" fmla="*/ 500041 w 118"/>
                  <a:gd name="T13" fmla="*/ 311142 h 201"/>
                  <a:gd name="T14" fmla="*/ 0 w 118"/>
                  <a:gd name="T15" fmla="*/ 903074 h 201"/>
                  <a:gd name="T16" fmla="*/ 0 w 118"/>
                  <a:gd name="T17" fmla="*/ 871371 h 2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8" h="201">
                    <a:moveTo>
                      <a:pt x="0" y="194"/>
                    </a:moveTo>
                    <a:cubicBezTo>
                      <a:pt x="47" y="178"/>
                      <a:pt x="78" y="127"/>
                      <a:pt x="78" y="69"/>
                    </a:cubicBezTo>
                    <a:cubicBezTo>
                      <a:pt x="78" y="0"/>
                      <a:pt x="78" y="0"/>
                      <a:pt x="78" y="0"/>
                    </a:cubicBezTo>
                    <a:cubicBezTo>
                      <a:pt x="118" y="4"/>
                      <a:pt x="118" y="4"/>
                      <a:pt x="118" y="4"/>
                    </a:cubicBezTo>
                    <a:cubicBezTo>
                      <a:pt x="118" y="10"/>
                      <a:pt x="118" y="10"/>
                      <a:pt x="118" y="10"/>
                    </a:cubicBezTo>
                    <a:cubicBezTo>
                      <a:pt x="116" y="10"/>
                      <a:pt x="108" y="12"/>
                      <a:pt x="108" y="22"/>
                    </a:cubicBezTo>
                    <a:cubicBezTo>
                      <a:pt x="108" y="69"/>
                      <a:pt x="108" y="69"/>
                      <a:pt x="108" y="69"/>
                    </a:cubicBezTo>
                    <a:cubicBezTo>
                      <a:pt x="108" y="142"/>
                      <a:pt x="69" y="186"/>
                      <a:pt x="0" y="201"/>
                    </a:cubicBezTo>
                    <a:cubicBezTo>
                      <a:pt x="0" y="194"/>
                      <a:pt x="0" y="194"/>
                      <a:pt x="0" y="19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2" name="Rectangle 43"/>
              <p:cNvSpPr>
                <a:spLocks noChangeAspect="1" noChangeArrowheads="1"/>
              </p:cNvSpPr>
              <p:nvPr/>
            </p:nvSpPr>
            <p:spPr bwMode="auto">
              <a:xfrm>
                <a:off x="9656" y="657"/>
                <a:ext cx="39" cy="297"/>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43" name="Freeform 44"/>
              <p:cNvSpPr>
                <a:spLocks noChangeAspect="1"/>
              </p:cNvSpPr>
              <p:nvPr/>
            </p:nvSpPr>
            <p:spPr bwMode="auto">
              <a:xfrm>
                <a:off x="9593" y="711"/>
                <a:ext cx="168" cy="30"/>
              </a:xfrm>
              <a:custGeom>
                <a:avLst/>
                <a:gdLst>
                  <a:gd name="T0" fmla="*/ 0 w 234"/>
                  <a:gd name="T1" fmla="*/ 2 h 40"/>
                  <a:gd name="T2" fmla="*/ 1 w 234"/>
                  <a:gd name="T3" fmla="*/ 2 h 40"/>
                  <a:gd name="T4" fmla="*/ 1 w 234"/>
                  <a:gd name="T5" fmla="*/ 0 h 40"/>
                  <a:gd name="T6" fmla="*/ 1 w 234"/>
                  <a:gd name="T7" fmla="*/ 2 h 40"/>
                  <a:gd name="T8" fmla="*/ 1 w 234"/>
                  <a:gd name="T9" fmla="*/ 2 h 40"/>
                  <a:gd name="T10" fmla="*/ 1 w 234"/>
                  <a:gd name="T11" fmla="*/ 2 h 40"/>
                  <a:gd name="T12" fmla="*/ 0 w 234"/>
                  <a:gd name="T13" fmla="*/ 2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4" h="40">
                    <a:moveTo>
                      <a:pt x="0" y="16"/>
                    </a:moveTo>
                    <a:lnTo>
                      <a:pt x="158" y="16"/>
                    </a:lnTo>
                    <a:lnTo>
                      <a:pt x="168" y="0"/>
                    </a:lnTo>
                    <a:lnTo>
                      <a:pt x="234" y="21"/>
                    </a:lnTo>
                    <a:lnTo>
                      <a:pt x="225" y="40"/>
                    </a:lnTo>
                    <a:lnTo>
                      <a:pt x="5" y="40"/>
                    </a:lnTo>
                    <a:lnTo>
                      <a:pt x="0" y="16"/>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4" name="Freeform 45"/>
              <p:cNvSpPr>
                <a:spLocks noChangeAspect="1"/>
              </p:cNvSpPr>
              <p:nvPr/>
            </p:nvSpPr>
            <p:spPr bwMode="auto">
              <a:xfrm>
                <a:off x="9593" y="711"/>
                <a:ext cx="168" cy="30"/>
              </a:xfrm>
              <a:custGeom>
                <a:avLst/>
                <a:gdLst>
                  <a:gd name="T0" fmla="*/ 0 w 234"/>
                  <a:gd name="T1" fmla="*/ 2 h 40"/>
                  <a:gd name="T2" fmla="*/ 1 w 234"/>
                  <a:gd name="T3" fmla="*/ 2 h 40"/>
                  <a:gd name="T4" fmla="*/ 1 w 234"/>
                  <a:gd name="T5" fmla="*/ 0 h 40"/>
                  <a:gd name="T6" fmla="*/ 1 w 234"/>
                  <a:gd name="T7" fmla="*/ 2 h 40"/>
                  <a:gd name="T8" fmla="*/ 1 w 234"/>
                  <a:gd name="T9" fmla="*/ 2 h 40"/>
                  <a:gd name="T10" fmla="*/ 1 w 234"/>
                  <a:gd name="T11" fmla="*/ 2 h 40"/>
                  <a:gd name="T12" fmla="*/ 0 w 234"/>
                  <a:gd name="T13" fmla="*/ 2 h 4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4" h="40">
                    <a:moveTo>
                      <a:pt x="0" y="16"/>
                    </a:moveTo>
                    <a:lnTo>
                      <a:pt x="158" y="16"/>
                    </a:lnTo>
                    <a:lnTo>
                      <a:pt x="168" y="0"/>
                    </a:lnTo>
                    <a:lnTo>
                      <a:pt x="234" y="21"/>
                    </a:lnTo>
                    <a:lnTo>
                      <a:pt x="225" y="40"/>
                    </a:lnTo>
                    <a:lnTo>
                      <a:pt x="5" y="40"/>
                    </a:lnTo>
                    <a:lnTo>
                      <a:pt x="0" y="16"/>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5" name="Freeform 46"/>
              <p:cNvSpPr>
                <a:spLocks noChangeAspect="1"/>
              </p:cNvSpPr>
              <p:nvPr/>
            </p:nvSpPr>
            <p:spPr bwMode="auto">
              <a:xfrm>
                <a:off x="9593" y="617"/>
                <a:ext cx="160" cy="54"/>
              </a:xfrm>
              <a:custGeom>
                <a:avLst/>
                <a:gdLst>
                  <a:gd name="T0" fmla="*/ 0 w 93"/>
                  <a:gd name="T1" fmla="*/ 112514 h 32"/>
                  <a:gd name="T2" fmla="*/ 417316 w 93"/>
                  <a:gd name="T3" fmla="*/ 0 h 32"/>
                  <a:gd name="T4" fmla="*/ 547303 w 93"/>
                  <a:gd name="T5" fmla="*/ 77353 h 32"/>
                  <a:gd name="T6" fmla="*/ 522895 w 93"/>
                  <a:gd name="T7" fmla="*/ 94584 h 32"/>
                  <a:gd name="T8" fmla="*/ 441715 w 93"/>
                  <a:gd name="T9" fmla="*/ 94584 h 32"/>
                  <a:gd name="T10" fmla="*/ 0 w 93"/>
                  <a:gd name="T11" fmla="*/ 138689 h 32"/>
                  <a:gd name="T12" fmla="*/ 0 w 93"/>
                  <a:gd name="T13" fmla="*/ 112514 h 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3" h="32">
                    <a:moveTo>
                      <a:pt x="0" y="26"/>
                    </a:moveTo>
                    <a:cubicBezTo>
                      <a:pt x="22" y="22"/>
                      <a:pt x="50" y="12"/>
                      <a:pt x="71" y="0"/>
                    </a:cubicBezTo>
                    <a:cubicBezTo>
                      <a:pt x="93" y="18"/>
                      <a:pt x="93" y="18"/>
                      <a:pt x="93" y="18"/>
                    </a:cubicBezTo>
                    <a:cubicBezTo>
                      <a:pt x="89" y="22"/>
                      <a:pt x="89" y="22"/>
                      <a:pt x="89" y="22"/>
                    </a:cubicBezTo>
                    <a:cubicBezTo>
                      <a:pt x="84" y="19"/>
                      <a:pt x="84" y="19"/>
                      <a:pt x="75" y="22"/>
                    </a:cubicBezTo>
                    <a:cubicBezTo>
                      <a:pt x="60" y="27"/>
                      <a:pt x="28" y="32"/>
                      <a:pt x="0" y="32"/>
                    </a:cubicBezTo>
                    <a:cubicBezTo>
                      <a:pt x="0" y="26"/>
                      <a:pt x="0" y="26"/>
                      <a:pt x="0" y="26"/>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6" name="Freeform 47"/>
              <p:cNvSpPr>
                <a:spLocks noChangeAspect="1"/>
              </p:cNvSpPr>
              <p:nvPr/>
            </p:nvSpPr>
            <p:spPr bwMode="auto">
              <a:xfrm>
                <a:off x="9693" y="755"/>
                <a:ext cx="65" cy="89"/>
              </a:xfrm>
              <a:custGeom>
                <a:avLst/>
                <a:gdLst>
                  <a:gd name="T0" fmla="*/ 203948 w 38"/>
                  <a:gd name="T1" fmla="*/ 211036 h 53"/>
                  <a:gd name="T2" fmla="*/ 0 w 38"/>
                  <a:gd name="T3" fmla="*/ 0 h 53"/>
                  <a:gd name="T4" fmla="*/ 0 w 38"/>
                  <a:gd name="T5" fmla="*/ 17066 h 53"/>
                  <a:gd name="T6" fmla="*/ 66451 w 38"/>
                  <a:gd name="T7" fmla="*/ 211036 h 53"/>
                  <a:gd name="T8" fmla="*/ 203948 w 38"/>
                  <a:gd name="T9" fmla="*/ 211036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53">
                    <a:moveTo>
                      <a:pt x="38" y="53"/>
                    </a:moveTo>
                    <a:cubicBezTo>
                      <a:pt x="38" y="30"/>
                      <a:pt x="22" y="0"/>
                      <a:pt x="0" y="0"/>
                    </a:cubicBezTo>
                    <a:cubicBezTo>
                      <a:pt x="0" y="4"/>
                      <a:pt x="0" y="4"/>
                      <a:pt x="0" y="4"/>
                    </a:cubicBezTo>
                    <a:cubicBezTo>
                      <a:pt x="8" y="8"/>
                      <a:pt x="12" y="14"/>
                      <a:pt x="12" y="53"/>
                    </a:cubicBezTo>
                    <a:cubicBezTo>
                      <a:pt x="38" y="53"/>
                      <a:pt x="38" y="53"/>
                      <a:pt x="38" y="53"/>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7" name="Freeform 48"/>
              <p:cNvSpPr>
                <a:spLocks noChangeAspect="1"/>
              </p:cNvSpPr>
              <p:nvPr/>
            </p:nvSpPr>
            <p:spPr bwMode="auto">
              <a:xfrm>
                <a:off x="9761" y="628"/>
                <a:ext cx="43" cy="326"/>
              </a:xfrm>
              <a:custGeom>
                <a:avLst/>
                <a:gdLst>
                  <a:gd name="T0" fmla="*/ 0 w 59"/>
                  <a:gd name="T1" fmla="*/ 0 h 458"/>
                  <a:gd name="T2" fmla="*/ 1 w 59"/>
                  <a:gd name="T3" fmla="*/ 1 h 458"/>
                  <a:gd name="T4" fmla="*/ 1 w 59"/>
                  <a:gd name="T5" fmla="*/ 2 h 458"/>
                  <a:gd name="T6" fmla="*/ 0 w 59"/>
                  <a:gd name="T7" fmla="*/ 2 h 458"/>
                  <a:gd name="T8" fmla="*/ 0 w 59"/>
                  <a:gd name="T9" fmla="*/ 0 h 4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458">
                    <a:moveTo>
                      <a:pt x="0" y="0"/>
                    </a:moveTo>
                    <a:lnTo>
                      <a:pt x="59" y="23"/>
                    </a:lnTo>
                    <a:lnTo>
                      <a:pt x="59" y="458"/>
                    </a:lnTo>
                    <a:lnTo>
                      <a:pt x="0" y="458"/>
                    </a:lnTo>
                    <a:lnTo>
                      <a:pt x="0" y="0"/>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8" name="Freeform 49"/>
              <p:cNvSpPr>
                <a:spLocks noChangeAspect="1"/>
              </p:cNvSpPr>
              <p:nvPr/>
            </p:nvSpPr>
            <p:spPr bwMode="auto">
              <a:xfrm>
                <a:off x="9761" y="628"/>
                <a:ext cx="43" cy="326"/>
              </a:xfrm>
              <a:custGeom>
                <a:avLst/>
                <a:gdLst>
                  <a:gd name="T0" fmla="*/ 0 w 59"/>
                  <a:gd name="T1" fmla="*/ 0 h 458"/>
                  <a:gd name="T2" fmla="*/ 1 w 59"/>
                  <a:gd name="T3" fmla="*/ 1 h 458"/>
                  <a:gd name="T4" fmla="*/ 1 w 59"/>
                  <a:gd name="T5" fmla="*/ 2 h 458"/>
                  <a:gd name="T6" fmla="*/ 0 w 59"/>
                  <a:gd name="T7" fmla="*/ 2 h 458"/>
                  <a:gd name="T8" fmla="*/ 0 w 59"/>
                  <a:gd name="T9" fmla="*/ 0 h 4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 h="458">
                    <a:moveTo>
                      <a:pt x="0" y="0"/>
                    </a:moveTo>
                    <a:lnTo>
                      <a:pt x="59" y="23"/>
                    </a:lnTo>
                    <a:lnTo>
                      <a:pt x="59" y="458"/>
                    </a:lnTo>
                    <a:lnTo>
                      <a:pt x="0" y="458"/>
                    </a:lnTo>
                    <a:lnTo>
                      <a:pt x="0" y="0"/>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49" name="Rectangle 50"/>
              <p:cNvSpPr>
                <a:spLocks noChangeAspect="1" noChangeArrowheads="1"/>
              </p:cNvSpPr>
              <p:nvPr/>
            </p:nvSpPr>
            <p:spPr bwMode="auto">
              <a:xfrm>
                <a:off x="9880" y="657"/>
                <a:ext cx="42" cy="297"/>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50" name="Rectangle 51"/>
              <p:cNvSpPr>
                <a:spLocks noChangeAspect="1" noChangeArrowheads="1"/>
              </p:cNvSpPr>
              <p:nvPr/>
            </p:nvSpPr>
            <p:spPr bwMode="auto">
              <a:xfrm>
                <a:off x="9793" y="654"/>
                <a:ext cx="90" cy="14"/>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51" name="Freeform 52"/>
              <p:cNvSpPr>
                <a:spLocks noChangeAspect="1"/>
              </p:cNvSpPr>
              <p:nvPr/>
            </p:nvSpPr>
            <p:spPr bwMode="auto">
              <a:xfrm>
                <a:off x="9869" y="630"/>
                <a:ext cx="70" cy="60"/>
              </a:xfrm>
              <a:custGeom>
                <a:avLst/>
                <a:gdLst>
                  <a:gd name="T0" fmla="*/ 0 w 41"/>
                  <a:gd name="T1" fmla="*/ 126311 h 34"/>
                  <a:gd name="T2" fmla="*/ 43173 w 41"/>
                  <a:gd name="T3" fmla="*/ 0 h 34"/>
                  <a:gd name="T4" fmla="*/ 214859 w 41"/>
                  <a:gd name="T5" fmla="*/ 104896 h 34"/>
                  <a:gd name="T6" fmla="*/ 192519 w 41"/>
                  <a:gd name="T7" fmla="*/ 175151 h 34"/>
                  <a:gd name="T8" fmla="*/ 161490 w 41"/>
                  <a:gd name="T9" fmla="*/ 244638 h 34"/>
                  <a:gd name="T10" fmla="*/ 0 w 41"/>
                  <a:gd name="T11" fmla="*/ 126311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 h="34">
                    <a:moveTo>
                      <a:pt x="0" y="14"/>
                    </a:moveTo>
                    <a:cubicBezTo>
                      <a:pt x="8" y="0"/>
                      <a:pt x="8" y="0"/>
                      <a:pt x="8" y="0"/>
                    </a:cubicBezTo>
                    <a:cubicBezTo>
                      <a:pt x="41" y="12"/>
                      <a:pt x="41" y="12"/>
                      <a:pt x="41" y="12"/>
                    </a:cubicBezTo>
                    <a:cubicBezTo>
                      <a:pt x="37" y="20"/>
                      <a:pt x="37" y="20"/>
                      <a:pt x="37" y="20"/>
                    </a:cubicBezTo>
                    <a:cubicBezTo>
                      <a:pt x="33" y="20"/>
                      <a:pt x="31" y="22"/>
                      <a:pt x="31" y="28"/>
                    </a:cubicBezTo>
                    <a:cubicBezTo>
                      <a:pt x="31" y="34"/>
                      <a:pt x="0" y="14"/>
                      <a:pt x="0" y="1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2" name="Rectangle 53"/>
              <p:cNvSpPr>
                <a:spLocks noChangeAspect="1" noChangeArrowheads="1"/>
              </p:cNvSpPr>
              <p:nvPr/>
            </p:nvSpPr>
            <p:spPr bwMode="auto">
              <a:xfrm>
                <a:off x="9793" y="920"/>
                <a:ext cx="90" cy="14"/>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53" name="Freeform 54"/>
              <p:cNvSpPr>
                <a:spLocks noChangeAspect="1"/>
              </p:cNvSpPr>
              <p:nvPr/>
            </p:nvSpPr>
            <p:spPr bwMode="auto">
              <a:xfrm>
                <a:off x="9588" y="738"/>
                <a:ext cx="70" cy="168"/>
              </a:xfrm>
              <a:custGeom>
                <a:avLst/>
                <a:gdLst>
                  <a:gd name="T0" fmla="*/ 80586 w 43"/>
                  <a:gd name="T1" fmla="*/ 0 h 99"/>
                  <a:gd name="T2" fmla="*/ 0 w 43"/>
                  <a:gd name="T3" fmla="*/ 419925 h 99"/>
                  <a:gd name="T4" fmla="*/ 0 w 43"/>
                  <a:gd name="T5" fmla="*/ 468172 h 99"/>
                  <a:gd name="T6" fmla="*/ 104948 w 43"/>
                  <a:gd name="T7" fmla="*/ 223374 h 99"/>
                  <a:gd name="T8" fmla="*/ 104948 w 43"/>
                  <a:gd name="T9" fmla="*/ 0 h 99"/>
                  <a:gd name="T10" fmla="*/ 80586 w 43"/>
                  <a:gd name="T11" fmla="*/ 0 h 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99">
                    <a:moveTo>
                      <a:pt x="33" y="0"/>
                    </a:moveTo>
                    <a:cubicBezTo>
                      <a:pt x="28" y="40"/>
                      <a:pt x="15" y="73"/>
                      <a:pt x="0" y="89"/>
                    </a:cubicBezTo>
                    <a:cubicBezTo>
                      <a:pt x="0" y="99"/>
                      <a:pt x="0" y="99"/>
                      <a:pt x="0" y="99"/>
                    </a:cubicBezTo>
                    <a:cubicBezTo>
                      <a:pt x="15" y="90"/>
                      <a:pt x="39" y="64"/>
                      <a:pt x="43" y="47"/>
                    </a:cubicBezTo>
                    <a:cubicBezTo>
                      <a:pt x="43" y="0"/>
                      <a:pt x="43" y="0"/>
                      <a:pt x="43" y="0"/>
                    </a:cubicBezTo>
                    <a:cubicBezTo>
                      <a:pt x="33" y="0"/>
                      <a:pt x="33" y="0"/>
                      <a:pt x="33"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4" name="Rectangle 55"/>
              <p:cNvSpPr>
                <a:spLocks noChangeAspect="1" noChangeArrowheads="1"/>
              </p:cNvSpPr>
              <p:nvPr/>
            </p:nvSpPr>
            <p:spPr bwMode="auto">
              <a:xfrm>
                <a:off x="10028" y="787"/>
                <a:ext cx="45" cy="167"/>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55" name="Freeform 56"/>
              <p:cNvSpPr>
                <a:spLocks noChangeAspect="1"/>
              </p:cNvSpPr>
              <p:nvPr/>
            </p:nvSpPr>
            <p:spPr bwMode="auto">
              <a:xfrm>
                <a:off x="10061" y="822"/>
                <a:ext cx="65" cy="65"/>
              </a:xfrm>
              <a:custGeom>
                <a:avLst/>
                <a:gdLst>
                  <a:gd name="T0" fmla="*/ 203948 w 38"/>
                  <a:gd name="T1" fmla="*/ 137708 h 39"/>
                  <a:gd name="T2" fmla="*/ 0 w 38"/>
                  <a:gd name="T3" fmla="*/ 0 h 39"/>
                  <a:gd name="T4" fmla="*/ 0 w 38"/>
                  <a:gd name="T5" fmla="*/ 10245 h 39"/>
                  <a:gd name="T6" fmla="*/ 66451 w 38"/>
                  <a:gd name="T7" fmla="*/ 137708 h 39"/>
                  <a:gd name="T8" fmla="*/ 203948 w 38"/>
                  <a:gd name="T9" fmla="*/ 137708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9">
                    <a:moveTo>
                      <a:pt x="38" y="39"/>
                    </a:moveTo>
                    <a:cubicBezTo>
                      <a:pt x="38" y="22"/>
                      <a:pt x="22" y="0"/>
                      <a:pt x="0" y="0"/>
                    </a:cubicBezTo>
                    <a:cubicBezTo>
                      <a:pt x="0" y="3"/>
                      <a:pt x="0" y="3"/>
                      <a:pt x="0" y="3"/>
                    </a:cubicBezTo>
                    <a:cubicBezTo>
                      <a:pt x="8" y="6"/>
                      <a:pt x="12" y="10"/>
                      <a:pt x="12" y="39"/>
                    </a:cubicBezTo>
                    <a:cubicBezTo>
                      <a:pt x="38" y="39"/>
                      <a:pt x="38" y="39"/>
                      <a:pt x="38" y="39"/>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6" name="Freeform 57"/>
              <p:cNvSpPr>
                <a:spLocks noChangeAspect="1"/>
              </p:cNvSpPr>
              <p:nvPr/>
            </p:nvSpPr>
            <p:spPr bwMode="auto">
              <a:xfrm>
                <a:off x="9975" y="825"/>
                <a:ext cx="54" cy="121"/>
              </a:xfrm>
              <a:custGeom>
                <a:avLst/>
                <a:gdLst>
                  <a:gd name="T0" fmla="*/ 62006 w 32"/>
                  <a:gd name="T1" fmla="*/ 0 h 72"/>
                  <a:gd name="T2" fmla="*/ 0 w 32"/>
                  <a:gd name="T3" fmla="*/ 263010 h 72"/>
                  <a:gd name="T4" fmla="*/ 0 w 32"/>
                  <a:gd name="T5" fmla="*/ 290671 h 72"/>
                  <a:gd name="T6" fmla="*/ 138689 w 32"/>
                  <a:gd name="T7" fmla="*/ 130430 h 72"/>
                  <a:gd name="T8" fmla="*/ 138689 w 32"/>
                  <a:gd name="T9" fmla="*/ 0 h 72"/>
                  <a:gd name="T10" fmla="*/ 62006 w 32"/>
                  <a:gd name="T11" fmla="*/ 0 h 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2" h="72">
                    <a:moveTo>
                      <a:pt x="14" y="0"/>
                    </a:moveTo>
                    <a:cubicBezTo>
                      <a:pt x="14" y="37"/>
                      <a:pt x="9" y="53"/>
                      <a:pt x="0" y="65"/>
                    </a:cubicBezTo>
                    <a:cubicBezTo>
                      <a:pt x="0" y="72"/>
                      <a:pt x="0" y="72"/>
                      <a:pt x="0" y="72"/>
                    </a:cubicBezTo>
                    <a:cubicBezTo>
                      <a:pt x="13" y="66"/>
                      <a:pt x="31" y="45"/>
                      <a:pt x="32" y="32"/>
                    </a:cubicBezTo>
                    <a:cubicBezTo>
                      <a:pt x="32" y="0"/>
                      <a:pt x="32" y="0"/>
                      <a:pt x="32" y="0"/>
                    </a:cubicBezTo>
                    <a:cubicBezTo>
                      <a:pt x="14" y="0"/>
                      <a:pt x="14" y="0"/>
                      <a:pt x="14"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7" name="Freeform 58"/>
              <p:cNvSpPr>
                <a:spLocks noChangeAspect="1"/>
              </p:cNvSpPr>
              <p:nvPr/>
            </p:nvSpPr>
            <p:spPr bwMode="auto">
              <a:xfrm>
                <a:off x="10150" y="819"/>
                <a:ext cx="130" cy="135"/>
              </a:xfrm>
              <a:custGeom>
                <a:avLst/>
                <a:gdLst>
                  <a:gd name="T0" fmla="*/ 317558 w 76"/>
                  <a:gd name="T1" fmla="*/ 418261 h 79"/>
                  <a:gd name="T2" fmla="*/ 80337 w 76"/>
                  <a:gd name="T3" fmla="*/ 418261 h 79"/>
                  <a:gd name="T4" fmla="*/ 0 w 76"/>
                  <a:gd name="T5" fmla="*/ 322007 h 79"/>
                  <a:gd name="T6" fmla="*/ 0 w 76"/>
                  <a:gd name="T7" fmla="*/ 0 h 79"/>
                  <a:gd name="T8" fmla="*/ 172356 w 76"/>
                  <a:gd name="T9" fmla="*/ 65562 h 79"/>
                  <a:gd name="T10" fmla="*/ 159986 w 76"/>
                  <a:gd name="T11" fmla="*/ 96781 h 79"/>
                  <a:gd name="T12" fmla="*/ 128628 w 76"/>
                  <a:gd name="T13" fmla="*/ 147996 h 79"/>
                  <a:gd name="T14" fmla="*/ 128628 w 76"/>
                  <a:gd name="T15" fmla="*/ 300860 h 79"/>
                  <a:gd name="T16" fmla="*/ 286925 w 76"/>
                  <a:gd name="T17" fmla="*/ 300860 h 79"/>
                  <a:gd name="T18" fmla="*/ 286925 w 76"/>
                  <a:gd name="T19" fmla="*/ 158184 h 79"/>
                  <a:gd name="T20" fmla="*/ 317558 w 76"/>
                  <a:gd name="T21" fmla="*/ 158184 h 79"/>
                  <a:gd name="T22" fmla="*/ 317558 w 76"/>
                  <a:gd name="T23" fmla="*/ 170510 h 79"/>
                  <a:gd name="T24" fmla="*/ 407762 w 76"/>
                  <a:gd name="T25" fmla="*/ 260555 h 79"/>
                  <a:gd name="T26" fmla="*/ 407762 w 76"/>
                  <a:gd name="T27" fmla="*/ 300860 h 79"/>
                  <a:gd name="T28" fmla="*/ 317558 w 76"/>
                  <a:gd name="T29" fmla="*/ 418261 h 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6" h="79">
                    <a:moveTo>
                      <a:pt x="59" y="79"/>
                    </a:moveTo>
                    <a:cubicBezTo>
                      <a:pt x="15" y="79"/>
                      <a:pt x="15" y="79"/>
                      <a:pt x="15" y="79"/>
                    </a:cubicBezTo>
                    <a:cubicBezTo>
                      <a:pt x="7" y="79"/>
                      <a:pt x="0" y="71"/>
                      <a:pt x="0" y="61"/>
                    </a:cubicBezTo>
                    <a:cubicBezTo>
                      <a:pt x="0" y="0"/>
                      <a:pt x="0" y="0"/>
                      <a:pt x="0" y="0"/>
                    </a:cubicBezTo>
                    <a:cubicBezTo>
                      <a:pt x="32" y="12"/>
                      <a:pt x="32" y="12"/>
                      <a:pt x="32" y="12"/>
                    </a:cubicBezTo>
                    <a:cubicBezTo>
                      <a:pt x="30" y="18"/>
                      <a:pt x="30" y="18"/>
                      <a:pt x="30" y="18"/>
                    </a:cubicBezTo>
                    <a:cubicBezTo>
                      <a:pt x="26" y="18"/>
                      <a:pt x="24" y="22"/>
                      <a:pt x="24" y="28"/>
                    </a:cubicBezTo>
                    <a:cubicBezTo>
                      <a:pt x="24" y="57"/>
                      <a:pt x="24" y="57"/>
                      <a:pt x="24" y="57"/>
                    </a:cubicBezTo>
                    <a:cubicBezTo>
                      <a:pt x="53" y="57"/>
                      <a:pt x="53" y="57"/>
                      <a:pt x="53" y="57"/>
                    </a:cubicBezTo>
                    <a:cubicBezTo>
                      <a:pt x="53" y="30"/>
                      <a:pt x="53" y="30"/>
                      <a:pt x="53" y="30"/>
                    </a:cubicBezTo>
                    <a:cubicBezTo>
                      <a:pt x="59" y="30"/>
                      <a:pt x="59" y="30"/>
                      <a:pt x="59" y="30"/>
                    </a:cubicBezTo>
                    <a:cubicBezTo>
                      <a:pt x="59" y="32"/>
                      <a:pt x="59" y="32"/>
                      <a:pt x="59" y="32"/>
                    </a:cubicBezTo>
                    <a:cubicBezTo>
                      <a:pt x="59" y="48"/>
                      <a:pt x="69" y="49"/>
                      <a:pt x="76" y="49"/>
                    </a:cubicBezTo>
                    <a:cubicBezTo>
                      <a:pt x="76" y="57"/>
                      <a:pt x="76" y="57"/>
                      <a:pt x="76" y="57"/>
                    </a:cubicBezTo>
                    <a:cubicBezTo>
                      <a:pt x="76" y="69"/>
                      <a:pt x="71" y="79"/>
                      <a:pt x="59" y="79"/>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8" name="Freeform 59"/>
              <p:cNvSpPr>
                <a:spLocks noChangeAspect="1"/>
              </p:cNvSpPr>
              <p:nvPr/>
            </p:nvSpPr>
            <p:spPr bwMode="auto">
              <a:xfrm>
                <a:off x="10377" y="763"/>
                <a:ext cx="41" cy="183"/>
              </a:xfrm>
              <a:custGeom>
                <a:avLst/>
                <a:gdLst>
                  <a:gd name="T0" fmla="*/ 0 w 57"/>
                  <a:gd name="T1" fmla="*/ 1 h 258"/>
                  <a:gd name="T2" fmla="*/ 1 w 57"/>
                  <a:gd name="T3" fmla="*/ 0 h 258"/>
                  <a:gd name="T4" fmla="*/ 1 w 57"/>
                  <a:gd name="T5" fmla="*/ 1 h 258"/>
                  <a:gd name="T6" fmla="*/ 0 w 57"/>
                  <a:gd name="T7" fmla="*/ 1 h 258"/>
                  <a:gd name="T8" fmla="*/ 0 w 57"/>
                  <a:gd name="T9" fmla="*/ 1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258">
                    <a:moveTo>
                      <a:pt x="0" y="8"/>
                    </a:moveTo>
                    <a:lnTo>
                      <a:pt x="57" y="0"/>
                    </a:lnTo>
                    <a:lnTo>
                      <a:pt x="57" y="258"/>
                    </a:lnTo>
                    <a:lnTo>
                      <a:pt x="0" y="258"/>
                    </a:lnTo>
                    <a:lnTo>
                      <a:pt x="0" y="8"/>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59" name="Freeform 60"/>
              <p:cNvSpPr>
                <a:spLocks noChangeAspect="1"/>
              </p:cNvSpPr>
              <p:nvPr/>
            </p:nvSpPr>
            <p:spPr bwMode="auto">
              <a:xfrm>
                <a:off x="10377" y="763"/>
                <a:ext cx="41" cy="183"/>
              </a:xfrm>
              <a:custGeom>
                <a:avLst/>
                <a:gdLst>
                  <a:gd name="T0" fmla="*/ 0 w 57"/>
                  <a:gd name="T1" fmla="*/ 1 h 258"/>
                  <a:gd name="T2" fmla="*/ 1 w 57"/>
                  <a:gd name="T3" fmla="*/ 0 h 258"/>
                  <a:gd name="T4" fmla="*/ 1 w 57"/>
                  <a:gd name="T5" fmla="*/ 1 h 258"/>
                  <a:gd name="T6" fmla="*/ 0 w 57"/>
                  <a:gd name="T7" fmla="*/ 1 h 258"/>
                  <a:gd name="T8" fmla="*/ 0 w 57"/>
                  <a:gd name="T9" fmla="*/ 1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 h="258">
                    <a:moveTo>
                      <a:pt x="0" y="8"/>
                    </a:moveTo>
                    <a:lnTo>
                      <a:pt x="57" y="0"/>
                    </a:lnTo>
                    <a:lnTo>
                      <a:pt x="57" y="258"/>
                    </a:lnTo>
                    <a:lnTo>
                      <a:pt x="0" y="258"/>
                    </a:lnTo>
                    <a:lnTo>
                      <a:pt x="0" y="8"/>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0" name="Rectangle 61"/>
              <p:cNvSpPr>
                <a:spLocks noChangeAspect="1" noChangeArrowheads="1"/>
              </p:cNvSpPr>
              <p:nvPr/>
            </p:nvSpPr>
            <p:spPr bwMode="auto">
              <a:xfrm>
                <a:off x="10459" y="757"/>
                <a:ext cx="42" cy="180"/>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61" name="Rectangle 62"/>
              <p:cNvSpPr>
                <a:spLocks noChangeAspect="1" noChangeArrowheads="1"/>
              </p:cNvSpPr>
              <p:nvPr/>
            </p:nvSpPr>
            <p:spPr bwMode="auto">
              <a:xfrm>
                <a:off x="10389" y="748"/>
                <a:ext cx="81" cy="17"/>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62" name="Freeform 63"/>
              <p:cNvSpPr>
                <a:spLocks noChangeAspect="1"/>
              </p:cNvSpPr>
              <p:nvPr/>
            </p:nvSpPr>
            <p:spPr bwMode="auto">
              <a:xfrm>
                <a:off x="10450" y="733"/>
                <a:ext cx="63" cy="54"/>
              </a:xfrm>
              <a:custGeom>
                <a:avLst/>
                <a:gdLst>
                  <a:gd name="T0" fmla="*/ 0 w 35"/>
                  <a:gd name="T1" fmla="*/ 62006 h 32"/>
                  <a:gd name="T2" fmla="*/ 93794 w 35"/>
                  <a:gd name="T3" fmla="*/ 0 h 32"/>
                  <a:gd name="T4" fmla="*/ 422294 w 35"/>
                  <a:gd name="T5" fmla="*/ 44204 h 32"/>
                  <a:gd name="T6" fmla="*/ 397701 w 35"/>
                  <a:gd name="T7" fmla="*/ 70499 h 32"/>
                  <a:gd name="T8" fmla="*/ 338182 w 35"/>
                  <a:gd name="T9" fmla="*/ 112514 h 32"/>
                  <a:gd name="T10" fmla="*/ 0 w 35"/>
                  <a:gd name="T11" fmla="*/ 62006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32">
                    <a:moveTo>
                      <a:pt x="0" y="14"/>
                    </a:moveTo>
                    <a:cubicBezTo>
                      <a:pt x="8" y="0"/>
                      <a:pt x="8" y="0"/>
                      <a:pt x="8" y="0"/>
                    </a:cubicBezTo>
                    <a:cubicBezTo>
                      <a:pt x="35" y="10"/>
                      <a:pt x="35" y="10"/>
                      <a:pt x="35" y="10"/>
                    </a:cubicBezTo>
                    <a:cubicBezTo>
                      <a:pt x="33" y="16"/>
                      <a:pt x="33" y="16"/>
                      <a:pt x="33" y="16"/>
                    </a:cubicBezTo>
                    <a:cubicBezTo>
                      <a:pt x="30" y="16"/>
                      <a:pt x="28" y="20"/>
                      <a:pt x="28" y="26"/>
                    </a:cubicBezTo>
                    <a:cubicBezTo>
                      <a:pt x="28" y="32"/>
                      <a:pt x="0" y="14"/>
                      <a:pt x="0" y="1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3" name="Rectangle 64"/>
              <p:cNvSpPr>
                <a:spLocks noChangeAspect="1" noChangeArrowheads="1"/>
              </p:cNvSpPr>
              <p:nvPr/>
            </p:nvSpPr>
            <p:spPr bwMode="auto">
              <a:xfrm>
                <a:off x="10403" y="901"/>
                <a:ext cx="78" cy="17"/>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64" name="Freeform 65"/>
              <p:cNvSpPr>
                <a:spLocks noChangeAspect="1"/>
              </p:cNvSpPr>
              <p:nvPr/>
            </p:nvSpPr>
            <p:spPr bwMode="auto">
              <a:xfrm>
                <a:off x="10361" y="622"/>
                <a:ext cx="146" cy="30"/>
              </a:xfrm>
              <a:custGeom>
                <a:avLst/>
                <a:gdLst>
                  <a:gd name="T0" fmla="*/ 0 w 201"/>
                  <a:gd name="T1" fmla="*/ 1 h 43"/>
                  <a:gd name="T2" fmla="*/ 1 w 201"/>
                  <a:gd name="T3" fmla="*/ 1 h 43"/>
                  <a:gd name="T4" fmla="*/ 1 w 201"/>
                  <a:gd name="T5" fmla="*/ 0 h 43"/>
                  <a:gd name="T6" fmla="*/ 1 w 201"/>
                  <a:gd name="T7" fmla="*/ 1 h 43"/>
                  <a:gd name="T8" fmla="*/ 1 w 201"/>
                  <a:gd name="T9" fmla="*/ 1 h 43"/>
                  <a:gd name="T10" fmla="*/ 1 w 201"/>
                  <a:gd name="T11" fmla="*/ 1 h 43"/>
                  <a:gd name="T12" fmla="*/ 0 w 201"/>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43">
                    <a:moveTo>
                      <a:pt x="0" y="19"/>
                    </a:moveTo>
                    <a:lnTo>
                      <a:pt x="128" y="19"/>
                    </a:lnTo>
                    <a:lnTo>
                      <a:pt x="137" y="0"/>
                    </a:lnTo>
                    <a:lnTo>
                      <a:pt x="201" y="24"/>
                    </a:lnTo>
                    <a:lnTo>
                      <a:pt x="191" y="43"/>
                    </a:lnTo>
                    <a:lnTo>
                      <a:pt x="5" y="43"/>
                    </a:lnTo>
                    <a:lnTo>
                      <a:pt x="0"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5" name="Freeform 66"/>
              <p:cNvSpPr>
                <a:spLocks noChangeAspect="1"/>
              </p:cNvSpPr>
              <p:nvPr/>
            </p:nvSpPr>
            <p:spPr bwMode="auto">
              <a:xfrm>
                <a:off x="10361" y="622"/>
                <a:ext cx="146" cy="30"/>
              </a:xfrm>
              <a:custGeom>
                <a:avLst/>
                <a:gdLst>
                  <a:gd name="T0" fmla="*/ 0 w 201"/>
                  <a:gd name="T1" fmla="*/ 1 h 43"/>
                  <a:gd name="T2" fmla="*/ 1 w 201"/>
                  <a:gd name="T3" fmla="*/ 1 h 43"/>
                  <a:gd name="T4" fmla="*/ 1 w 201"/>
                  <a:gd name="T5" fmla="*/ 0 h 43"/>
                  <a:gd name="T6" fmla="*/ 1 w 201"/>
                  <a:gd name="T7" fmla="*/ 1 h 43"/>
                  <a:gd name="T8" fmla="*/ 1 w 201"/>
                  <a:gd name="T9" fmla="*/ 1 h 43"/>
                  <a:gd name="T10" fmla="*/ 1 w 201"/>
                  <a:gd name="T11" fmla="*/ 1 h 43"/>
                  <a:gd name="T12" fmla="*/ 0 w 201"/>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1" h="43">
                    <a:moveTo>
                      <a:pt x="0" y="19"/>
                    </a:moveTo>
                    <a:lnTo>
                      <a:pt x="128" y="19"/>
                    </a:lnTo>
                    <a:lnTo>
                      <a:pt x="137" y="0"/>
                    </a:lnTo>
                    <a:lnTo>
                      <a:pt x="201" y="24"/>
                    </a:lnTo>
                    <a:lnTo>
                      <a:pt x="191" y="43"/>
                    </a:lnTo>
                    <a:lnTo>
                      <a:pt x="5" y="43"/>
                    </a:lnTo>
                    <a:lnTo>
                      <a:pt x="0" y="19"/>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6" name="Freeform 67"/>
              <p:cNvSpPr>
                <a:spLocks noChangeAspect="1"/>
              </p:cNvSpPr>
              <p:nvPr/>
            </p:nvSpPr>
            <p:spPr bwMode="auto">
              <a:xfrm>
                <a:off x="10513" y="622"/>
                <a:ext cx="186" cy="30"/>
              </a:xfrm>
              <a:custGeom>
                <a:avLst/>
                <a:gdLst>
                  <a:gd name="T0" fmla="*/ 0 w 260"/>
                  <a:gd name="T1" fmla="*/ 1 h 43"/>
                  <a:gd name="T2" fmla="*/ 1 w 260"/>
                  <a:gd name="T3" fmla="*/ 1 h 43"/>
                  <a:gd name="T4" fmla="*/ 1 w 260"/>
                  <a:gd name="T5" fmla="*/ 0 h 43"/>
                  <a:gd name="T6" fmla="*/ 1 w 260"/>
                  <a:gd name="T7" fmla="*/ 1 h 43"/>
                  <a:gd name="T8" fmla="*/ 1 w 260"/>
                  <a:gd name="T9" fmla="*/ 1 h 43"/>
                  <a:gd name="T10" fmla="*/ 1 w 260"/>
                  <a:gd name="T11" fmla="*/ 1 h 43"/>
                  <a:gd name="T12" fmla="*/ 0 w 260"/>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0" h="43">
                    <a:moveTo>
                      <a:pt x="0" y="19"/>
                    </a:moveTo>
                    <a:lnTo>
                      <a:pt x="184" y="19"/>
                    </a:lnTo>
                    <a:lnTo>
                      <a:pt x="194" y="0"/>
                    </a:lnTo>
                    <a:lnTo>
                      <a:pt x="260" y="24"/>
                    </a:lnTo>
                    <a:lnTo>
                      <a:pt x="250" y="43"/>
                    </a:lnTo>
                    <a:lnTo>
                      <a:pt x="5" y="43"/>
                    </a:lnTo>
                    <a:lnTo>
                      <a:pt x="0"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7" name="Freeform 68"/>
              <p:cNvSpPr>
                <a:spLocks noChangeAspect="1"/>
              </p:cNvSpPr>
              <p:nvPr/>
            </p:nvSpPr>
            <p:spPr bwMode="auto">
              <a:xfrm>
                <a:off x="10513" y="622"/>
                <a:ext cx="186" cy="30"/>
              </a:xfrm>
              <a:custGeom>
                <a:avLst/>
                <a:gdLst>
                  <a:gd name="T0" fmla="*/ 0 w 260"/>
                  <a:gd name="T1" fmla="*/ 1 h 43"/>
                  <a:gd name="T2" fmla="*/ 1 w 260"/>
                  <a:gd name="T3" fmla="*/ 1 h 43"/>
                  <a:gd name="T4" fmla="*/ 1 w 260"/>
                  <a:gd name="T5" fmla="*/ 0 h 43"/>
                  <a:gd name="T6" fmla="*/ 1 w 260"/>
                  <a:gd name="T7" fmla="*/ 1 h 43"/>
                  <a:gd name="T8" fmla="*/ 1 w 260"/>
                  <a:gd name="T9" fmla="*/ 1 h 43"/>
                  <a:gd name="T10" fmla="*/ 1 w 260"/>
                  <a:gd name="T11" fmla="*/ 1 h 43"/>
                  <a:gd name="T12" fmla="*/ 0 w 260"/>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60" h="43">
                    <a:moveTo>
                      <a:pt x="0" y="19"/>
                    </a:moveTo>
                    <a:lnTo>
                      <a:pt x="184" y="19"/>
                    </a:lnTo>
                    <a:lnTo>
                      <a:pt x="194" y="0"/>
                    </a:lnTo>
                    <a:lnTo>
                      <a:pt x="260" y="24"/>
                    </a:lnTo>
                    <a:lnTo>
                      <a:pt x="250" y="43"/>
                    </a:lnTo>
                    <a:lnTo>
                      <a:pt x="5" y="43"/>
                    </a:lnTo>
                    <a:lnTo>
                      <a:pt x="0" y="19"/>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8" name="Freeform 69"/>
              <p:cNvSpPr>
                <a:spLocks noChangeAspect="1"/>
              </p:cNvSpPr>
              <p:nvPr/>
            </p:nvSpPr>
            <p:spPr bwMode="auto">
              <a:xfrm>
                <a:off x="10491" y="755"/>
                <a:ext cx="219" cy="29"/>
              </a:xfrm>
              <a:custGeom>
                <a:avLst/>
                <a:gdLst>
                  <a:gd name="T0" fmla="*/ 0 w 304"/>
                  <a:gd name="T1" fmla="*/ 1 h 42"/>
                  <a:gd name="T2" fmla="*/ 1 w 304"/>
                  <a:gd name="T3" fmla="*/ 1 h 42"/>
                  <a:gd name="T4" fmla="*/ 1 w 304"/>
                  <a:gd name="T5" fmla="*/ 0 h 42"/>
                  <a:gd name="T6" fmla="*/ 1 w 304"/>
                  <a:gd name="T7" fmla="*/ 1 h 42"/>
                  <a:gd name="T8" fmla="*/ 1 w 304"/>
                  <a:gd name="T9" fmla="*/ 1 h 42"/>
                  <a:gd name="T10" fmla="*/ 1 w 304"/>
                  <a:gd name="T11" fmla="*/ 1 h 42"/>
                  <a:gd name="T12" fmla="*/ 0 w 304"/>
                  <a:gd name="T13" fmla="*/ 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4" h="42">
                    <a:moveTo>
                      <a:pt x="0" y="19"/>
                    </a:moveTo>
                    <a:lnTo>
                      <a:pt x="231" y="19"/>
                    </a:lnTo>
                    <a:lnTo>
                      <a:pt x="241" y="0"/>
                    </a:lnTo>
                    <a:lnTo>
                      <a:pt x="304" y="23"/>
                    </a:lnTo>
                    <a:lnTo>
                      <a:pt x="295" y="42"/>
                    </a:lnTo>
                    <a:lnTo>
                      <a:pt x="4" y="42"/>
                    </a:lnTo>
                    <a:lnTo>
                      <a:pt x="0" y="19"/>
                    </a:lnTo>
                    <a:close/>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69" name="Freeform 70"/>
              <p:cNvSpPr>
                <a:spLocks noChangeAspect="1"/>
              </p:cNvSpPr>
              <p:nvPr/>
            </p:nvSpPr>
            <p:spPr bwMode="auto">
              <a:xfrm>
                <a:off x="10491" y="755"/>
                <a:ext cx="219" cy="29"/>
              </a:xfrm>
              <a:custGeom>
                <a:avLst/>
                <a:gdLst>
                  <a:gd name="T0" fmla="*/ 0 w 304"/>
                  <a:gd name="T1" fmla="*/ 1 h 42"/>
                  <a:gd name="T2" fmla="*/ 1 w 304"/>
                  <a:gd name="T3" fmla="*/ 1 h 42"/>
                  <a:gd name="T4" fmla="*/ 1 w 304"/>
                  <a:gd name="T5" fmla="*/ 0 h 42"/>
                  <a:gd name="T6" fmla="*/ 1 w 304"/>
                  <a:gd name="T7" fmla="*/ 1 h 42"/>
                  <a:gd name="T8" fmla="*/ 1 w 304"/>
                  <a:gd name="T9" fmla="*/ 1 h 42"/>
                  <a:gd name="T10" fmla="*/ 1 w 304"/>
                  <a:gd name="T11" fmla="*/ 1 h 42"/>
                  <a:gd name="T12" fmla="*/ 0 w 304"/>
                  <a:gd name="T13" fmla="*/ 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4" h="42">
                    <a:moveTo>
                      <a:pt x="0" y="19"/>
                    </a:moveTo>
                    <a:lnTo>
                      <a:pt x="231" y="19"/>
                    </a:lnTo>
                    <a:lnTo>
                      <a:pt x="241" y="0"/>
                    </a:lnTo>
                    <a:lnTo>
                      <a:pt x="304" y="23"/>
                    </a:lnTo>
                    <a:lnTo>
                      <a:pt x="295" y="42"/>
                    </a:lnTo>
                    <a:lnTo>
                      <a:pt x="4" y="42"/>
                    </a:lnTo>
                    <a:lnTo>
                      <a:pt x="0" y="19"/>
                    </a:ln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0" name="Rectangle 71"/>
              <p:cNvSpPr>
                <a:spLocks noChangeAspect="1" noChangeArrowheads="1"/>
              </p:cNvSpPr>
              <p:nvPr/>
            </p:nvSpPr>
            <p:spPr bwMode="auto">
              <a:xfrm>
                <a:off x="10610" y="645"/>
                <a:ext cx="45" cy="308"/>
              </a:xfrm>
              <a:prstGeom prst="rect">
                <a:avLst/>
              </a:prstGeom>
              <a:solidFill>
                <a:srgbClr val="0076BD"/>
              </a:solidFill>
              <a:ln>
                <a:no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kumimoji="1" sz="1400">
                    <a:solidFill>
                      <a:schemeClr val="bg1"/>
                    </a:solidFill>
                    <a:latin typeface="Arial" charset="0"/>
                    <a:ea typeface="HGPｺﾞｼｯｸM" pitchFamily="50" charset="-128"/>
                  </a:defRPr>
                </a:lvl1pPr>
                <a:lvl2pPr marL="742950" indent="-285750" eaLnBrk="0" hangingPunct="0">
                  <a:defRPr kumimoji="1" sz="1400">
                    <a:solidFill>
                      <a:schemeClr val="bg1"/>
                    </a:solidFill>
                    <a:latin typeface="Arial" charset="0"/>
                    <a:ea typeface="HGPｺﾞｼｯｸM" pitchFamily="50" charset="-128"/>
                  </a:defRPr>
                </a:lvl2pPr>
                <a:lvl3pPr marL="1143000" indent="-228600" eaLnBrk="0" hangingPunct="0">
                  <a:defRPr kumimoji="1" sz="1400">
                    <a:solidFill>
                      <a:schemeClr val="bg1"/>
                    </a:solidFill>
                    <a:latin typeface="Arial" charset="0"/>
                    <a:ea typeface="HGPｺﾞｼｯｸM" pitchFamily="50" charset="-128"/>
                  </a:defRPr>
                </a:lvl3pPr>
                <a:lvl4pPr marL="1600200" indent="-228600" eaLnBrk="0" hangingPunct="0">
                  <a:defRPr kumimoji="1" sz="1400">
                    <a:solidFill>
                      <a:schemeClr val="bg1"/>
                    </a:solidFill>
                    <a:latin typeface="Arial" charset="0"/>
                    <a:ea typeface="HGPｺﾞｼｯｸM" pitchFamily="50" charset="-128"/>
                  </a:defRPr>
                </a:lvl4pPr>
                <a:lvl5pPr marL="2057400" indent="-228600" eaLnBrk="0" hangingPunct="0">
                  <a:defRPr kumimoji="1" sz="1400">
                    <a:solidFill>
                      <a:schemeClr val="bg1"/>
                    </a:solidFill>
                    <a:latin typeface="Arial" charset="0"/>
                    <a:ea typeface="HGPｺﾞｼｯｸM" pitchFamily="50" charset="-128"/>
                  </a:defRPr>
                </a:lvl5pPr>
                <a:lvl6pPr marL="25146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6pPr>
                <a:lvl7pPr marL="29718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7pPr>
                <a:lvl8pPr marL="34290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8pPr>
                <a:lvl9pPr marL="3886200" indent="-228600" algn="ctr" eaLnBrk="0" fontAlgn="base" hangingPunct="0">
                  <a:lnSpc>
                    <a:spcPct val="75000"/>
                  </a:lnSpc>
                  <a:spcBef>
                    <a:spcPct val="0"/>
                  </a:spcBef>
                  <a:spcAft>
                    <a:spcPct val="0"/>
                  </a:spcAft>
                  <a:defRPr kumimoji="1" sz="1400">
                    <a:solidFill>
                      <a:schemeClr val="bg1"/>
                    </a:solidFill>
                    <a:latin typeface="Arial" charset="0"/>
                    <a:ea typeface="HGPｺﾞｼｯｸM" pitchFamily="50" charset="-128"/>
                  </a:defRPr>
                </a:lvl9pPr>
              </a:lstStyle>
              <a:p>
                <a:pPr eaLnBrk="1" hangingPunct="1">
                  <a:defRPr/>
                </a:pPr>
                <a:endParaRPr lang="ja-JP" altLang="en-US" dirty="0"/>
              </a:p>
            </p:txBody>
          </p:sp>
          <p:sp>
            <p:nvSpPr>
              <p:cNvPr id="71" name="Freeform 72"/>
              <p:cNvSpPr>
                <a:spLocks noChangeAspect="1"/>
              </p:cNvSpPr>
              <p:nvPr/>
            </p:nvSpPr>
            <p:spPr bwMode="auto">
              <a:xfrm>
                <a:off x="10456" y="647"/>
                <a:ext cx="116" cy="310"/>
              </a:xfrm>
              <a:custGeom>
                <a:avLst/>
                <a:gdLst>
                  <a:gd name="T0" fmla="*/ 17308 w 69"/>
                  <a:gd name="T1" fmla="*/ 840810 h 183"/>
                  <a:gd name="T2" fmla="*/ 0 w 69"/>
                  <a:gd name="T3" fmla="*/ 820148 h 183"/>
                  <a:gd name="T4" fmla="*/ 178418 w 69"/>
                  <a:gd name="T5" fmla="*/ 442741 h 183"/>
                  <a:gd name="T6" fmla="*/ 178418 w 69"/>
                  <a:gd name="T7" fmla="*/ 0 h 183"/>
                  <a:gd name="T8" fmla="*/ 280826 w 69"/>
                  <a:gd name="T9" fmla="*/ 0 h 183"/>
                  <a:gd name="T10" fmla="*/ 280826 w 69"/>
                  <a:gd name="T11" fmla="*/ 386047 h 183"/>
                  <a:gd name="T12" fmla="*/ 17308 w 69"/>
                  <a:gd name="T13" fmla="*/ 840810 h 1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183">
                    <a:moveTo>
                      <a:pt x="4" y="183"/>
                    </a:moveTo>
                    <a:cubicBezTo>
                      <a:pt x="0" y="178"/>
                      <a:pt x="0" y="178"/>
                      <a:pt x="0" y="178"/>
                    </a:cubicBezTo>
                    <a:cubicBezTo>
                      <a:pt x="35" y="154"/>
                      <a:pt x="44" y="122"/>
                      <a:pt x="44" y="96"/>
                    </a:cubicBezTo>
                    <a:cubicBezTo>
                      <a:pt x="44" y="0"/>
                      <a:pt x="44" y="0"/>
                      <a:pt x="44" y="0"/>
                    </a:cubicBezTo>
                    <a:cubicBezTo>
                      <a:pt x="69" y="0"/>
                      <a:pt x="69" y="0"/>
                      <a:pt x="69" y="0"/>
                    </a:cubicBezTo>
                    <a:cubicBezTo>
                      <a:pt x="69" y="84"/>
                      <a:pt x="69" y="84"/>
                      <a:pt x="69" y="84"/>
                    </a:cubicBezTo>
                    <a:cubicBezTo>
                      <a:pt x="69" y="125"/>
                      <a:pt x="51" y="162"/>
                      <a:pt x="4" y="183"/>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2" name="Freeform 73"/>
              <p:cNvSpPr>
                <a:spLocks noChangeAspect="1"/>
              </p:cNvSpPr>
              <p:nvPr/>
            </p:nvSpPr>
            <p:spPr bwMode="auto">
              <a:xfrm>
                <a:off x="10350" y="649"/>
                <a:ext cx="103" cy="189"/>
              </a:xfrm>
              <a:custGeom>
                <a:avLst/>
                <a:gdLst>
                  <a:gd name="T0" fmla="*/ 266571 w 61"/>
                  <a:gd name="T1" fmla="*/ 0 h 112"/>
                  <a:gd name="T2" fmla="*/ 22054 w 61"/>
                  <a:gd name="T3" fmla="*/ 484051 h 112"/>
                  <a:gd name="T4" fmla="*/ 0 w 61"/>
                  <a:gd name="T5" fmla="*/ 459211 h 112"/>
                  <a:gd name="T6" fmla="*/ 135442 w 61"/>
                  <a:gd name="T7" fmla="*/ 4531 h 112"/>
                  <a:gd name="T8" fmla="*/ 266571 w 61"/>
                  <a:gd name="T9" fmla="*/ 0 h 1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112">
                    <a:moveTo>
                      <a:pt x="61" y="0"/>
                    </a:moveTo>
                    <a:cubicBezTo>
                      <a:pt x="61" y="0"/>
                      <a:pt x="32" y="81"/>
                      <a:pt x="5" y="112"/>
                    </a:cubicBezTo>
                    <a:cubicBezTo>
                      <a:pt x="0" y="106"/>
                      <a:pt x="0" y="106"/>
                      <a:pt x="0" y="106"/>
                    </a:cubicBezTo>
                    <a:cubicBezTo>
                      <a:pt x="15" y="75"/>
                      <a:pt x="26" y="40"/>
                      <a:pt x="31" y="1"/>
                    </a:cubicBezTo>
                    <a:cubicBezTo>
                      <a:pt x="61" y="0"/>
                      <a:pt x="61" y="0"/>
                      <a:pt x="61"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3" name="Freeform 74"/>
              <p:cNvSpPr>
                <a:spLocks noChangeAspect="1"/>
              </p:cNvSpPr>
              <p:nvPr/>
            </p:nvSpPr>
            <p:spPr bwMode="auto">
              <a:xfrm>
                <a:off x="10261" y="833"/>
                <a:ext cx="68" cy="97"/>
              </a:xfrm>
              <a:custGeom>
                <a:avLst/>
                <a:gdLst>
                  <a:gd name="T0" fmla="*/ 284876 w 39"/>
                  <a:gd name="T1" fmla="*/ 281925 h 57"/>
                  <a:gd name="T2" fmla="*/ 0 w 39"/>
                  <a:gd name="T3" fmla="*/ 0 h 57"/>
                  <a:gd name="T4" fmla="*/ 0 w 39"/>
                  <a:gd name="T5" fmla="*/ 20135 h 57"/>
                  <a:gd name="T6" fmla="*/ 107191 w 39"/>
                  <a:gd name="T7" fmla="*/ 281925 h 57"/>
                  <a:gd name="T8" fmla="*/ 284876 w 39"/>
                  <a:gd name="T9" fmla="*/ 281925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 h="57">
                    <a:moveTo>
                      <a:pt x="39" y="57"/>
                    </a:moveTo>
                    <a:cubicBezTo>
                      <a:pt x="37" y="34"/>
                      <a:pt x="21" y="0"/>
                      <a:pt x="0" y="0"/>
                    </a:cubicBezTo>
                    <a:cubicBezTo>
                      <a:pt x="0" y="4"/>
                      <a:pt x="0" y="4"/>
                      <a:pt x="0" y="4"/>
                    </a:cubicBezTo>
                    <a:cubicBezTo>
                      <a:pt x="8" y="12"/>
                      <a:pt x="13" y="31"/>
                      <a:pt x="15" y="57"/>
                    </a:cubicBezTo>
                    <a:cubicBezTo>
                      <a:pt x="39" y="57"/>
                      <a:pt x="39" y="57"/>
                      <a:pt x="39" y="57"/>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4" name="Freeform 75"/>
              <p:cNvSpPr>
                <a:spLocks noChangeAspect="1"/>
              </p:cNvSpPr>
              <p:nvPr/>
            </p:nvSpPr>
            <p:spPr bwMode="auto">
              <a:xfrm>
                <a:off x="10191" y="800"/>
                <a:ext cx="68" cy="60"/>
              </a:xfrm>
              <a:custGeom>
                <a:avLst/>
                <a:gdLst>
                  <a:gd name="T0" fmla="*/ 57622 w 40"/>
                  <a:gd name="T1" fmla="*/ 195149 h 35"/>
                  <a:gd name="T2" fmla="*/ 0 w 40"/>
                  <a:gd name="T3" fmla="*/ 28853 h 35"/>
                  <a:gd name="T4" fmla="*/ 0 w 40"/>
                  <a:gd name="T5" fmla="*/ 0 h 35"/>
                  <a:gd name="T6" fmla="*/ 195318 w 40"/>
                  <a:gd name="T7" fmla="*/ 195149 h 35"/>
                  <a:gd name="T8" fmla="*/ 57622 w 40"/>
                  <a:gd name="T9" fmla="*/ 195149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35">
                    <a:moveTo>
                      <a:pt x="12" y="35"/>
                    </a:moveTo>
                    <a:cubicBezTo>
                      <a:pt x="12" y="22"/>
                      <a:pt x="6" y="13"/>
                      <a:pt x="0" y="5"/>
                    </a:cubicBezTo>
                    <a:cubicBezTo>
                      <a:pt x="0" y="0"/>
                      <a:pt x="0" y="0"/>
                      <a:pt x="0" y="0"/>
                    </a:cubicBezTo>
                    <a:cubicBezTo>
                      <a:pt x="15" y="3"/>
                      <a:pt x="34" y="11"/>
                      <a:pt x="40" y="35"/>
                    </a:cubicBezTo>
                    <a:cubicBezTo>
                      <a:pt x="12" y="35"/>
                      <a:pt x="12" y="35"/>
                      <a:pt x="12" y="35"/>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5" name="Freeform 76"/>
              <p:cNvSpPr>
                <a:spLocks noChangeAspect="1"/>
              </p:cNvSpPr>
              <p:nvPr/>
            </p:nvSpPr>
            <p:spPr bwMode="auto">
              <a:xfrm>
                <a:off x="10004" y="617"/>
                <a:ext cx="81" cy="92"/>
              </a:xfrm>
              <a:custGeom>
                <a:avLst/>
                <a:gdLst>
                  <a:gd name="T0" fmla="*/ 34192 w 47"/>
                  <a:gd name="T1" fmla="*/ 272007 h 54"/>
                  <a:gd name="T2" fmla="*/ 217526 w 47"/>
                  <a:gd name="T3" fmla="*/ 91603 h 54"/>
                  <a:gd name="T4" fmla="*/ 273234 w 47"/>
                  <a:gd name="T5" fmla="*/ 79691 h 54"/>
                  <a:gd name="T6" fmla="*/ 284755 w 47"/>
                  <a:gd name="T7" fmla="*/ 56197 h 54"/>
                  <a:gd name="T8" fmla="*/ 91994 w 47"/>
                  <a:gd name="T9" fmla="*/ 0 h 54"/>
                  <a:gd name="T10" fmla="*/ 0 w 47"/>
                  <a:gd name="T11" fmla="*/ 272007 h 54"/>
                  <a:gd name="T12" fmla="*/ 34192 w 47"/>
                  <a:gd name="T13" fmla="*/ 272007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7" h="54">
                    <a:moveTo>
                      <a:pt x="6" y="54"/>
                    </a:moveTo>
                    <a:cubicBezTo>
                      <a:pt x="15" y="43"/>
                      <a:pt x="30" y="27"/>
                      <a:pt x="36" y="18"/>
                    </a:cubicBezTo>
                    <a:cubicBezTo>
                      <a:pt x="39" y="14"/>
                      <a:pt x="41" y="14"/>
                      <a:pt x="45" y="16"/>
                    </a:cubicBezTo>
                    <a:cubicBezTo>
                      <a:pt x="47" y="11"/>
                      <a:pt x="47" y="11"/>
                      <a:pt x="47" y="11"/>
                    </a:cubicBezTo>
                    <a:cubicBezTo>
                      <a:pt x="15" y="0"/>
                      <a:pt x="15" y="0"/>
                      <a:pt x="15" y="0"/>
                    </a:cubicBezTo>
                    <a:cubicBezTo>
                      <a:pt x="12" y="18"/>
                      <a:pt x="7" y="37"/>
                      <a:pt x="0" y="54"/>
                    </a:cubicBezTo>
                    <a:cubicBezTo>
                      <a:pt x="6" y="54"/>
                      <a:pt x="6" y="54"/>
                      <a:pt x="6" y="5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6" name="Freeform 77"/>
              <p:cNvSpPr>
                <a:spLocks noChangeAspect="1"/>
              </p:cNvSpPr>
              <p:nvPr/>
            </p:nvSpPr>
            <p:spPr bwMode="auto">
              <a:xfrm>
                <a:off x="9975" y="776"/>
                <a:ext cx="129" cy="46"/>
              </a:xfrm>
              <a:custGeom>
                <a:avLst/>
                <a:gdLst>
                  <a:gd name="T0" fmla="*/ 57159 w 77"/>
                  <a:gd name="T1" fmla="*/ 101193 h 27"/>
                  <a:gd name="T2" fmla="*/ 38497 w 77"/>
                  <a:gd name="T3" fmla="*/ 135770 h 27"/>
                  <a:gd name="T4" fmla="*/ 27658 w 77"/>
                  <a:gd name="T5" fmla="*/ 135770 h 27"/>
                  <a:gd name="T6" fmla="*/ 0 w 77"/>
                  <a:gd name="T7" fmla="*/ 0 h 27"/>
                  <a:gd name="T8" fmla="*/ 296072 w 77"/>
                  <a:gd name="T9" fmla="*/ 0 h 27"/>
                  <a:gd name="T10" fmla="*/ 296072 w 77"/>
                  <a:gd name="T11" fmla="*/ 20463 h 27"/>
                  <a:gd name="T12" fmla="*/ 57159 w 77"/>
                  <a:gd name="T13" fmla="*/ 101193 h 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 h="27">
                    <a:moveTo>
                      <a:pt x="15" y="20"/>
                    </a:moveTo>
                    <a:cubicBezTo>
                      <a:pt x="12" y="21"/>
                      <a:pt x="11" y="24"/>
                      <a:pt x="10" y="27"/>
                    </a:cubicBezTo>
                    <a:cubicBezTo>
                      <a:pt x="7" y="27"/>
                      <a:pt x="7" y="27"/>
                      <a:pt x="7" y="27"/>
                    </a:cubicBezTo>
                    <a:cubicBezTo>
                      <a:pt x="0" y="0"/>
                      <a:pt x="0" y="0"/>
                      <a:pt x="0" y="0"/>
                    </a:cubicBezTo>
                    <a:cubicBezTo>
                      <a:pt x="77" y="0"/>
                      <a:pt x="77" y="0"/>
                      <a:pt x="77" y="0"/>
                    </a:cubicBezTo>
                    <a:cubicBezTo>
                      <a:pt x="77" y="4"/>
                      <a:pt x="77" y="4"/>
                      <a:pt x="77" y="4"/>
                    </a:cubicBezTo>
                    <a:cubicBezTo>
                      <a:pt x="69" y="7"/>
                      <a:pt x="20" y="19"/>
                      <a:pt x="15" y="2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7" name="Freeform 78"/>
              <p:cNvSpPr>
                <a:spLocks noChangeAspect="1"/>
              </p:cNvSpPr>
              <p:nvPr/>
            </p:nvSpPr>
            <p:spPr bwMode="auto">
              <a:xfrm>
                <a:off x="10121" y="768"/>
                <a:ext cx="143" cy="51"/>
              </a:xfrm>
              <a:custGeom>
                <a:avLst/>
                <a:gdLst>
                  <a:gd name="T0" fmla="*/ 70829 w 85"/>
                  <a:gd name="T1" fmla="*/ 105919 h 30"/>
                  <a:gd name="T2" fmla="*/ 49539 w 85"/>
                  <a:gd name="T3" fmla="*/ 146856 h 30"/>
                  <a:gd name="T4" fmla="*/ 31765 w 85"/>
                  <a:gd name="T5" fmla="*/ 146856 h 30"/>
                  <a:gd name="T6" fmla="*/ 0 w 85"/>
                  <a:gd name="T7" fmla="*/ 0 h 30"/>
                  <a:gd name="T8" fmla="*/ 350220 w 85"/>
                  <a:gd name="T9" fmla="*/ 0 h 30"/>
                  <a:gd name="T10" fmla="*/ 350220 w 85"/>
                  <a:gd name="T11" fmla="*/ 19938 h 30"/>
                  <a:gd name="T12" fmla="*/ 70829 w 85"/>
                  <a:gd name="T13" fmla="*/ 105919 h 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5" h="30">
                    <a:moveTo>
                      <a:pt x="17" y="22"/>
                    </a:moveTo>
                    <a:cubicBezTo>
                      <a:pt x="14" y="23"/>
                      <a:pt x="12" y="27"/>
                      <a:pt x="12" y="30"/>
                    </a:cubicBezTo>
                    <a:cubicBezTo>
                      <a:pt x="8" y="30"/>
                      <a:pt x="8" y="30"/>
                      <a:pt x="8" y="30"/>
                    </a:cubicBezTo>
                    <a:cubicBezTo>
                      <a:pt x="0" y="0"/>
                      <a:pt x="0" y="0"/>
                      <a:pt x="0" y="0"/>
                    </a:cubicBezTo>
                    <a:cubicBezTo>
                      <a:pt x="85" y="0"/>
                      <a:pt x="85" y="0"/>
                      <a:pt x="85" y="0"/>
                    </a:cubicBezTo>
                    <a:cubicBezTo>
                      <a:pt x="85" y="4"/>
                      <a:pt x="85" y="4"/>
                      <a:pt x="85" y="4"/>
                    </a:cubicBezTo>
                    <a:cubicBezTo>
                      <a:pt x="76" y="7"/>
                      <a:pt x="23" y="21"/>
                      <a:pt x="17" y="22"/>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8" name="Freeform 79"/>
              <p:cNvSpPr>
                <a:spLocks noChangeAspect="1"/>
              </p:cNvSpPr>
              <p:nvPr/>
            </p:nvSpPr>
            <p:spPr bwMode="auto">
              <a:xfrm>
                <a:off x="10226" y="622"/>
                <a:ext cx="97" cy="119"/>
              </a:xfrm>
              <a:custGeom>
                <a:avLst/>
                <a:gdLst>
                  <a:gd name="T0" fmla="*/ 34265 w 57"/>
                  <a:gd name="T1" fmla="*/ 0 h 70"/>
                  <a:gd name="T2" fmla="*/ 281925 w 57"/>
                  <a:gd name="T3" fmla="*/ 223797 h 70"/>
                  <a:gd name="T4" fmla="*/ 256214 w 57"/>
                  <a:gd name="T5" fmla="*/ 286300 h 70"/>
                  <a:gd name="T6" fmla="*/ 218808 w 57"/>
                  <a:gd name="T7" fmla="*/ 339811 h 70"/>
                  <a:gd name="T8" fmla="*/ 0 w 57"/>
                  <a:gd name="T9" fmla="*/ 0 h 70"/>
                  <a:gd name="T10" fmla="*/ 34265 w 57"/>
                  <a:gd name="T11" fmla="*/ 0 h 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0">
                    <a:moveTo>
                      <a:pt x="7" y="0"/>
                    </a:moveTo>
                    <a:cubicBezTo>
                      <a:pt x="16" y="18"/>
                      <a:pt x="32" y="33"/>
                      <a:pt x="57" y="46"/>
                    </a:cubicBezTo>
                    <a:cubicBezTo>
                      <a:pt x="57" y="46"/>
                      <a:pt x="56" y="51"/>
                      <a:pt x="52" y="59"/>
                    </a:cubicBezTo>
                    <a:cubicBezTo>
                      <a:pt x="47" y="67"/>
                      <a:pt x="44" y="70"/>
                      <a:pt x="44" y="70"/>
                    </a:cubicBezTo>
                    <a:cubicBezTo>
                      <a:pt x="17" y="53"/>
                      <a:pt x="4" y="22"/>
                      <a:pt x="0" y="0"/>
                    </a:cubicBezTo>
                    <a:cubicBezTo>
                      <a:pt x="7" y="0"/>
                      <a:pt x="7" y="0"/>
                      <a:pt x="7"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79" name="Freeform 80"/>
              <p:cNvSpPr>
                <a:spLocks noChangeAspect="1"/>
              </p:cNvSpPr>
              <p:nvPr/>
            </p:nvSpPr>
            <p:spPr bwMode="auto">
              <a:xfrm>
                <a:off x="10107" y="617"/>
                <a:ext cx="103" cy="121"/>
              </a:xfrm>
              <a:custGeom>
                <a:avLst/>
                <a:gdLst>
                  <a:gd name="T0" fmla="*/ 139548 w 61"/>
                  <a:gd name="T1" fmla="*/ 0 h 72"/>
                  <a:gd name="T2" fmla="*/ 266571 w 61"/>
                  <a:gd name="T3" fmla="*/ 41678 h 72"/>
                  <a:gd name="T4" fmla="*/ 262083 w 61"/>
                  <a:gd name="T5" fmla="*/ 52803 h 72"/>
                  <a:gd name="T6" fmla="*/ 258277 w 61"/>
                  <a:gd name="T7" fmla="*/ 52803 h 72"/>
                  <a:gd name="T8" fmla="*/ 235630 w 61"/>
                  <a:gd name="T9" fmla="*/ 70042 h 72"/>
                  <a:gd name="T10" fmla="*/ 0 w 61"/>
                  <a:gd name="T11" fmla="*/ 290671 h 72"/>
                  <a:gd name="T12" fmla="*/ 0 w 61"/>
                  <a:gd name="T13" fmla="*/ 263010 h 72"/>
                  <a:gd name="T14" fmla="*/ 139548 w 61"/>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72">
                    <a:moveTo>
                      <a:pt x="32" y="0"/>
                    </a:moveTo>
                    <a:cubicBezTo>
                      <a:pt x="61" y="10"/>
                      <a:pt x="61" y="10"/>
                      <a:pt x="61" y="10"/>
                    </a:cubicBezTo>
                    <a:cubicBezTo>
                      <a:pt x="60" y="13"/>
                      <a:pt x="60" y="13"/>
                      <a:pt x="60" y="13"/>
                    </a:cubicBezTo>
                    <a:cubicBezTo>
                      <a:pt x="59" y="13"/>
                      <a:pt x="59" y="13"/>
                      <a:pt x="59" y="13"/>
                    </a:cubicBezTo>
                    <a:cubicBezTo>
                      <a:pt x="56" y="13"/>
                      <a:pt x="55" y="15"/>
                      <a:pt x="54" y="17"/>
                    </a:cubicBezTo>
                    <a:cubicBezTo>
                      <a:pt x="41" y="36"/>
                      <a:pt x="19" y="59"/>
                      <a:pt x="0" y="72"/>
                    </a:cubicBezTo>
                    <a:cubicBezTo>
                      <a:pt x="0" y="65"/>
                      <a:pt x="0" y="65"/>
                      <a:pt x="0" y="65"/>
                    </a:cubicBezTo>
                    <a:cubicBezTo>
                      <a:pt x="15" y="43"/>
                      <a:pt x="25" y="23"/>
                      <a:pt x="32"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0" name="Freeform 81"/>
              <p:cNvSpPr>
                <a:spLocks noChangeAspect="1"/>
              </p:cNvSpPr>
              <p:nvPr/>
            </p:nvSpPr>
            <p:spPr bwMode="auto">
              <a:xfrm>
                <a:off x="10012" y="660"/>
                <a:ext cx="114" cy="124"/>
              </a:xfrm>
              <a:custGeom>
                <a:avLst/>
                <a:gdLst>
                  <a:gd name="T0" fmla="*/ 191358 w 67"/>
                  <a:gd name="T1" fmla="*/ 0 h 72"/>
                  <a:gd name="T2" fmla="*/ 330542 w 67"/>
                  <a:gd name="T3" fmla="*/ 58506 h 72"/>
                  <a:gd name="T4" fmla="*/ 325594 w 67"/>
                  <a:gd name="T5" fmla="*/ 76231 h 72"/>
                  <a:gd name="T6" fmla="*/ 322588 w 67"/>
                  <a:gd name="T7" fmla="*/ 76231 h 72"/>
                  <a:gd name="T8" fmla="*/ 296931 w 67"/>
                  <a:gd name="T9" fmla="*/ 100760 h 72"/>
                  <a:gd name="T10" fmla="*/ 28650 w 67"/>
                  <a:gd name="T11" fmla="*/ 432951 h 72"/>
                  <a:gd name="T12" fmla="*/ 0 w 67"/>
                  <a:gd name="T13" fmla="*/ 424276 h 72"/>
                  <a:gd name="T14" fmla="*/ 191358 w 67"/>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 h="72">
                    <a:moveTo>
                      <a:pt x="39" y="0"/>
                    </a:moveTo>
                    <a:cubicBezTo>
                      <a:pt x="67" y="10"/>
                      <a:pt x="67" y="10"/>
                      <a:pt x="67" y="10"/>
                    </a:cubicBezTo>
                    <a:cubicBezTo>
                      <a:pt x="66" y="13"/>
                      <a:pt x="66" y="13"/>
                      <a:pt x="66" y="13"/>
                    </a:cubicBezTo>
                    <a:cubicBezTo>
                      <a:pt x="65" y="13"/>
                      <a:pt x="65" y="13"/>
                      <a:pt x="65" y="13"/>
                    </a:cubicBezTo>
                    <a:cubicBezTo>
                      <a:pt x="62" y="13"/>
                      <a:pt x="61" y="15"/>
                      <a:pt x="60" y="17"/>
                    </a:cubicBezTo>
                    <a:cubicBezTo>
                      <a:pt x="47" y="41"/>
                      <a:pt x="28" y="60"/>
                      <a:pt x="6" y="72"/>
                    </a:cubicBezTo>
                    <a:cubicBezTo>
                      <a:pt x="0" y="71"/>
                      <a:pt x="0" y="71"/>
                      <a:pt x="0" y="71"/>
                    </a:cubicBezTo>
                    <a:cubicBezTo>
                      <a:pt x="21" y="48"/>
                      <a:pt x="32" y="27"/>
                      <a:pt x="39"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1" name="Freeform 82"/>
              <p:cNvSpPr>
                <a:spLocks noChangeAspect="1"/>
              </p:cNvSpPr>
              <p:nvPr/>
            </p:nvSpPr>
            <p:spPr bwMode="auto">
              <a:xfrm>
                <a:off x="10145" y="679"/>
                <a:ext cx="89" cy="105"/>
              </a:xfrm>
              <a:custGeom>
                <a:avLst/>
                <a:gdLst>
                  <a:gd name="T0" fmla="*/ 91959 w 53"/>
                  <a:gd name="T1" fmla="*/ 0 h 63"/>
                  <a:gd name="T2" fmla="*/ 211036 w 53"/>
                  <a:gd name="T3" fmla="*/ 32255 h 63"/>
                  <a:gd name="T4" fmla="*/ 206645 w 53"/>
                  <a:gd name="T5" fmla="*/ 42153 h 63"/>
                  <a:gd name="T6" fmla="*/ 200043 w 53"/>
                  <a:gd name="T7" fmla="*/ 42153 h 63"/>
                  <a:gd name="T8" fmla="*/ 182919 w 53"/>
                  <a:gd name="T9" fmla="*/ 57328 h 63"/>
                  <a:gd name="T10" fmla="*/ 0 w 53"/>
                  <a:gd name="T11" fmla="*/ 223728 h 63"/>
                  <a:gd name="T12" fmla="*/ 0 w 53"/>
                  <a:gd name="T13" fmla="*/ 201217 h 63"/>
                  <a:gd name="T14" fmla="*/ 91959 w 53"/>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3" h="63">
                    <a:moveTo>
                      <a:pt x="23" y="0"/>
                    </a:moveTo>
                    <a:cubicBezTo>
                      <a:pt x="53" y="9"/>
                      <a:pt x="53" y="9"/>
                      <a:pt x="53" y="9"/>
                    </a:cubicBezTo>
                    <a:cubicBezTo>
                      <a:pt x="52" y="12"/>
                      <a:pt x="52" y="12"/>
                      <a:pt x="52" y="12"/>
                    </a:cubicBezTo>
                    <a:cubicBezTo>
                      <a:pt x="50" y="12"/>
                      <a:pt x="50" y="12"/>
                      <a:pt x="50" y="12"/>
                    </a:cubicBezTo>
                    <a:cubicBezTo>
                      <a:pt x="48" y="13"/>
                      <a:pt x="47" y="14"/>
                      <a:pt x="46" y="16"/>
                    </a:cubicBezTo>
                    <a:cubicBezTo>
                      <a:pt x="36" y="33"/>
                      <a:pt x="18" y="50"/>
                      <a:pt x="0" y="63"/>
                    </a:cubicBezTo>
                    <a:cubicBezTo>
                      <a:pt x="0" y="57"/>
                      <a:pt x="0" y="57"/>
                      <a:pt x="0" y="57"/>
                    </a:cubicBezTo>
                    <a:cubicBezTo>
                      <a:pt x="13" y="35"/>
                      <a:pt x="18" y="23"/>
                      <a:pt x="23" y="0"/>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2" name="Freeform 83"/>
              <p:cNvSpPr>
                <a:spLocks noChangeAspect="1"/>
              </p:cNvSpPr>
              <p:nvPr/>
            </p:nvSpPr>
            <p:spPr bwMode="auto">
              <a:xfrm>
                <a:off x="10069" y="755"/>
                <a:ext cx="57" cy="64"/>
              </a:xfrm>
              <a:custGeom>
                <a:avLst/>
                <a:gdLst>
                  <a:gd name="T0" fmla="*/ 34435 w 34"/>
                  <a:gd name="T1" fmla="*/ 107627 h 39"/>
                  <a:gd name="T2" fmla="*/ 0 w 34"/>
                  <a:gd name="T3" fmla="*/ 13045 h 39"/>
                  <a:gd name="T4" fmla="*/ 0 w 34"/>
                  <a:gd name="T5" fmla="*/ 0 h 39"/>
                  <a:gd name="T6" fmla="*/ 133023 w 34"/>
                  <a:gd name="T7" fmla="*/ 107627 h 39"/>
                  <a:gd name="T8" fmla="*/ 34435 w 34"/>
                  <a:gd name="T9" fmla="*/ 107627 h 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9">
                    <a:moveTo>
                      <a:pt x="9" y="39"/>
                    </a:moveTo>
                    <a:cubicBezTo>
                      <a:pt x="11" y="26"/>
                      <a:pt x="4" y="12"/>
                      <a:pt x="0" y="5"/>
                    </a:cubicBezTo>
                    <a:cubicBezTo>
                      <a:pt x="0" y="0"/>
                      <a:pt x="0" y="0"/>
                      <a:pt x="0" y="0"/>
                    </a:cubicBezTo>
                    <a:cubicBezTo>
                      <a:pt x="12" y="3"/>
                      <a:pt x="32" y="16"/>
                      <a:pt x="34" y="39"/>
                    </a:cubicBezTo>
                    <a:cubicBezTo>
                      <a:pt x="9" y="39"/>
                      <a:pt x="9" y="39"/>
                      <a:pt x="9" y="39"/>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3" name="Freeform 84"/>
              <p:cNvSpPr>
                <a:spLocks noChangeAspect="1"/>
              </p:cNvSpPr>
              <p:nvPr/>
            </p:nvSpPr>
            <p:spPr bwMode="auto">
              <a:xfrm>
                <a:off x="10226" y="730"/>
                <a:ext cx="81" cy="78"/>
              </a:xfrm>
              <a:custGeom>
                <a:avLst/>
                <a:gdLst>
                  <a:gd name="T0" fmla="*/ 140519 w 47"/>
                  <a:gd name="T1" fmla="*/ 214585 h 46"/>
                  <a:gd name="T2" fmla="*/ 0 w 47"/>
                  <a:gd name="T3" fmla="*/ 23471 h 46"/>
                  <a:gd name="T4" fmla="*/ 0 w 47"/>
                  <a:gd name="T5" fmla="*/ 0 h 46"/>
                  <a:gd name="T6" fmla="*/ 284755 w 47"/>
                  <a:gd name="T7" fmla="*/ 214585 h 46"/>
                  <a:gd name="T8" fmla="*/ 140519 w 47"/>
                  <a:gd name="T9" fmla="*/ 214585 h 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 h="46">
                    <a:moveTo>
                      <a:pt x="23" y="46"/>
                    </a:moveTo>
                    <a:cubicBezTo>
                      <a:pt x="21" y="31"/>
                      <a:pt x="12" y="14"/>
                      <a:pt x="0" y="5"/>
                    </a:cubicBezTo>
                    <a:cubicBezTo>
                      <a:pt x="0" y="0"/>
                      <a:pt x="0" y="0"/>
                      <a:pt x="0" y="0"/>
                    </a:cubicBezTo>
                    <a:cubicBezTo>
                      <a:pt x="23" y="3"/>
                      <a:pt x="42" y="17"/>
                      <a:pt x="47" y="46"/>
                    </a:cubicBezTo>
                    <a:cubicBezTo>
                      <a:pt x="23" y="46"/>
                      <a:pt x="23" y="46"/>
                      <a:pt x="23" y="46"/>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4" name="Freeform 85"/>
              <p:cNvSpPr>
                <a:spLocks noChangeAspect="1"/>
              </p:cNvSpPr>
              <p:nvPr/>
            </p:nvSpPr>
            <p:spPr bwMode="auto">
              <a:xfrm>
                <a:off x="10091" y="844"/>
                <a:ext cx="54" cy="99"/>
              </a:xfrm>
              <a:custGeom>
                <a:avLst/>
                <a:gdLst>
                  <a:gd name="T0" fmla="*/ 0 w 32"/>
                  <a:gd name="T1" fmla="*/ 106303 h 60"/>
                  <a:gd name="T2" fmla="*/ 112514 w 32"/>
                  <a:gd name="T3" fmla="*/ 0 h 60"/>
                  <a:gd name="T4" fmla="*/ 138689 w 32"/>
                  <a:gd name="T5" fmla="*/ 0 h 60"/>
                  <a:gd name="T6" fmla="*/ 0 w 32"/>
                  <a:gd name="T7" fmla="*/ 180866 h 60"/>
                  <a:gd name="T8" fmla="*/ 0 w 32"/>
                  <a:gd name="T9" fmla="*/ 106303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60">
                    <a:moveTo>
                      <a:pt x="0" y="35"/>
                    </a:moveTo>
                    <a:cubicBezTo>
                      <a:pt x="15" y="33"/>
                      <a:pt x="22" y="25"/>
                      <a:pt x="26" y="0"/>
                    </a:cubicBezTo>
                    <a:cubicBezTo>
                      <a:pt x="32" y="0"/>
                      <a:pt x="32" y="0"/>
                      <a:pt x="32" y="0"/>
                    </a:cubicBezTo>
                    <a:cubicBezTo>
                      <a:pt x="32" y="39"/>
                      <a:pt x="26" y="53"/>
                      <a:pt x="0" y="60"/>
                    </a:cubicBezTo>
                    <a:cubicBezTo>
                      <a:pt x="0" y="35"/>
                      <a:pt x="0" y="35"/>
                      <a:pt x="0" y="35"/>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sp>
            <p:nvSpPr>
              <p:cNvPr id="85" name="Freeform 86"/>
              <p:cNvSpPr>
                <a:spLocks noChangeAspect="1"/>
              </p:cNvSpPr>
              <p:nvPr/>
            </p:nvSpPr>
            <p:spPr bwMode="auto">
              <a:xfrm>
                <a:off x="9985" y="668"/>
                <a:ext cx="60" cy="73"/>
              </a:xfrm>
              <a:custGeom>
                <a:avLst/>
                <a:gdLst>
                  <a:gd name="T0" fmla="*/ 42153 w 36"/>
                  <a:gd name="T1" fmla="*/ 144777 h 44"/>
                  <a:gd name="T2" fmla="*/ 0 w 36"/>
                  <a:gd name="T3" fmla="*/ 16015 h 44"/>
                  <a:gd name="T4" fmla="*/ 0 w 36"/>
                  <a:gd name="T5" fmla="*/ 0 h 44"/>
                  <a:gd name="T6" fmla="*/ 127700 w 36"/>
                  <a:gd name="T7" fmla="*/ 144777 h 44"/>
                  <a:gd name="T8" fmla="*/ 42153 w 36"/>
                  <a:gd name="T9" fmla="*/ 144777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44">
                    <a:moveTo>
                      <a:pt x="12" y="44"/>
                    </a:moveTo>
                    <a:cubicBezTo>
                      <a:pt x="14" y="32"/>
                      <a:pt x="8" y="15"/>
                      <a:pt x="0" y="5"/>
                    </a:cubicBezTo>
                    <a:cubicBezTo>
                      <a:pt x="0" y="0"/>
                      <a:pt x="0" y="0"/>
                      <a:pt x="0" y="0"/>
                    </a:cubicBezTo>
                    <a:cubicBezTo>
                      <a:pt x="17" y="5"/>
                      <a:pt x="34" y="22"/>
                      <a:pt x="36" y="44"/>
                    </a:cubicBezTo>
                    <a:cubicBezTo>
                      <a:pt x="12" y="44"/>
                      <a:pt x="12" y="44"/>
                      <a:pt x="12" y="44"/>
                    </a:cubicBezTo>
                  </a:path>
                </a:pathLst>
              </a:custGeom>
              <a:solidFill>
                <a:srgbClr val="0076BD"/>
              </a:solidFill>
              <a:ln>
                <a:noFill/>
              </a:ln>
              <a:extLst>
                <a:ext uri="{91240B29-F687-4F45-9708-019B960494DF}">
                  <a14:hiddenLine xmlns:a14="http://schemas.microsoft.com/office/drawing/2010/main" w="9525">
                    <a:solidFill>
                      <a:srgbClr val="000000"/>
                    </a:solidFill>
                    <a:round/>
                    <a:headEnd/>
                    <a:tailEnd/>
                  </a14:hiddenLine>
                </a:ext>
              </a:extLst>
            </p:spPr>
            <p:txBody>
              <a:bodyPr>
                <a:noAutofit/>
              </a:bodyPr>
              <a:lstStyle/>
              <a:p>
                <a:endParaRPr lang="ja-JP" altLang="en-US" dirty="0">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339781869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白紙">
    <p:spTree>
      <p:nvGrpSpPr>
        <p:cNvPr id="1" name=""/>
        <p:cNvGrpSpPr/>
        <p:nvPr/>
      </p:nvGrpSpPr>
      <p:grpSpPr>
        <a:xfrm>
          <a:off x="0" y="0"/>
          <a:ext cx="0" cy="0"/>
          <a:chOff x="0" y="0"/>
          <a:chExt cx="0" cy="0"/>
        </a:xfrm>
      </p:grpSpPr>
      <p:sp>
        <p:nvSpPr>
          <p:cNvPr id="13" name="Rectangle 2"/>
          <p:cNvSpPr>
            <a:spLocks noGrp="1" noChangeArrowheads="1"/>
          </p:cNvSpPr>
          <p:nvPr>
            <p:ph type="title"/>
          </p:nvPr>
        </p:nvSpPr>
        <p:spPr bwMode="auto">
          <a:xfrm>
            <a:off x="307975" y="142877"/>
            <a:ext cx="918368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7200" tIns="72000" rIns="98740" bIns="0" numCol="1" anchor="b" anchorCtr="0" compatLnSpc="1">
            <a:prstTxWarp prst="textNoShape">
              <a:avLst/>
            </a:prstTxWarp>
            <a:spAutoFit/>
          </a:bodyPr>
          <a:lstStyle>
            <a:lvl1pPr>
              <a:defRPr>
                <a:solidFill>
                  <a:srgbClr val="000000"/>
                </a:solidFill>
              </a:defRPr>
            </a:lvl1pPr>
          </a:lstStyle>
          <a:p>
            <a:pPr lvl="0"/>
            <a:r>
              <a:rPr lang="ja-JP" altLang="en-US"/>
              <a:t>マスター タイトルの書式設定</a:t>
            </a:r>
            <a:endParaRPr lang="ja-JP" altLang="en-US" dirty="0"/>
          </a:p>
        </p:txBody>
      </p:sp>
    </p:spTree>
    <p:extLst>
      <p:ext uri="{BB962C8B-B14F-4D97-AF65-F5344CB8AC3E}">
        <p14:creationId xmlns:p14="http://schemas.microsoft.com/office/powerpoint/2010/main" val="273159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ユーザー設定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61663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7975" y="142877"/>
            <a:ext cx="918368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7200" tIns="72000" rIns="98740" bIns="0" numCol="1" anchor="b" anchorCtr="0" compatLnSpc="1">
            <a:prstTxWarp prst="textNoShape">
              <a:avLst/>
            </a:prstTxWarp>
            <a:spAutoFit/>
          </a:bodyPr>
          <a:lstStyle/>
          <a:p>
            <a:pPr lvl="0"/>
            <a:r>
              <a:rPr lang="ja-JP" altLang="en-US" dirty="0"/>
              <a:t>マスタ タイトルの書式設定</a:t>
            </a:r>
          </a:p>
        </p:txBody>
      </p:sp>
      <p:grpSp>
        <p:nvGrpSpPr>
          <p:cNvPr id="1027" name="Group 19"/>
          <p:cNvGrpSpPr>
            <a:grpSpLocks/>
          </p:cNvGrpSpPr>
          <p:nvPr/>
        </p:nvGrpSpPr>
        <p:grpSpPr bwMode="auto">
          <a:xfrm>
            <a:off x="485776" y="1220788"/>
            <a:ext cx="8934450" cy="4951412"/>
            <a:chOff x="306" y="828"/>
            <a:chExt cx="5625" cy="3356"/>
          </a:xfrm>
        </p:grpSpPr>
        <p:grpSp>
          <p:nvGrpSpPr>
            <p:cNvPr id="1039" name="Group 20"/>
            <p:cNvGrpSpPr>
              <a:grpSpLocks/>
            </p:cNvGrpSpPr>
            <p:nvPr userDrawn="1"/>
          </p:nvGrpSpPr>
          <p:grpSpPr bwMode="auto">
            <a:xfrm>
              <a:off x="306" y="828"/>
              <a:ext cx="5625" cy="3356"/>
              <a:chOff x="306" y="828"/>
              <a:chExt cx="5625" cy="3356"/>
            </a:xfrm>
          </p:grpSpPr>
          <p:grpSp>
            <p:nvGrpSpPr>
              <p:cNvPr id="1041" name="Group 21"/>
              <p:cNvGrpSpPr>
                <a:grpSpLocks/>
              </p:cNvGrpSpPr>
              <p:nvPr userDrawn="1"/>
            </p:nvGrpSpPr>
            <p:grpSpPr bwMode="auto">
              <a:xfrm>
                <a:off x="306" y="828"/>
                <a:ext cx="5625" cy="3356"/>
                <a:chOff x="306" y="828"/>
                <a:chExt cx="5625" cy="3356"/>
              </a:xfrm>
            </p:grpSpPr>
            <p:grpSp>
              <p:nvGrpSpPr>
                <p:cNvPr id="1045" name="Group 22"/>
                <p:cNvGrpSpPr>
                  <a:grpSpLocks/>
                </p:cNvGrpSpPr>
                <p:nvPr userDrawn="1"/>
              </p:nvGrpSpPr>
              <p:grpSpPr bwMode="auto">
                <a:xfrm>
                  <a:off x="397" y="828"/>
                  <a:ext cx="5443" cy="3356"/>
                  <a:chOff x="397" y="828"/>
                  <a:chExt cx="5443" cy="3356"/>
                </a:xfrm>
              </p:grpSpPr>
              <p:sp>
                <p:nvSpPr>
                  <p:cNvPr id="1083" name="Line 23"/>
                  <p:cNvSpPr>
                    <a:spLocks noChangeShapeType="1"/>
                  </p:cNvSpPr>
                  <p:nvPr userDrawn="1"/>
                </p:nvSpPr>
                <p:spPr bwMode="auto">
                  <a:xfrm>
                    <a:off x="397"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4" name="Line 24"/>
                  <p:cNvSpPr>
                    <a:spLocks noChangeShapeType="1"/>
                  </p:cNvSpPr>
                  <p:nvPr userDrawn="1"/>
                </p:nvSpPr>
                <p:spPr bwMode="auto">
                  <a:xfrm>
                    <a:off x="48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5" name="Line 25"/>
                  <p:cNvSpPr>
                    <a:spLocks noChangeShapeType="1"/>
                  </p:cNvSpPr>
                  <p:nvPr userDrawn="1"/>
                </p:nvSpPr>
                <p:spPr bwMode="auto">
                  <a:xfrm>
                    <a:off x="57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6" name="Line 26"/>
                  <p:cNvSpPr>
                    <a:spLocks noChangeShapeType="1"/>
                  </p:cNvSpPr>
                  <p:nvPr userDrawn="1"/>
                </p:nvSpPr>
                <p:spPr bwMode="auto">
                  <a:xfrm>
                    <a:off x="66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7" name="Line 27"/>
                  <p:cNvSpPr>
                    <a:spLocks noChangeShapeType="1"/>
                  </p:cNvSpPr>
                  <p:nvPr userDrawn="1"/>
                </p:nvSpPr>
                <p:spPr bwMode="auto">
                  <a:xfrm>
                    <a:off x="760"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8" name="Line 28"/>
                  <p:cNvSpPr>
                    <a:spLocks noChangeShapeType="1"/>
                  </p:cNvSpPr>
                  <p:nvPr userDrawn="1"/>
                </p:nvSpPr>
                <p:spPr bwMode="auto">
                  <a:xfrm>
                    <a:off x="85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9" name="Line 29"/>
                  <p:cNvSpPr>
                    <a:spLocks noChangeShapeType="1"/>
                  </p:cNvSpPr>
                  <p:nvPr userDrawn="1"/>
                </p:nvSpPr>
                <p:spPr bwMode="auto">
                  <a:xfrm>
                    <a:off x="94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0" name="Line 30"/>
                  <p:cNvSpPr>
                    <a:spLocks noChangeShapeType="1"/>
                  </p:cNvSpPr>
                  <p:nvPr userDrawn="1"/>
                </p:nvSpPr>
                <p:spPr bwMode="auto">
                  <a:xfrm>
                    <a:off x="1032"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1" name="Line 31"/>
                  <p:cNvSpPr>
                    <a:spLocks noChangeShapeType="1"/>
                  </p:cNvSpPr>
                  <p:nvPr userDrawn="1"/>
                </p:nvSpPr>
                <p:spPr bwMode="auto">
                  <a:xfrm>
                    <a:off x="112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2" name="Line 32"/>
                  <p:cNvSpPr>
                    <a:spLocks noChangeShapeType="1"/>
                  </p:cNvSpPr>
                  <p:nvPr userDrawn="1"/>
                </p:nvSpPr>
                <p:spPr bwMode="auto">
                  <a:xfrm>
                    <a:off x="121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3" name="Line 33"/>
                  <p:cNvSpPr>
                    <a:spLocks noChangeShapeType="1"/>
                  </p:cNvSpPr>
                  <p:nvPr userDrawn="1"/>
                </p:nvSpPr>
                <p:spPr bwMode="auto">
                  <a:xfrm>
                    <a:off x="130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4" name="Line 34"/>
                  <p:cNvSpPr>
                    <a:spLocks noChangeShapeType="1"/>
                  </p:cNvSpPr>
                  <p:nvPr userDrawn="1"/>
                </p:nvSpPr>
                <p:spPr bwMode="auto">
                  <a:xfrm>
                    <a:off x="148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5" name="Line 35"/>
                  <p:cNvSpPr>
                    <a:spLocks noChangeShapeType="1"/>
                  </p:cNvSpPr>
                  <p:nvPr userDrawn="1"/>
                </p:nvSpPr>
                <p:spPr bwMode="auto">
                  <a:xfrm>
                    <a:off x="157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6" name="Line 36"/>
                  <p:cNvSpPr>
                    <a:spLocks noChangeShapeType="1"/>
                  </p:cNvSpPr>
                  <p:nvPr userDrawn="1"/>
                </p:nvSpPr>
                <p:spPr bwMode="auto">
                  <a:xfrm>
                    <a:off x="1667"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7" name="Line 37"/>
                  <p:cNvSpPr>
                    <a:spLocks noChangeShapeType="1"/>
                  </p:cNvSpPr>
                  <p:nvPr userDrawn="1"/>
                </p:nvSpPr>
                <p:spPr bwMode="auto">
                  <a:xfrm>
                    <a:off x="175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8" name="Line 38"/>
                  <p:cNvSpPr>
                    <a:spLocks noChangeShapeType="1"/>
                  </p:cNvSpPr>
                  <p:nvPr userDrawn="1"/>
                </p:nvSpPr>
                <p:spPr bwMode="auto">
                  <a:xfrm>
                    <a:off x="184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99" name="Line 39"/>
                  <p:cNvSpPr>
                    <a:spLocks noChangeShapeType="1"/>
                  </p:cNvSpPr>
                  <p:nvPr userDrawn="1"/>
                </p:nvSpPr>
                <p:spPr bwMode="auto">
                  <a:xfrm>
                    <a:off x="193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0" name="Line 40"/>
                  <p:cNvSpPr>
                    <a:spLocks noChangeShapeType="1"/>
                  </p:cNvSpPr>
                  <p:nvPr userDrawn="1"/>
                </p:nvSpPr>
                <p:spPr bwMode="auto">
                  <a:xfrm>
                    <a:off x="2030"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1" name="Line 41"/>
                  <p:cNvSpPr>
                    <a:spLocks noChangeShapeType="1"/>
                  </p:cNvSpPr>
                  <p:nvPr userDrawn="1"/>
                </p:nvSpPr>
                <p:spPr bwMode="auto">
                  <a:xfrm>
                    <a:off x="212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2" name="Line 42"/>
                  <p:cNvSpPr>
                    <a:spLocks noChangeShapeType="1"/>
                  </p:cNvSpPr>
                  <p:nvPr userDrawn="1"/>
                </p:nvSpPr>
                <p:spPr bwMode="auto">
                  <a:xfrm>
                    <a:off x="221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3" name="Line 43"/>
                  <p:cNvSpPr>
                    <a:spLocks noChangeShapeType="1"/>
                  </p:cNvSpPr>
                  <p:nvPr userDrawn="1"/>
                </p:nvSpPr>
                <p:spPr bwMode="auto">
                  <a:xfrm>
                    <a:off x="3572"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4" name="Line 44"/>
                  <p:cNvSpPr>
                    <a:spLocks noChangeShapeType="1"/>
                  </p:cNvSpPr>
                  <p:nvPr userDrawn="1"/>
                </p:nvSpPr>
                <p:spPr bwMode="auto">
                  <a:xfrm>
                    <a:off x="366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5" name="Line 45"/>
                  <p:cNvSpPr>
                    <a:spLocks noChangeShapeType="1"/>
                  </p:cNvSpPr>
                  <p:nvPr userDrawn="1"/>
                </p:nvSpPr>
                <p:spPr bwMode="auto">
                  <a:xfrm>
                    <a:off x="375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6" name="Line 46"/>
                  <p:cNvSpPr>
                    <a:spLocks noChangeShapeType="1"/>
                  </p:cNvSpPr>
                  <p:nvPr userDrawn="1"/>
                </p:nvSpPr>
                <p:spPr bwMode="auto">
                  <a:xfrm>
                    <a:off x="384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7" name="Line 47"/>
                  <p:cNvSpPr>
                    <a:spLocks noChangeShapeType="1"/>
                  </p:cNvSpPr>
                  <p:nvPr userDrawn="1"/>
                </p:nvSpPr>
                <p:spPr bwMode="auto">
                  <a:xfrm>
                    <a:off x="3935"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8" name="Line 48"/>
                  <p:cNvSpPr>
                    <a:spLocks noChangeShapeType="1"/>
                  </p:cNvSpPr>
                  <p:nvPr userDrawn="1"/>
                </p:nvSpPr>
                <p:spPr bwMode="auto">
                  <a:xfrm>
                    <a:off x="402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09" name="Line 49"/>
                  <p:cNvSpPr>
                    <a:spLocks noChangeShapeType="1"/>
                  </p:cNvSpPr>
                  <p:nvPr userDrawn="1"/>
                </p:nvSpPr>
                <p:spPr bwMode="auto">
                  <a:xfrm>
                    <a:off x="411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0" name="Line 50"/>
                  <p:cNvSpPr>
                    <a:spLocks noChangeShapeType="1"/>
                  </p:cNvSpPr>
                  <p:nvPr userDrawn="1"/>
                </p:nvSpPr>
                <p:spPr bwMode="auto">
                  <a:xfrm>
                    <a:off x="429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1" name="Line 51"/>
                  <p:cNvSpPr>
                    <a:spLocks noChangeShapeType="1"/>
                  </p:cNvSpPr>
                  <p:nvPr userDrawn="1"/>
                </p:nvSpPr>
                <p:spPr bwMode="auto">
                  <a:xfrm>
                    <a:off x="438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2" name="Line 52"/>
                  <p:cNvSpPr>
                    <a:spLocks noChangeShapeType="1"/>
                  </p:cNvSpPr>
                  <p:nvPr userDrawn="1"/>
                </p:nvSpPr>
                <p:spPr bwMode="auto">
                  <a:xfrm>
                    <a:off x="447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3" name="Line 53"/>
                  <p:cNvSpPr>
                    <a:spLocks noChangeShapeType="1"/>
                  </p:cNvSpPr>
                  <p:nvPr userDrawn="1"/>
                </p:nvSpPr>
                <p:spPr bwMode="auto">
                  <a:xfrm>
                    <a:off x="4570"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4" name="Line 54"/>
                  <p:cNvSpPr>
                    <a:spLocks noChangeShapeType="1"/>
                  </p:cNvSpPr>
                  <p:nvPr userDrawn="1"/>
                </p:nvSpPr>
                <p:spPr bwMode="auto">
                  <a:xfrm>
                    <a:off x="466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5" name="Line 55"/>
                  <p:cNvSpPr>
                    <a:spLocks noChangeShapeType="1"/>
                  </p:cNvSpPr>
                  <p:nvPr userDrawn="1"/>
                </p:nvSpPr>
                <p:spPr bwMode="auto">
                  <a:xfrm>
                    <a:off x="475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6" name="Line 56"/>
                  <p:cNvSpPr>
                    <a:spLocks noChangeShapeType="1"/>
                  </p:cNvSpPr>
                  <p:nvPr userDrawn="1"/>
                </p:nvSpPr>
                <p:spPr bwMode="auto">
                  <a:xfrm>
                    <a:off x="4842"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7" name="Line 57"/>
                  <p:cNvSpPr>
                    <a:spLocks noChangeShapeType="1"/>
                  </p:cNvSpPr>
                  <p:nvPr userDrawn="1"/>
                </p:nvSpPr>
                <p:spPr bwMode="auto">
                  <a:xfrm>
                    <a:off x="493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8" name="Line 58"/>
                  <p:cNvSpPr>
                    <a:spLocks noChangeShapeType="1"/>
                  </p:cNvSpPr>
                  <p:nvPr userDrawn="1"/>
                </p:nvSpPr>
                <p:spPr bwMode="auto">
                  <a:xfrm>
                    <a:off x="502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19" name="Line 59"/>
                  <p:cNvSpPr>
                    <a:spLocks noChangeShapeType="1"/>
                  </p:cNvSpPr>
                  <p:nvPr userDrawn="1"/>
                </p:nvSpPr>
                <p:spPr bwMode="auto">
                  <a:xfrm>
                    <a:off x="511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0" name="Line 60"/>
                  <p:cNvSpPr>
                    <a:spLocks noChangeShapeType="1"/>
                  </p:cNvSpPr>
                  <p:nvPr userDrawn="1"/>
                </p:nvSpPr>
                <p:spPr bwMode="auto">
                  <a:xfrm>
                    <a:off x="5205"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1" name="Line 61"/>
                  <p:cNvSpPr>
                    <a:spLocks noChangeShapeType="1"/>
                  </p:cNvSpPr>
                  <p:nvPr userDrawn="1"/>
                </p:nvSpPr>
                <p:spPr bwMode="auto">
                  <a:xfrm>
                    <a:off x="2302"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2" name="Line 62"/>
                  <p:cNvSpPr>
                    <a:spLocks noChangeShapeType="1"/>
                  </p:cNvSpPr>
                  <p:nvPr userDrawn="1"/>
                </p:nvSpPr>
                <p:spPr bwMode="auto">
                  <a:xfrm>
                    <a:off x="239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3" name="Line 63"/>
                  <p:cNvSpPr>
                    <a:spLocks noChangeShapeType="1"/>
                  </p:cNvSpPr>
                  <p:nvPr userDrawn="1"/>
                </p:nvSpPr>
                <p:spPr bwMode="auto">
                  <a:xfrm>
                    <a:off x="2483"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4" name="Line 64"/>
                  <p:cNvSpPr>
                    <a:spLocks noChangeShapeType="1"/>
                  </p:cNvSpPr>
                  <p:nvPr userDrawn="1"/>
                </p:nvSpPr>
                <p:spPr bwMode="auto">
                  <a:xfrm>
                    <a:off x="2665"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5" name="Line 65"/>
                  <p:cNvSpPr>
                    <a:spLocks noChangeShapeType="1"/>
                  </p:cNvSpPr>
                  <p:nvPr userDrawn="1"/>
                </p:nvSpPr>
                <p:spPr bwMode="auto">
                  <a:xfrm>
                    <a:off x="275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6" name="Line 66"/>
                  <p:cNvSpPr>
                    <a:spLocks noChangeShapeType="1"/>
                  </p:cNvSpPr>
                  <p:nvPr userDrawn="1"/>
                </p:nvSpPr>
                <p:spPr bwMode="auto">
                  <a:xfrm>
                    <a:off x="284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7" name="Line 67"/>
                  <p:cNvSpPr>
                    <a:spLocks noChangeShapeType="1"/>
                  </p:cNvSpPr>
                  <p:nvPr userDrawn="1"/>
                </p:nvSpPr>
                <p:spPr bwMode="auto">
                  <a:xfrm>
                    <a:off x="2937"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8" name="Line 68"/>
                  <p:cNvSpPr>
                    <a:spLocks noChangeShapeType="1"/>
                  </p:cNvSpPr>
                  <p:nvPr userDrawn="1"/>
                </p:nvSpPr>
                <p:spPr bwMode="auto">
                  <a:xfrm>
                    <a:off x="302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29" name="Line 69"/>
                  <p:cNvSpPr>
                    <a:spLocks noChangeShapeType="1"/>
                  </p:cNvSpPr>
                  <p:nvPr userDrawn="1"/>
                </p:nvSpPr>
                <p:spPr bwMode="auto">
                  <a:xfrm>
                    <a:off x="320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0" name="Line 70"/>
                  <p:cNvSpPr>
                    <a:spLocks noChangeShapeType="1"/>
                  </p:cNvSpPr>
                  <p:nvPr userDrawn="1"/>
                </p:nvSpPr>
                <p:spPr bwMode="auto">
                  <a:xfrm>
                    <a:off x="3300"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1" name="Line 71"/>
                  <p:cNvSpPr>
                    <a:spLocks noChangeShapeType="1"/>
                  </p:cNvSpPr>
                  <p:nvPr userDrawn="1"/>
                </p:nvSpPr>
                <p:spPr bwMode="auto">
                  <a:xfrm>
                    <a:off x="339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2" name="Line 72"/>
                  <p:cNvSpPr>
                    <a:spLocks noChangeShapeType="1"/>
                  </p:cNvSpPr>
                  <p:nvPr userDrawn="1"/>
                </p:nvSpPr>
                <p:spPr bwMode="auto">
                  <a:xfrm>
                    <a:off x="3481"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3" name="Line 73"/>
                  <p:cNvSpPr>
                    <a:spLocks noChangeShapeType="1"/>
                  </p:cNvSpPr>
                  <p:nvPr userDrawn="1"/>
                </p:nvSpPr>
                <p:spPr bwMode="auto">
                  <a:xfrm>
                    <a:off x="529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4" name="Line 74"/>
                  <p:cNvSpPr>
                    <a:spLocks noChangeShapeType="1"/>
                  </p:cNvSpPr>
                  <p:nvPr userDrawn="1"/>
                </p:nvSpPr>
                <p:spPr bwMode="auto">
                  <a:xfrm>
                    <a:off x="5386"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5" name="Line 75"/>
                  <p:cNvSpPr>
                    <a:spLocks noChangeShapeType="1"/>
                  </p:cNvSpPr>
                  <p:nvPr userDrawn="1"/>
                </p:nvSpPr>
                <p:spPr bwMode="auto">
                  <a:xfrm>
                    <a:off x="5477"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6" name="Line 76"/>
                  <p:cNvSpPr>
                    <a:spLocks noChangeShapeType="1"/>
                  </p:cNvSpPr>
                  <p:nvPr userDrawn="1"/>
                </p:nvSpPr>
                <p:spPr bwMode="auto">
                  <a:xfrm>
                    <a:off x="5568"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7" name="Line 77"/>
                  <p:cNvSpPr>
                    <a:spLocks noChangeShapeType="1"/>
                  </p:cNvSpPr>
                  <p:nvPr userDrawn="1"/>
                </p:nvSpPr>
                <p:spPr bwMode="auto">
                  <a:xfrm>
                    <a:off x="565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8" name="Line 78"/>
                  <p:cNvSpPr>
                    <a:spLocks noChangeShapeType="1"/>
                  </p:cNvSpPr>
                  <p:nvPr userDrawn="1"/>
                </p:nvSpPr>
                <p:spPr bwMode="auto">
                  <a:xfrm>
                    <a:off x="574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39" name="Line 79"/>
                  <p:cNvSpPr>
                    <a:spLocks noChangeShapeType="1"/>
                  </p:cNvSpPr>
                  <p:nvPr userDrawn="1"/>
                </p:nvSpPr>
                <p:spPr bwMode="auto">
                  <a:xfrm>
                    <a:off x="1395"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40" name="Line 80"/>
                  <p:cNvSpPr>
                    <a:spLocks noChangeShapeType="1"/>
                  </p:cNvSpPr>
                  <p:nvPr userDrawn="1"/>
                </p:nvSpPr>
                <p:spPr bwMode="auto">
                  <a:xfrm>
                    <a:off x="2574"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41" name="Line 81"/>
                  <p:cNvSpPr>
                    <a:spLocks noChangeShapeType="1"/>
                  </p:cNvSpPr>
                  <p:nvPr userDrawn="1"/>
                </p:nvSpPr>
                <p:spPr bwMode="auto">
                  <a:xfrm>
                    <a:off x="4207"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142" name="Line 82"/>
                  <p:cNvSpPr>
                    <a:spLocks noChangeShapeType="1"/>
                  </p:cNvSpPr>
                  <p:nvPr userDrawn="1"/>
                </p:nvSpPr>
                <p:spPr bwMode="auto">
                  <a:xfrm>
                    <a:off x="5840"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grpSp>
            <p:grpSp>
              <p:nvGrpSpPr>
                <p:cNvPr id="1046" name="Group 83"/>
                <p:cNvGrpSpPr>
                  <a:grpSpLocks/>
                </p:cNvGrpSpPr>
                <p:nvPr userDrawn="1"/>
              </p:nvGrpSpPr>
              <p:grpSpPr bwMode="auto">
                <a:xfrm>
                  <a:off x="306" y="918"/>
                  <a:ext cx="5625" cy="3176"/>
                  <a:chOff x="306" y="918"/>
                  <a:chExt cx="5625" cy="3176"/>
                </a:xfrm>
              </p:grpSpPr>
              <p:sp>
                <p:nvSpPr>
                  <p:cNvPr id="1047" name="Line 84"/>
                  <p:cNvSpPr>
                    <a:spLocks noChangeShapeType="1"/>
                  </p:cNvSpPr>
                  <p:nvPr userDrawn="1"/>
                </p:nvSpPr>
                <p:spPr bwMode="auto">
                  <a:xfrm flipV="1">
                    <a:off x="306" y="918"/>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48" name="Line 85"/>
                  <p:cNvSpPr>
                    <a:spLocks noChangeShapeType="1"/>
                  </p:cNvSpPr>
                  <p:nvPr userDrawn="1"/>
                </p:nvSpPr>
                <p:spPr bwMode="auto">
                  <a:xfrm flipV="1">
                    <a:off x="306" y="1009"/>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49" name="Line 86"/>
                  <p:cNvSpPr>
                    <a:spLocks noChangeShapeType="1"/>
                  </p:cNvSpPr>
                  <p:nvPr userDrawn="1"/>
                </p:nvSpPr>
                <p:spPr bwMode="auto">
                  <a:xfrm flipV="1">
                    <a:off x="306" y="1100"/>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0" name="Line 87"/>
                  <p:cNvSpPr>
                    <a:spLocks noChangeShapeType="1"/>
                  </p:cNvSpPr>
                  <p:nvPr userDrawn="1"/>
                </p:nvSpPr>
                <p:spPr bwMode="auto">
                  <a:xfrm flipV="1">
                    <a:off x="306" y="1191"/>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1" name="Line 88"/>
                  <p:cNvSpPr>
                    <a:spLocks noChangeShapeType="1"/>
                  </p:cNvSpPr>
                  <p:nvPr userDrawn="1"/>
                </p:nvSpPr>
                <p:spPr bwMode="auto">
                  <a:xfrm flipV="1">
                    <a:off x="306" y="1281"/>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2" name="Line 89"/>
                  <p:cNvSpPr>
                    <a:spLocks noChangeShapeType="1"/>
                  </p:cNvSpPr>
                  <p:nvPr userDrawn="1"/>
                </p:nvSpPr>
                <p:spPr bwMode="auto">
                  <a:xfrm flipV="1">
                    <a:off x="306" y="1372"/>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3" name="Line 90"/>
                  <p:cNvSpPr>
                    <a:spLocks noChangeShapeType="1"/>
                  </p:cNvSpPr>
                  <p:nvPr userDrawn="1"/>
                </p:nvSpPr>
                <p:spPr bwMode="auto">
                  <a:xfrm flipV="1">
                    <a:off x="306" y="1463"/>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4" name="Line 91"/>
                  <p:cNvSpPr>
                    <a:spLocks noChangeShapeType="1"/>
                  </p:cNvSpPr>
                  <p:nvPr userDrawn="1"/>
                </p:nvSpPr>
                <p:spPr bwMode="auto">
                  <a:xfrm flipV="1">
                    <a:off x="306" y="1554"/>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5" name="Line 92"/>
                  <p:cNvSpPr>
                    <a:spLocks noChangeShapeType="1"/>
                  </p:cNvSpPr>
                  <p:nvPr userDrawn="1"/>
                </p:nvSpPr>
                <p:spPr bwMode="auto">
                  <a:xfrm flipV="1">
                    <a:off x="306" y="1644"/>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6" name="Line 93"/>
                  <p:cNvSpPr>
                    <a:spLocks noChangeShapeType="1"/>
                  </p:cNvSpPr>
                  <p:nvPr userDrawn="1"/>
                </p:nvSpPr>
                <p:spPr bwMode="auto">
                  <a:xfrm flipV="1">
                    <a:off x="306" y="1735"/>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7" name="Line 94"/>
                  <p:cNvSpPr>
                    <a:spLocks noChangeShapeType="1"/>
                  </p:cNvSpPr>
                  <p:nvPr userDrawn="1"/>
                </p:nvSpPr>
                <p:spPr bwMode="auto">
                  <a:xfrm flipV="1">
                    <a:off x="306" y="1826"/>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8" name="Line 95"/>
                  <p:cNvSpPr>
                    <a:spLocks noChangeShapeType="1"/>
                  </p:cNvSpPr>
                  <p:nvPr userDrawn="1"/>
                </p:nvSpPr>
                <p:spPr bwMode="auto">
                  <a:xfrm flipV="1">
                    <a:off x="306" y="1917"/>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59" name="Line 96"/>
                  <p:cNvSpPr>
                    <a:spLocks noChangeShapeType="1"/>
                  </p:cNvSpPr>
                  <p:nvPr userDrawn="1"/>
                </p:nvSpPr>
                <p:spPr bwMode="auto">
                  <a:xfrm flipV="1">
                    <a:off x="306" y="2007"/>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0" name="Line 97"/>
                  <p:cNvSpPr>
                    <a:spLocks noChangeShapeType="1"/>
                  </p:cNvSpPr>
                  <p:nvPr userDrawn="1"/>
                </p:nvSpPr>
                <p:spPr bwMode="auto">
                  <a:xfrm flipV="1">
                    <a:off x="306" y="2098"/>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1" name="Line 98"/>
                  <p:cNvSpPr>
                    <a:spLocks noChangeShapeType="1"/>
                  </p:cNvSpPr>
                  <p:nvPr userDrawn="1"/>
                </p:nvSpPr>
                <p:spPr bwMode="auto">
                  <a:xfrm flipV="1">
                    <a:off x="306" y="2189"/>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2" name="Line 99"/>
                  <p:cNvSpPr>
                    <a:spLocks noChangeShapeType="1"/>
                  </p:cNvSpPr>
                  <p:nvPr userDrawn="1"/>
                </p:nvSpPr>
                <p:spPr bwMode="auto">
                  <a:xfrm flipV="1">
                    <a:off x="306" y="2280"/>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3" name="Line 100"/>
                  <p:cNvSpPr>
                    <a:spLocks noChangeShapeType="1"/>
                  </p:cNvSpPr>
                  <p:nvPr userDrawn="1"/>
                </p:nvSpPr>
                <p:spPr bwMode="auto">
                  <a:xfrm flipV="1">
                    <a:off x="306" y="2370"/>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4" name="Line 101"/>
                  <p:cNvSpPr>
                    <a:spLocks noChangeShapeType="1"/>
                  </p:cNvSpPr>
                  <p:nvPr userDrawn="1"/>
                </p:nvSpPr>
                <p:spPr bwMode="auto">
                  <a:xfrm flipV="1">
                    <a:off x="306" y="2461"/>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5" name="Line 102"/>
                  <p:cNvSpPr>
                    <a:spLocks noChangeShapeType="1"/>
                  </p:cNvSpPr>
                  <p:nvPr userDrawn="1"/>
                </p:nvSpPr>
                <p:spPr bwMode="auto">
                  <a:xfrm flipV="1">
                    <a:off x="306" y="2552"/>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6" name="Line 103"/>
                  <p:cNvSpPr>
                    <a:spLocks noChangeShapeType="1"/>
                  </p:cNvSpPr>
                  <p:nvPr userDrawn="1"/>
                </p:nvSpPr>
                <p:spPr bwMode="auto">
                  <a:xfrm flipV="1">
                    <a:off x="306" y="2642"/>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7" name="Line 104"/>
                  <p:cNvSpPr>
                    <a:spLocks noChangeShapeType="1"/>
                  </p:cNvSpPr>
                  <p:nvPr userDrawn="1"/>
                </p:nvSpPr>
                <p:spPr bwMode="auto">
                  <a:xfrm flipV="1">
                    <a:off x="306" y="2732"/>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8" name="Line 105"/>
                  <p:cNvSpPr>
                    <a:spLocks noChangeShapeType="1"/>
                  </p:cNvSpPr>
                  <p:nvPr userDrawn="1"/>
                </p:nvSpPr>
                <p:spPr bwMode="auto">
                  <a:xfrm flipV="1">
                    <a:off x="306" y="2823"/>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69" name="Line 106"/>
                  <p:cNvSpPr>
                    <a:spLocks noChangeShapeType="1"/>
                  </p:cNvSpPr>
                  <p:nvPr userDrawn="1"/>
                </p:nvSpPr>
                <p:spPr bwMode="auto">
                  <a:xfrm flipV="1">
                    <a:off x="306" y="2914"/>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0" name="Line 107"/>
                  <p:cNvSpPr>
                    <a:spLocks noChangeShapeType="1"/>
                  </p:cNvSpPr>
                  <p:nvPr userDrawn="1"/>
                </p:nvSpPr>
                <p:spPr bwMode="auto">
                  <a:xfrm flipV="1">
                    <a:off x="306" y="3005"/>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1" name="Line 108"/>
                  <p:cNvSpPr>
                    <a:spLocks noChangeShapeType="1"/>
                  </p:cNvSpPr>
                  <p:nvPr userDrawn="1"/>
                </p:nvSpPr>
                <p:spPr bwMode="auto">
                  <a:xfrm flipV="1">
                    <a:off x="306" y="3095"/>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2" name="Line 109"/>
                  <p:cNvSpPr>
                    <a:spLocks noChangeShapeType="1"/>
                  </p:cNvSpPr>
                  <p:nvPr userDrawn="1"/>
                </p:nvSpPr>
                <p:spPr bwMode="auto">
                  <a:xfrm flipV="1">
                    <a:off x="306" y="3186"/>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3" name="Line 110"/>
                  <p:cNvSpPr>
                    <a:spLocks noChangeShapeType="1"/>
                  </p:cNvSpPr>
                  <p:nvPr userDrawn="1"/>
                </p:nvSpPr>
                <p:spPr bwMode="auto">
                  <a:xfrm flipV="1">
                    <a:off x="306" y="3277"/>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4" name="Line 111"/>
                  <p:cNvSpPr>
                    <a:spLocks noChangeShapeType="1"/>
                  </p:cNvSpPr>
                  <p:nvPr userDrawn="1"/>
                </p:nvSpPr>
                <p:spPr bwMode="auto">
                  <a:xfrm flipV="1">
                    <a:off x="306" y="3368"/>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5" name="Line 112"/>
                  <p:cNvSpPr>
                    <a:spLocks noChangeShapeType="1"/>
                  </p:cNvSpPr>
                  <p:nvPr userDrawn="1"/>
                </p:nvSpPr>
                <p:spPr bwMode="auto">
                  <a:xfrm flipV="1">
                    <a:off x="306" y="3458"/>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6" name="Line 113"/>
                  <p:cNvSpPr>
                    <a:spLocks noChangeShapeType="1"/>
                  </p:cNvSpPr>
                  <p:nvPr userDrawn="1"/>
                </p:nvSpPr>
                <p:spPr bwMode="auto">
                  <a:xfrm flipV="1">
                    <a:off x="306" y="3549"/>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7" name="Line 114"/>
                  <p:cNvSpPr>
                    <a:spLocks noChangeShapeType="1"/>
                  </p:cNvSpPr>
                  <p:nvPr userDrawn="1"/>
                </p:nvSpPr>
                <p:spPr bwMode="auto">
                  <a:xfrm flipV="1">
                    <a:off x="306" y="3640"/>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8" name="Line 115"/>
                  <p:cNvSpPr>
                    <a:spLocks noChangeShapeType="1"/>
                  </p:cNvSpPr>
                  <p:nvPr userDrawn="1"/>
                </p:nvSpPr>
                <p:spPr bwMode="auto">
                  <a:xfrm flipV="1">
                    <a:off x="306" y="3731"/>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79" name="Line 116"/>
                  <p:cNvSpPr>
                    <a:spLocks noChangeShapeType="1"/>
                  </p:cNvSpPr>
                  <p:nvPr userDrawn="1"/>
                </p:nvSpPr>
                <p:spPr bwMode="auto">
                  <a:xfrm flipV="1">
                    <a:off x="306" y="3821"/>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0" name="Line 117"/>
                  <p:cNvSpPr>
                    <a:spLocks noChangeShapeType="1"/>
                  </p:cNvSpPr>
                  <p:nvPr userDrawn="1"/>
                </p:nvSpPr>
                <p:spPr bwMode="auto">
                  <a:xfrm flipV="1">
                    <a:off x="306" y="3912"/>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1" name="Line 118"/>
                  <p:cNvSpPr>
                    <a:spLocks noChangeShapeType="1"/>
                  </p:cNvSpPr>
                  <p:nvPr userDrawn="1"/>
                </p:nvSpPr>
                <p:spPr bwMode="auto">
                  <a:xfrm flipV="1">
                    <a:off x="306" y="4003"/>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82" name="Line 119"/>
                  <p:cNvSpPr>
                    <a:spLocks noChangeShapeType="1"/>
                  </p:cNvSpPr>
                  <p:nvPr userDrawn="1"/>
                </p:nvSpPr>
                <p:spPr bwMode="auto">
                  <a:xfrm flipV="1">
                    <a:off x="306" y="4094"/>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EAEAEA"/>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grpSp>
          </p:grpSp>
          <p:sp>
            <p:nvSpPr>
              <p:cNvPr id="1042" name="Line 120"/>
              <p:cNvSpPr>
                <a:spLocks noChangeShapeType="1"/>
              </p:cNvSpPr>
              <p:nvPr userDrawn="1"/>
            </p:nvSpPr>
            <p:spPr bwMode="auto">
              <a:xfrm flipV="1">
                <a:off x="306" y="2506"/>
                <a:ext cx="56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C0C0C0"/>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43" name="Line 121"/>
              <p:cNvSpPr>
                <a:spLocks noChangeShapeType="1"/>
              </p:cNvSpPr>
              <p:nvPr userDrawn="1"/>
            </p:nvSpPr>
            <p:spPr bwMode="auto">
              <a:xfrm>
                <a:off x="3119" y="828"/>
                <a:ext cx="0" cy="335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C0C0C0"/>
                    </a:solidFill>
                    <a:round/>
                    <a:headEnd/>
                    <a:tailEnd/>
                  </a14:hiddenLine>
                </a:ext>
              </a:extLst>
            </p:spPr>
            <p:txBody>
              <a:bodyPr wrap="none" anchor="ctr"/>
              <a:lstStyle/>
              <a:p>
                <a:endParaRPr lang="ja-JP" altLang="en-US" dirty="0">
                  <a:latin typeface="Meiryo UI" panose="020B0604030504040204" pitchFamily="50" charset="-128"/>
                  <a:ea typeface="Meiryo UI" panose="020B0604030504040204" pitchFamily="50" charset="-128"/>
                </a:endParaRPr>
              </a:p>
            </p:txBody>
          </p:sp>
          <p:sp>
            <p:nvSpPr>
              <p:cNvPr id="1040" name="Rectangle 122"/>
              <p:cNvSpPr>
                <a:spLocks noChangeArrowheads="1"/>
              </p:cNvSpPr>
              <p:nvPr userDrawn="1"/>
            </p:nvSpPr>
            <p:spPr bwMode="auto">
              <a:xfrm>
                <a:off x="306" y="828"/>
                <a:ext cx="5625" cy="3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Lst>
            </p:spPr>
            <p:txBody>
              <a:bodyPr wrap="none" anchor="ctr"/>
              <a:lstStyle>
                <a:lvl1pPr eaLnBrk="0" hangingPunct="0">
                  <a:lnSpc>
                    <a:spcPct val="130000"/>
                  </a:lnSpc>
                  <a:spcBef>
                    <a:spcPct val="20000"/>
                  </a:spcBef>
                  <a:defRPr kumimoji="1" sz="1200">
                    <a:solidFill>
                      <a:schemeClr val="tx1"/>
                    </a:solidFill>
                    <a:latin typeface="Arial" charset="0"/>
                    <a:ea typeface="ＭＳ Ｐゴシック" pitchFamily="50" charset="-128"/>
                  </a:defRPr>
                </a:lvl1pPr>
                <a:lvl2pPr marL="742950" indent="-285750" eaLnBrk="0" hangingPunct="0">
                  <a:lnSpc>
                    <a:spcPct val="130000"/>
                  </a:lnSpc>
                  <a:spcBef>
                    <a:spcPct val="20000"/>
                  </a:spcBef>
                  <a:defRPr kumimoji="1" sz="1200">
                    <a:solidFill>
                      <a:schemeClr val="tx1"/>
                    </a:solidFill>
                    <a:latin typeface="Arial" charset="0"/>
                    <a:ea typeface="ＭＳ Ｐゴシック" pitchFamily="50" charset="-128"/>
                  </a:defRPr>
                </a:lvl2pPr>
                <a:lvl3pPr marL="1143000" indent="-228600" eaLnBrk="0" hangingPunct="0">
                  <a:lnSpc>
                    <a:spcPct val="130000"/>
                  </a:lnSpc>
                  <a:spcBef>
                    <a:spcPct val="20000"/>
                  </a:spcBef>
                  <a:defRPr kumimoji="1" sz="1200">
                    <a:solidFill>
                      <a:schemeClr val="tx1"/>
                    </a:solidFill>
                    <a:latin typeface="Arial" charset="0"/>
                    <a:ea typeface="ＭＳ Ｐゴシック" pitchFamily="50" charset="-128"/>
                  </a:defRPr>
                </a:lvl3pPr>
                <a:lvl4pPr marL="1600200" indent="-228600" eaLnBrk="0" hangingPunct="0">
                  <a:lnSpc>
                    <a:spcPct val="130000"/>
                  </a:lnSpc>
                  <a:spcBef>
                    <a:spcPct val="20000"/>
                  </a:spcBef>
                  <a:defRPr kumimoji="1" sz="1200">
                    <a:solidFill>
                      <a:schemeClr val="tx1"/>
                    </a:solidFill>
                    <a:latin typeface="Arial" charset="0"/>
                    <a:ea typeface="ＭＳ Ｐゴシック" pitchFamily="50" charset="-128"/>
                  </a:defRPr>
                </a:lvl4pPr>
                <a:lvl5pPr marL="2057400" indent="-228600" eaLnBrk="0" hangingPunct="0">
                  <a:lnSpc>
                    <a:spcPct val="130000"/>
                  </a:lnSpc>
                  <a:spcBef>
                    <a:spcPct val="20000"/>
                  </a:spcBef>
                  <a:defRPr kumimoji="1" sz="1200">
                    <a:solidFill>
                      <a:schemeClr val="tx1"/>
                    </a:solidFill>
                    <a:latin typeface="Arial" charset="0"/>
                    <a:ea typeface="ＭＳ Ｐゴシック" pitchFamily="50" charset="-128"/>
                  </a:defRPr>
                </a:lvl5pPr>
                <a:lvl6pPr marL="25146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6pPr>
                <a:lvl7pPr marL="29718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7pPr>
                <a:lvl8pPr marL="34290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8pPr>
                <a:lvl9pPr marL="38862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9pPr>
              </a:lstStyle>
              <a:p>
                <a:pPr eaLnBrk="1" hangingPunct="1">
                  <a:defRPr/>
                </a:pPr>
                <a:endParaRPr lang="ja-JP" altLang="en-US" dirty="0">
                  <a:latin typeface="Calibri" panose="020F0502020204030204" pitchFamily="34" charset="0"/>
                  <a:ea typeface="Meiryo UI" pitchFamily="50" charset="-128"/>
                </a:endParaRPr>
              </a:p>
            </p:txBody>
          </p:sp>
        </p:grpSp>
        <p:sp>
          <p:nvSpPr>
            <p:cNvPr id="1036" name="Rectangle 123"/>
            <p:cNvSpPr>
              <a:spLocks noChangeArrowheads="1"/>
            </p:cNvSpPr>
            <p:nvPr userDrawn="1"/>
          </p:nvSpPr>
          <p:spPr bwMode="auto">
            <a:xfrm>
              <a:off x="1486" y="828"/>
              <a:ext cx="181" cy="33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lnSpc>
                  <a:spcPct val="130000"/>
                </a:lnSpc>
                <a:spcBef>
                  <a:spcPct val="20000"/>
                </a:spcBef>
                <a:defRPr kumimoji="1" sz="1200">
                  <a:solidFill>
                    <a:schemeClr val="tx1"/>
                  </a:solidFill>
                  <a:latin typeface="Arial" charset="0"/>
                  <a:ea typeface="ＭＳ Ｐゴシック" pitchFamily="50" charset="-128"/>
                </a:defRPr>
              </a:lvl1pPr>
              <a:lvl2pPr marL="742950" indent="-285750" eaLnBrk="0" hangingPunct="0">
                <a:lnSpc>
                  <a:spcPct val="130000"/>
                </a:lnSpc>
                <a:spcBef>
                  <a:spcPct val="20000"/>
                </a:spcBef>
                <a:defRPr kumimoji="1" sz="1200">
                  <a:solidFill>
                    <a:schemeClr val="tx1"/>
                  </a:solidFill>
                  <a:latin typeface="Arial" charset="0"/>
                  <a:ea typeface="ＭＳ Ｐゴシック" pitchFamily="50" charset="-128"/>
                </a:defRPr>
              </a:lvl2pPr>
              <a:lvl3pPr marL="1143000" indent="-228600" eaLnBrk="0" hangingPunct="0">
                <a:lnSpc>
                  <a:spcPct val="130000"/>
                </a:lnSpc>
                <a:spcBef>
                  <a:spcPct val="20000"/>
                </a:spcBef>
                <a:defRPr kumimoji="1" sz="1200">
                  <a:solidFill>
                    <a:schemeClr val="tx1"/>
                  </a:solidFill>
                  <a:latin typeface="Arial" charset="0"/>
                  <a:ea typeface="ＭＳ Ｐゴシック" pitchFamily="50" charset="-128"/>
                </a:defRPr>
              </a:lvl3pPr>
              <a:lvl4pPr marL="1600200" indent="-228600" eaLnBrk="0" hangingPunct="0">
                <a:lnSpc>
                  <a:spcPct val="130000"/>
                </a:lnSpc>
                <a:spcBef>
                  <a:spcPct val="20000"/>
                </a:spcBef>
                <a:defRPr kumimoji="1" sz="1200">
                  <a:solidFill>
                    <a:schemeClr val="tx1"/>
                  </a:solidFill>
                  <a:latin typeface="Arial" charset="0"/>
                  <a:ea typeface="ＭＳ Ｐゴシック" pitchFamily="50" charset="-128"/>
                </a:defRPr>
              </a:lvl4pPr>
              <a:lvl5pPr marL="2057400" indent="-228600" eaLnBrk="0" hangingPunct="0">
                <a:lnSpc>
                  <a:spcPct val="130000"/>
                </a:lnSpc>
                <a:spcBef>
                  <a:spcPct val="20000"/>
                </a:spcBef>
                <a:defRPr kumimoji="1" sz="1200">
                  <a:solidFill>
                    <a:schemeClr val="tx1"/>
                  </a:solidFill>
                  <a:latin typeface="Arial" charset="0"/>
                  <a:ea typeface="ＭＳ Ｐゴシック" pitchFamily="50" charset="-128"/>
                </a:defRPr>
              </a:lvl5pPr>
              <a:lvl6pPr marL="25146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6pPr>
              <a:lvl7pPr marL="29718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7pPr>
              <a:lvl8pPr marL="34290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8pPr>
              <a:lvl9pPr marL="3886200" indent="-228600" algn="ctr" eaLnBrk="0" fontAlgn="base" hangingPunct="0">
                <a:lnSpc>
                  <a:spcPct val="130000"/>
                </a:lnSpc>
                <a:spcBef>
                  <a:spcPct val="20000"/>
                </a:spcBef>
                <a:spcAft>
                  <a:spcPct val="0"/>
                </a:spcAft>
                <a:defRPr kumimoji="1" sz="1200">
                  <a:solidFill>
                    <a:schemeClr val="tx1"/>
                  </a:solidFill>
                  <a:latin typeface="Arial" charset="0"/>
                  <a:ea typeface="ＭＳ Ｐゴシック" pitchFamily="50" charset="-128"/>
                </a:defRPr>
              </a:lvl9pPr>
            </a:lstStyle>
            <a:p>
              <a:pPr eaLnBrk="1" hangingPunct="1">
                <a:defRPr/>
              </a:pPr>
              <a:endParaRPr lang="ja-JP" altLang="en-US" dirty="0">
                <a:latin typeface="Calibri" panose="020F0502020204030204" pitchFamily="34" charset="0"/>
                <a:ea typeface="Meiryo UI" pitchFamily="50" charset="-128"/>
              </a:endParaRPr>
            </a:p>
          </p:txBody>
        </p:sp>
      </p:grpSp>
      <p:sp>
        <p:nvSpPr>
          <p:cNvPr id="1028" name="Rectangle 7"/>
          <p:cNvSpPr>
            <a:spLocks noGrp="1" noChangeArrowheads="1"/>
          </p:cNvSpPr>
          <p:nvPr>
            <p:ph type="body" idx="1"/>
          </p:nvPr>
        </p:nvSpPr>
        <p:spPr bwMode="auto">
          <a:xfrm>
            <a:off x="485775" y="752475"/>
            <a:ext cx="7346950" cy="585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ja-JP" altLang="en-US" dirty="0"/>
              <a:t>第</a:t>
            </a:r>
            <a:r>
              <a:rPr lang="en-US" altLang="ja-JP" dirty="0"/>
              <a:t>1</a:t>
            </a:r>
            <a:r>
              <a:rPr lang="ja-JP" altLang="en-US" dirty="0"/>
              <a:t>レベル</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pic>
        <p:nvPicPr>
          <p:cNvPr id="1029" name="Picture 139" descr="elogo_l"/>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69200" y="6665913"/>
            <a:ext cx="1852613" cy="11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0" name="グループ化 7"/>
          <p:cNvGrpSpPr>
            <a:grpSpLocks/>
          </p:cNvGrpSpPr>
          <p:nvPr/>
        </p:nvGrpSpPr>
        <p:grpSpPr bwMode="auto">
          <a:xfrm>
            <a:off x="8761414" y="90490"/>
            <a:ext cx="1008062" cy="134937"/>
            <a:chOff x="8627115" y="413759"/>
            <a:chExt cx="1008062" cy="134938"/>
          </a:xfrm>
        </p:grpSpPr>
        <p:sp>
          <p:nvSpPr>
            <p:cNvPr id="1164" name="Text Box 140"/>
            <p:cNvSpPr txBox="1">
              <a:spLocks noChangeArrowheads="1"/>
            </p:cNvSpPr>
            <p:nvPr userDrawn="1"/>
          </p:nvSpPr>
          <p:spPr bwMode="auto">
            <a:xfrm>
              <a:off x="8627115" y="413759"/>
              <a:ext cx="1008062" cy="1349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lgn="ctr">
                  <a:solidFill>
                    <a:schemeClr val="folHlink"/>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3" tIns="45712" rIns="91423" bIns="45712" anchor="ctr"/>
            <a:lstStyle>
              <a:lvl1pPr marL="176213" indent="-176213" algn="l" defTabSz="762000">
                <a:spcBef>
                  <a:spcPct val="0"/>
                </a:spcBef>
                <a:defRPr kumimoji="1">
                  <a:solidFill>
                    <a:schemeClr val="tx1"/>
                  </a:solidFill>
                  <a:latin typeface="Arial" charset="0"/>
                  <a:ea typeface="ＭＳ Ｐゴシック" pitchFamily="50" charset="-128"/>
                </a:defRPr>
              </a:lvl1pPr>
              <a:lvl2pPr marL="571500" algn="l" defTabSz="762000">
                <a:spcBef>
                  <a:spcPct val="0"/>
                </a:spcBef>
                <a:defRPr kumimoji="1">
                  <a:solidFill>
                    <a:schemeClr val="tx1"/>
                  </a:solidFill>
                  <a:latin typeface="Arial" charset="0"/>
                  <a:ea typeface="ＭＳ Ｐゴシック" pitchFamily="50" charset="-128"/>
                </a:defRPr>
              </a:lvl2pPr>
              <a:lvl3pPr marL="1143000" algn="l" defTabSz="762000">
                <a:spcBef>
                  <a:spcPct val="0"/>
                </a:spcBef>
                <a:defRPr kumimoji="1">
                  <a:solidFill>
                    <a:schemeClr val="tx1"/>
                  </a:solidFill>
                  <a:latin typeface="Arial" charset="0"/>
                  <a:ea typeface="ＭＳ Ｐゴシック" pitchFamily="50" charset="-128"/>
                </a:defRPr>
              </a:lvl3pPr>
              <a:lvl4pPr marL="1714500" algn="l" defTabSz="762000">
                <a:spcBef>
                  <a:spcPct val="0"/>
                </a:spcBef>
                <a:defRPr kumimoji="1">
                  <a:solidFill>
                    <a:schemeClr val="tx1"/>
                  </a:solidFill>
                  <a:latin typeface="Arial" charset="0"/>
                  <a:ea typeface="ＭＳ Ｐゴシック" pitchFamily="50" charset="-128"/>
                </a:defRPr>
              </a:lvl4pPr>
              <a:lvl5pPr marL="2286000" algn="l" defTabSz="762000">
                <a:spcBef>
                  <a:spcPct val="0"/>
                </a:spcBef>
                <a:defRPr kumimoji="1">
                  <a:solidFill>
                    <a:schemeClr val="tx1"/>
                  </a:solidFill>
                  <a:latin typeface="Arial" charset="0"/>
                  <a:ea typeface="ＭＳ Ｐゴシック" pitchFamily="50" charset="-128"/>
                </a:defRPr>
              </a:lvl5pPr>
              <a:lvl6pPr marL="2743200" defTabSz="762000" fontAlgn="base">
                <a:spcBef>
                  <a:spcPct val="0"/>
                </a:spcBef>
                <a:spcAft>
                  <a:spcPct val="0"/>
                </a:spcAft>
                <a:defRPr kumimoji="1">
                  <a:solidFill>
                    <a:schemeClr val="tx1"/>
                  </a:solidFill>
                  <a:latin typeface="Arial" charset="0"/>
                  <a:ea typeface="ＭＳ Ｐゴシック" pitchFamily="50" charset="-128"/>
                </a:defRPr>
              </a:lvl6pPr>
              <a:lvl7pPr marL="3200400" defTabSz="762000" fontAlgn="base">
                <a:spcBef>
                  <a:spcPct val="0"/>
                </a:spcBef>
                <a:spcAft>
                  <a:spcPct val="0"/>
                </a:spcAft>
                <a:defRPr kumimoji="1">
                  <a:solidFill>
                    <a:schemeClr val="tx1"/>
                  </a:solidFill>
                  <a:latin typeface="Arial" charset="0"/>
                  <a:ea typeface="ＭＳ Ｐゴシック" pitchFamily="50" charset="-128"/>
                </a:defRPr>
              </a:lvl7pPr>
              <a:lvl8pPr marL="3657600" defTabSz="762000" fontAlgn="base">
                <a:spcBef>
                  <a:spcPct val="0"/>
                </a:spcBef>
                <a:spcAft>
                  <a:spcPct val="0"/>
                </a:spcAft>
                <a:defRPr kumimoji="1">
                  <a:solidFill>
                    <a:schemeClr val="tx1"/>
                  </a:solidFill>
                  <a:latin typeface="Arial" charset="0"/>
                  <a:ea typeface="ＭＳ Ｐゴシック" pitchFamily="50" charset="-128"/>
                </a:defRPr>
              </a:lvl8pPr>
              <a:lvl9pPr marL="4114800" defTabSz="762000" fontAlgn="base">
                <a:spcBef>
                  <a:spcPct val="0"/>
                </a:spcBef>
                <a:spcAft>
                  <a:spcPct val="0"/>
                </a:spcAft>
                <a:defRPr kumimoji="1">
                  <a:solidFill>
                    <a:schemeClr val="tx1"/>
                  </a:solidFill>
                  <a:latin typeface="Arial" charset="0"/>
                  <a:ea typeface="ＭＳ Ｐゴシック" pitchFamily="50" charset="-128"/>
                </a:defRPr>
              </a:lvl9pPr>
            </a:lstStyle>
            <a:p>
              <a:pPr algn="ctr">
                <a:lnSpc>
                  <a:spcPct val="80000"/>
                </a:lnSpc>
                <a:buClr>
                  <a:schemeClr val="folHlink"/>
                </a:buClr>
                <a:defRPr/>
              </a:pPr>
              <a:r>
                <a:rPr lang="en-US" altLang="ja-JP" sz="1000" dirty="0">
                  <a:solidFill>
                    <a:srgbClr val="CC0000"/>
                  </a:solidFill>
                  <a:effectLst>
                    <a:outerShdw blurRad="38100" dist="38100" dir="2700000" algn="tl">
                      <a:srgbClr val="C0C0C0"/>
                    </a:outerShdw>
                  </a:effectLst>
                  <a:latin typeface="Calibri" panose="020F0502020204030204" pitchFamily="34" charset="0"/>
                  <a:ea typeface="Meiryo UI" pitchFamily="50" charset="-128"/>
                </a:rPr>
                <a:t>Confidential</a:t>
              </a:r>
            </a:p>
          </p:txBody>
        </p:sp>
        <p:sp>
          <p:nvSpPr>
            <p:cNvPr id="1037" name="Line 141"/>
            <p:cNvSpPr>
              <a:spLocks noChangeShapeType="1"/>
            </p:cNvSpPr>
            <p:nvPr userDrawn="1"/>
          </p:nvSpPr>
          <p:spPr bwMode="auto">
            <a:xfrm>
              <a:off x="9635177" y="413759"/>
              <a:ext cx="0" cy="134938"/>
            </a:xfrm>
            <a:prstGeom prst="line">
              <a:avLst/>
            </a:prstGeom>
            <a:noFill/>
            <a:ln w="38100">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ja-JP" altLang="en-US" dirty="0">
                <a:latin typeface="Meiryo UI" panose="020B0604030504040204" pitchFamily="50" charset="-128"/>
                <a:ea typeface="Meiryo UI" panose="020B0604030504040204" pitchFamily="50" charset="-128"/>
              </a:endParaRPr>
            </a:p>
          </p:txBody>
        </p:sp>
        <p:sp>
          <p:nvSpPr>
            <p:cNvPr id="1038" name="Line 142"/>
            <p:cNvSpPr>
              <a:spLocks noChangeShapeType="1"/>
            </p:cNvSpPr>
            <p:nvPr userDrawn="1"/>
          </p:nvSpPr>
          <p:spPr bwMode="auto">
            <a:xfrm>
              <a:off x="8627115" y="413759"/>
              <a:ext cx="0" cy="134938"/>
            </a:xfrm>
            <a:prstGeom prst="line">
              <a:avLst/>
            </a:prstGeom>
            <a:noFill/>
            <a:ln w="38100">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ja-JP" altLang="en-US" dirty="0">
                <a:latin typeface="Meiryo UI" panose="020B0604030504040204" pitchFamily="50" charset="-128"/>
                <a:ea typeface="Meiryo UI" panose="020B0604030504040204" pitchFamily="50" charset="-128"/>
              </a:endParaRPr>
            </a:p>
          </p:txBody>
        </p:sp>
      </p:grpSp>
      <p:sp>
        <p:nvSpPr>
          <p:cNvPr id="120" name="スライド番号プレースホルダー 4"/>
          <p:cNvSpPr txBox="1">
            <a:spLocks noGrp="1"/>
          </p:cNvSpPr>
          <p:nvPr/>
        </p:nvSpPr>
        <p:spPr bwMode="auto">
          <a:xfrm>
            <a:off x="9410701" y="6597652"/>
            <a:ext cx="366713"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eaLnBrk="0" fontAlgn="ctr" hangingPunct="0">
              <a:lnSpc>
                <a:spcPct val="125000"/>
              </a:lnSpc>
              <a:spcBef>
                <a:spcPct val="60000"/>
              </a:spcBef>
              <a:defRPr kumimoji="1" sz="1600" b="1">
                <a:solidFill>
                  <a:schemeClr val="tx1"/>
                </a:solidFill>
                <a:latin typeface="ＭＳ Ｐゴシック" pitchFamily="50" charset="-128"/>
                <a:ea typeface="ＭＳ Ｐゴシック" pitchFamily="50" charset="-128"/>
              </a:defRPr>
            </a:lvl1pPr>
            <a:lvl2pPr marL="742950" indent="-285750" algn="l" eaLnBrk="0" fontAlgn="ctr" hangingPunct="0">
              <a:lnSpc>
                <a:spcPct val="125000"/>
              </a:lnSpc>
              <a:spcBef>
                <a:spcPct val="60000"/>
              </a:spcBef>
              <a:defRPr kumimoji="1" sz="1400">
                <a:solidFill>
                  <a:schemeClr val="tx1"/>
                </a:solidFill>
                <a:latin typeface="ＭＳ Ｐゴシック" pitchFamily="50" charset="-128"/>
                <a:ea typeface="ＭＳ Ｐゴシック" pitchFamily="50" charset="-128"/>
              </a:defRPr>
            </a:lvl2pPr>
            <a:lvl3pPr marL="1143000" indent="-228600" algn="l" eaLnBrk="0" fontAlgn="ctr" hangingPunct="0">
              <a:lnSpc>
                <a:spcPct val="125000"/>
              </a:lnSpc>
              <a:spcBef>
                <a:spcPct val="60000"/>
              </a:spcBef>
              <a:buClr>
                <a:srgbClr val="647E9E"/>
              </a:buClr>
              <a:buSzPct val="80000"/>
              <a:buFont typeface="Wingdings" pitchFamily="2" charset="2"/>
              <a:buChar char="n"/>
              <a:defRPr kumimoji="1" sz="1400">
                <a:solidFill>
                  <a:schemeClr val="tx1"/>
                </a:solidFill>
                <a:latin typeface="ＭＳ Ｐゴシック" pitchFamily="50" charset="-128"/>
                <a:ea typeface="ＭＳ Ｐゴシック" pitchFamily="50" charset="-128"/>
              </a:defRPr>
            </a:lvl3pPr>
            <a:lvl4pPr marL="1600200" indent="-228600" algn="l" eaLnBrk="0" fontAlgn="ctr" hangingPunct="0">
              <a:lnSpc>
                <a:spcPct val="125000"/>
              </a:lnSpc>
              <a:spcBef>
                <a:spcPct val="60000"/>
              </a:spcBef>
              <a:defRPr kumimoji="1" sz="1200">
                <a:solidFill>
                  <a:schemeClr val="tx1"/>
                </a:solidFill>
                <a:latin typeface="ＭＳ Ｐゴシック" pitchFamily="50" charset="-128"/>
                <a:ea typeface="ＭＳ Ｐゴシック" pitchFamily="50" charset="-128"/>
              </a:defRPr>
            </a:lvl4pPr>
            <a:lvl5pPr marL="2057400" indent="-228600" algn="l" eaLnBrk="0" fontAlgn="ctr" hangingPunct="0">
              <a:lnSpc>
                <a:spcPct val="125000"/>
              </a:lnSpc>
              <a:spcBef>
                <a:spcPct val="60000"/>
              </a:spcBef>
              <a:buClr>
                <a:srgbClr val="96A8C0"/>
              </a:buClr>
              <a:buSzPct val="80000"/>
              <a:buFont typeface="Wingdings" pitchFamily="2" charset="2"/>
              <a:buChar char="n"/>
              <a:defRPr kumimoji="1" sz="1200">
                <a:solidFill>
                  <a:schemeClr val="tx1"/>
                </a:solidFill>
                <a:latin typeface="ＭＳ Ｐゴシック" pitchFamily="50" charset="-128"/>
                <a:ea typeface="ＭＳ Ｐゴシック" pitchFamily="50" charset="-128"/>
              </a:defRPr>
            </a:lvl5pPr>
            <a:lvl6pPr marL="2514600" indent="-228600" eaLnBrk="0" fontAlgn="ctr" hangingPunct="0">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ＭＳ Ｐゴシック" pitchFamily="50" charset="-128"/>
                <a:ea typeface="ＭＳ Ｐゴシック" pitchFamily="50" charset="-128"/>
              </a:defRPr>
            </a:lvl6pPr>
            <a:lvl7pPr marL="2971800" indent="-228600" eaLnBrk="0" fontAlgn="ctr" hangingPunct="0">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ＭＳ Ｐゴシック" pitchFamily="50" charset="-128"/>
                <a:ea typeface="ＭＳ Ｐゴシック" pitchFamily="50" charset="-128"/>
              </a:defRPr>
            </a:lvl7pPr>
            <a:lvl8pPr marL="3429000" indent="-228600" eaLnBrk="0" fontAlgn="ctr" hangingPunct="0">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ＭＳ Ｐゴシック" pitchFamily="50" charset="-128"/>
                <a:ea typeface="ＭＳ Ｐゴシック" pitchFamily="50" charset="-128"/>
              </a:defRPr>
            </a:lvl8pPr>
            <a:lvl9pPr marL="3886200" indent="-228600" eaLnBrk="0" fontAlgn="ctr" hangingPunct="0">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ＭＳ Ｐゴシック" pitchFamily="50" charset="-128"/>
                <a:ea typeface="ＭＳ Ｐゴシック" pitchFamily="50" charset="-128"/>
              </a:defRPr>
            </a:lvl9pPr>
          </a:lstStyle>
          <a:p>
            <a:pPr algn="r" eaLnBrk="1" fontAlgn="base" hangingPunct="1">
              <a:lnSpc>
                <a:spcPct val="100000"/>
              </a:lnSpc>
              <a:spcBef>
                <a:spcPct val="0"/>
              </a:spcBef>
              <a:defRPr/>
            </a:pPr>
            <a:fld id="{9FE1BAC6-E614-46E6-A63E-B96BFFB4AC5D}" type="slidenum">
              <a:rPr lang="en-US" altLang="ja-JP" sz="1100" b="0" smtClean="0">
                <a:solidFill>
                  <a:srgbClr val="333333"/>
                </a:solidFill>
                <a:latin typeface="Calibri" panose="020F0502020204030204" pitchFamily="34" charset="0"/>
                <a:ea typeface="Meiryo UI" pitchFamily="50" charset="-128"/>
              </a:rPr>
              <a:pPr algn="r" eaLnBrk="1" fontAlgn="base" hangingPunct="1">
                <a:lnSpc>
                  <a:spcPct val="100000"/>
                </a:lnSpc>
                <a:spcBef>
                  <a:spcPct val="0"/>
                </a:spcBef>
                <a:defRPr/>
              </a:pPr>
              <a:t>‹#›</a:t>
            </a:fld>
            <a:endParaRPr lang="en-US" altLang="ja-JP" sz="1100" b="0" dirty="0">
              <a:solidFill>
                <a:srgbClr val="333333"/>
              </a:solidFill>
              <a:latin typeface="Calibri" panose="020F0502020204030204" pitchFamily="34" charset="0"/>
              <a:ea typeface="Meiryo UI" pitchFamily="50" charset="-128"/>
            </a:endParaRPr>
          </a:p>
        </p:txBody>
      </p:sp>
      <p:sp>
        <p:nvSpPr>
          <p:cNvPr id="119" name="Text Box 12"/>
          <p:cNvSpPr txBox="1">
            <a:spLocks noChangeArrowheads="1"/>
          </p:cNvSpPr>
          <p:nvPr/>
        </p:nvSpPr>
        <p:spPr bwMode="gray">
          <a:xfrm>
            <a:off x="3836988" y="6569075"/>
            <a:ext cx="5600700" cy="24764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6749" tIns="43375" rIns="86749" bIns="43375">
            <a:spAutoFit/>
          </a:bodyPr>
          <a:lstStyle>
            <a:lvl1pPr defTabSz="965200" eaLnBrk="0" hangingPunct="0">
              <a:defRPr kumimoji="1" sz="2600">
                <a:solidFill>
                  <a:schemeClr val="tx1"/>
                </a:solidFill>
                <a:latin typeface="Arial" charset="0"/>
                <a:ea typeface="ＭＳ Ｐゴシック" pitchFamily="50" charset="-128"/>
              </a:defRPr>
            </a:lvl1pPr>
            <a:lvl2pPr marL="433388" defTabSz="965200" eaLnBrk="0" hangingPunct="0">
              <a:defRPr kumimoji="1" sz="2600">
                <a:solidFill>
                  <a:schemeClr val="tx1"/>
                </a:solidFill>
                <a:latin typeface="Arial" charset="0"/>
                <a:ea typeface="ＭＳ Ｐゴシック" pitchFamily="50" charset="-128"/>
              </a:defRPr>
            </a:lvl2pPr>
            <a:lvl3pPr marL="866775" defTabSz="965200" eaLnBrk="0" hangingPunct="0">
              <a:defRPr kumimoji="1" sz="2600">
                <a:solidFill>
                  <a:schemeClr val="tx1"/>
                </a:solidFill>
                <a:latin typeface="Arial" charset="0"/>
                <a:ea typeface="ＭＳ Ｐゴシック" pitchFamily="50" charset="-128"/>
              </a:defRPr>
            </a:lvl3pPr>
            <a:lvl4pPr marL="1301750" defTabSz="965200" eaLnBrk="0" hangingPunct="0">
              <a:defRPr kumimoji="1" sz="2600">
                <a:solidFill>
                  <a:schemeClr val="tx1"/>
                </a:solidFill>
                <a:latin typeface="Arial" charset="0"/>
                <a:ea typeface="ＭＳ Ｐゴシック" pitchFamily="50" charset="-128"/>
              </a:defRPr>
            </a:lvl4pPr>
            <a:lvl5pPr marL="1735138" defTabSz="965200" eaLnBrk="0" hangingPunct="0">
              <a:defRPr kumimoji="1" sz="2600">
                <a:solidFill>
                  <a:schemeClr val="tx1"/>
                </a:solidFill>
                <a:latin typeface="Arial" charset="0"/>
                <a:ea typeface="ＭＳ Ｐゴシック" pitchFamily="50" charset="-128"/>
              </a:defRPr>
            </a:lvl5pPr>
            <a:lvl6pPr marL="2192338" defTabSz="965200" eaLnBrk="0" fontAlgn="base" hangingPunct="0">
              <a:spcBef>
                <a:spcPct val="0"/>
              </a:spcBef>
              <a:spcAft>
                <a:spcPct val="0"/>
              </a:spcAft>
              <a:defRPr kumimoji="1" sz="2600">
                <a:solidFill>
                  <a:schemeClr val="tx1"/>
                </a:solidFill>
                <a:latin typeface="Arial" charset="0"/>
                <a:ea typeface="ＭＳ Ｐゴシック" pitchFamily="50" charset="-128"/>
              </a:defRPr>
            </a:lvl6pPr>
            <a:lvl7pPr marL="2649538" defTabSz="965200" eaLnBrk="0" fontAlgn="base" hangingPunct="0">
              <a:spcBef>
                <a:spcPct val="0"/>
              </a:spcBef>
              <a:spcAft>
                <a:spcPct val="0"/>
              </a:spcAft>
              <a:defRPr kumimoji="1" sz="2600">
                <a:solidFill>
                  <a:schemeClr val="tx1"/>
                </a:solidFill>
                <a:latin typeface="Arial" charset="0"/>
                <a:ea typeface="ＭＳ Ｐゴシック" pitchFamily="50" charset="-128"/>
              </a:defRPr>
            </a:lvl7pPr>
            <a:lvl8pPr marL="3106738" defTabSz="965200" eaLnBrk="0" fontAlgn="base" hangingPunct="0">
              <a:spcBef>
                <a:spcPct val="0"/>
              </a:spcBef>
              <a:spcAft>
                <a:spcPct val="0"/>
              </a:spcAft>
              <a:defRPr kumimoji="1" sz="2600">
                <a:solidFill>
                  <a:schemeClr val="tx1"/>
                </a:solidFill>
                <a:latin typeface="Arial" charset="0"/>
                <a:ea typeface="ＭＳ Ｐゴシック" pitchFamily="50" charset="-128"/>
              </a:defRPr>
            </a:lvl8pPr>
            <a:lvl9pPr marL="3563938" defTabSz="965200" eaLnBrk="0" fontAlgn="base" hangingPunct="0">
              <a:spcBef>
                <a:spcPct val="0"/>
              </a:spcBef>
              <a:spcAft>
                <a:spcPct val="0"/>
              </a:spcAft>
              <a:defRPr kumimoji="1" sz="2600">
                <a:solidFill>
                  <a:schemeClr val="tx1"/>
                </a:solidFill>
                <a:latin typeface="Arial" charset="0"/>
                <a:ea typeface="ＭＳ Ｐゴシック" pitchFamily="50" charset="-128"/>
              </a:defRPr>
            </a:lvl9pPr>
          </a:lstStyle>
          <a:p>
            <a:pPr algn="r" eaLnBrk="1" hangingPunct="1">
              <a:defRPr/>
            </a:pPr>
            <a:r>
              <a:rPr lang="en-US" altLang="ja-JP" sz="800" b="1" dirty="0">
                <a:solidFill>
                  <a:schemeClr val="bg1">
                    <a:lumMod val="50000"/>
                  </a:schemeClr>
                </a:solidFill>
                <a:latin typeface="游ゴシック" panose="020B0400000000000000" pitchFamily="50" charset="-128"/>
                <a:ea typeface="游ゴシック" panose="020B0400000000000000" pitchFamily="50" charset="-128"/>
                <a:cs typeface="Arial" panose="020B0604020202020204" pitchFamily="34" charset="0"/>
              </a:rPr>
              <a:t>Copyright </a:t>
            </a:r>
            <a:r>
              <a:rPr lang="ja-JP" altLang="en-US" sz="800" b="1" dirty="0">
                <a:solidFill>
                  <a:schemeClr val="bg1">
                    <a:lumMod val="50000"/>
                  </a:schemeClr>
                </a:solidFill>
                <a:latin typeface="游ゴシック" panose="020B0400000000000000" pitchFamily="50" charset="-128"/>
                <a:ea typeface="游ゴシック" panose="020B0400000000000000" pitchFamily="50" charset="-128"/>
                <a:cs typeface="Arial" panose="020B0604020202020204" pitchFamily="34" charset="0"/>
              </a:rPr>
              <a:t>（</a:t>
            </a:r>
            <a:r>
              <a:rPr lang="en-US" altLang="ja-JP" sz="800" b="1" dirty="0">
                <a:solidFill>
                  <a:schemeClr val="bg1">
                    <a:lumMod val="50000"/>
                  </a:schemeClr>
                </a:solidFill>
                <a:latin typeface="游ゴシック" panose="020B0400000000000000" pitchFamily="50" charset="-128"/>
                <a:ea typeface="游ゴシック" panose="020B0400000000000000" pitchFamily="50" charset="-128"/>
                <a:cs typeface="Arial" panose="020B0604020202020204" pitchFamily="34" charset="0"/>
              </a:rPr>
              <a:t>C</a:t>
            </a:r>
            <a:r>
              <a:rPr lang="ja-JP" altLang="en-US" sz="800" b="1" dirty="0">
                <a:solidFill>
                  <a:schemeClr val="bg1">
                    <a:lumMod val="50000"/>
                  </a:schemeClr>
                </a:solidFill>
                <a:latin typeface="游ゴシック" panose="020B0400000000000000" pitchFamily="50" charset="-128"/>
                <a:ea typeface="游ゴシック" panose="020B0400000000000000" pitchFamily="50" charset="-128"/>
                <a:cs typeface="Arial" panose="020B0604020202020204" pitchFamily="34" charset="0"/>
              </a:rPr>
              <a:t>）  </a:t>
            </a:r>
            <a:r>
              <a:rPr lang="en-US" altLang="ja-JP" sz="800" b="1" dirty="0">
                <a:solidFill>
                  <a:schemeClr val="bg1">
                    <a:lumMod val="50000"/>
                  </a:schemeClr>
                </a:solidFill>
                <a:latin typeface="游ゴシック" panose="020B0400000000000000" pitchFamily="50" charset="-128"/>
                <a:ea typeface="游ゴシック" panose="020B0400000000000000" pitchFamily="50" charset="-128"/>
                <a:cs typeface="Arial" panose="020B0604020202020204" pitchFamily="34" charset="0"/>
              </a:rPr>
              <a:t>Daiwa Institute of Research Ltd.  All Rights Reserved.</a:t>
            </a:r>
          </a:p>
        </p:txBody>
      </p:sp>
      <p:sp>
        <p:nvSpPr>
          <p:cNvPr id="121" name="正方形/長方形 120"/>
          <p:cNvSpPr/>
          <p:nvPr userDrawn="1"/>
        </p:nvSpPr>
        <p:spPr>
          <a:xfrm>
            <a:off x="117476" y="584540"/>
            <a:ext cx="9374187" cy="45719"/>
          </a:xfrm>
          <a:prstGeom prst="rect">
            <a:avLst/>
          </a:prstGeom>
          <a:solidFill>
            <a:srgbClr val="0071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744810141"/>
      </p:ext>
    </p:extLst>
  </p:cSld>
  <p:clrMap bg1="lt1" tx1="dk1" bg2="lt2" tx2="dk2" accent1="accent1" accent2="accent2" accent3="accent3" accent4="accent4" accent5="accent5" accent6="accent6" hlink="hlink" folHlink="folHlink"/>
  <p:sldLayoutIdLst>
    <p:sldLayoutId id="2147484966" r:id="rId1"/>
    <p:sldLayoutId id="2147484969" r:id="rId2"/>
    <p:sldLayoutId id="2147484971" r:id="rId3"/>
  </p:sldLayoutIdLst>
  <p:hf sldNum="0" hdr="0" ftr="0" dt="0"/>
  <p:txStyles>
    <p:titleStyle>
      <a:lvl1pPr algn="l" defTabSz="987425" rtl="0" eaLnBrk="1" fontAlgn="base" hangingPunct="1">
        <a:spcBef>
          <a:spcPct val="0"/>
        </a:spcBef>
        <a:spcAft>
          <a:spcPct val="0"/>
        </a:spcAft>
        <a:defRPr kumimoji="1" sz="2400" b="1">
          <a:solidFill>
            <a:srgbClr val="000000"/>
          </a:solidFill>
          <a:latin typeface="Calibri" panose="020F0502020204030204" pitchFamily="34" charset="0"/>
          <a:ea typeface="Meiryo UI" pitchFamily="50" charset="-128"/>
          <a:cs typeface="Meiryo UI" pitchFamily="50" charset="-128"/>
        </a:defRPr>
      </a:lvl1pPr>
      <a:lvl2pPr algn="l" defTabSz="987425" rtl="0" eaLnBrk="1" fontAlgn="base" hangingPunct="1">
        <a:spcBef>
          <a:spcPct val="0"/>
        </a:spcBef>
        <a:spcAft>
          <a:spcPct val="0"/>
        </a:spcAft>
        <a:defRPr kumimoji="1" sz="2400" b="1">
          <a:solidFill>
            <a:schemeClr val="tx1"/>
          </a:solidFill>
          <a:latin typeface="Calibri" pitchFamily="34" charset="0"/>
          <a:ea typeface="Meiryo UI" pitchFamily="50" charset="-128"/>
          <a:cs typeface="Meiryo UI" pitchFamily="50" charset="-128"/>
        </a:defRPr>
      </a:lvl2pPr>
      <a:lvl3pPr algn="l" defTabSz="987425" rtl="0" eaLnBrk="1" fontAlgn="base" hangingPunct="1">
        <a:spcBef>
          <a:spcPct val="0"/>
        </a:spcBef>
        <a:spcAft>
          <a:spcPct val="0"/>
        </a:spcAft>
        <a:defRPr kumimoji="1" sz="2400" b="1">
          <a:solidFill>
            <a:schemeClr val="tx1"/>
          </a:solidFill>
          <a:latin typeface="Calibri" pitchFamily="34" charset="0"/>
          <a:ea typeface="Meiryo UI" pitchFamily="50" charset="-128"/>
          <a:cs typeface="Meiryo UI" pitchFamily="50" charset="-128"/>
        </a:defRPr>
      </a:lvl3pPr>
      <a:lvl4pPr algn="l" defTabSz="987425" rtl="0" eaLnBrk="1" fontAlgn="base" hangingPunct="1">
        <a:spcBef>
          <a:spcPct val="0"/>
        </a:spcBef>
        <a:spcAft>
          <a:spcPct val="0"/>
        </a:spcAft>
        <a:defRPr kumimoji="1" sz="2400" b="1">
          <a:solidFill>
            <a:schemeClr val="tx1"/>
          </a:solidFill>
          <a:latin typeface="Calibri" pitchFamily="34" charset="0"/>
          <a:ea typeface="Meiryo UI" pitchFamily="50" charset="-128"/>
          <a:cs typeface="Meiryo UI" pitchFamily="50" charset="-128"/>
        </a:defRPr>
      </a:lvl4pPr>
      <a:lvl5pPr algn="l" defTabSz="987425" rtl="0" eaLnBrk="1" fontAlgn="base" hangingPunct="1">
        <a:spcBef>
          <a:spcPct val="0"/>
        </a:spcBef>
        <a:spcAft>
          <a:spcPct val="0"/>
        </a:spcAft>
        <a:defRPr kumimoji="1" sz="2400" b="1">
          <a:solidFill>
            <a:schemeClr val="tx1"/>
          </a:solidFill>
          <a:latin typeface="Calibri" pitchFamily="34" charset="0"/>
          <a:ea typeface="Meiryo UI" pitchFamily="50" charset="-128"/>
          <a:cs typeface="Meiryo UI" pitchFamily="50" charset="-128"/>
        </a:defRPr>
      </a:lvl5pPr>
      <a:lvl6pPr marL="457200" algn="l" defTabSz="987425" rtl="0" eaLnBrk="1" fontAlgn="base" hangingPunct="1">
        <a:spcBef>
          <a:spcPct val="0"/>
        </a:spcBef>
        <a:spcAft>
          <a:spcPct val="0"/>
        </a:spcAft>
        <a:defRPr kumimoji="1" sz="2400" b="1">
          <a:solidFill>
            <a:schemeClr val="tx2"/>
          </a:solidFill>
          <a:latin typeface="Arial" charset="0"/>
          <a:ea typeface="ＭＳ Ｐゴシック" pitchFamily="50" charset="-128"/>
        </a:defRPr>
      </a:lvl6pPr>
      <a:lvl7pPr marL="914400" algn="l" defTabSz="987425" rtl="0" eaLnBrk="1" fontAlgn="base" hangingPunct="1">
        <a:spcBef>
          <a:spcPct val="0"/>
        </a:spcBef>
        <a:spcAft>
          <a:spcPct val="0"/>
        </a:spcAft>
        <a:defRPr kumimoji="1" sz="2400" b="1">
          <a:solidFill>
            <a:schemeClr val="tx2"/>
          </a:solidFill>
          <a:latin typeface="Arial" charset="0"/>
          <a:ea typeface="ＭＳ Ｐゴシック" pitchFamily="50" charset="-128"/>
        </a:defRPr>
      </a:lvl7pPr>
      <a:lvl8pPr marL="1371600" algn="l" defTabSz="987425" rtl="0" eaLnBrk="1" fontAlgn="base" hangingPunct="1">
        <a:spcBef>
          <a:spcPct val="0"/>
        </a:spcBef>
        <a:spcAft>
          <a:spcPct val="0"/>
        </a:spcAft>
        <a:defRPr kumimoji="1" sz="2400" b="1">
          <a:solidFill>
            <a:schemeClr val="tx2"/>
          </a:solidFill>
          <a:latin typeface="Arial" charset="0"/>
          <a:ea typeface="ＭＳ Ｐゴシック" pitchFamily="50" charset="-128"/>
        </a:defRPr>
      </a:lvl8pPr>
      <a:lvl9pPr marL="1828800" algn="l" defTabSz="987425" rtl="0" eaLnBrk="1" fontAlgn="base" hangingPunct="1">
        <a:spcBef>
          <a:spcPct val="0"/>
        </a:spcBef>
        <a:spcAft>
          <a:spcPct val="0"/>
        </a:spcAft>
        <a:defRPr kumimoji="1" sz="2400" b="1">
          <a:solidFill>
            <a:schemeClr val="tx2"/>
          </a:solidFill>
          <a:latin typeface="Arial" charset="0"/>
          <a:ea typeface="ＭＳ Ｐゴシック" pitchFamily="50" charset="-128"/>
        </a:defRPr>
      </a:lvl9pPr>
    </p:titleStyle>
    <p:bodyStyle>
      <a:lvl1pPr marL="342900" indent="-342900" algn="l" defTabSz="911225" rtl="0" eaLnBrk="1" fontAlgn="ctr" hangingPunct="1">
        <a:lnSpc>
          <a:spcPct val="125000"/>
        </a:lnSpc>
        <a:spcBef>
          <a:spcPct val="60000"/>
        </a:spcBef>
        <a:spcAft>
          <a:spcPct val="0"/>
        </a:spcAft>
        <a:defRPr kumimoji="1" sz="1600" b="1">
          <a:solidFill>
            <a:srgbClr val="000000"/>
          </a:solidFill>
          <a:latin typeface="Calibri" panose="020F0502020204030204" pitchFamily="34" charset="0"/>
          <a:ea typeface="Meiryo UI" pitchFamily="50" charset="-128"/>
          <a:cs typeface="Meiryo UI" pitchFamily="50" charset="-128"/>
        </a:defRPr>
      </a:lvl1pPr>
      <a:lvl2pPr marL="441325" indent="15875" algn="l" defTabSz="911225" rtl="0" eaLnBrk="1" fontAlgn="ctr" hangingPunct="1">
        <a:lnSpc>
          <a:spcPct val="125000"/>
        </a:lnSpc>
        <a:spcBef>
          <a:spcPct val="60000"/>
        </a:spcBef>
        <a:spcAft>
          <a:spcPct val="0"/>
        </a:spcAft>
        <a:defRPr kumimoji="1" sz="1400">
          <a:solidFill>
            <a:srgbClr val="000000"/>
          </a:solidFill>
          <a:latin typeface="Calibri" panose="020F0502020204030204" pitchFamily="34" charset="0"/>
          <a:ea typeface="Meiryo UI" pitchFamily="50" charset="-128"/>
          <a:cs typeface="Meiryo UI" pitchFamily="50" charset="-128"/>
        </a:defRPr>
      </a:lvl2pPr>
      <a:lvl3pPr marL="612775" indent="-168275" algn="l" defTabSz="911225" rtl="0" eaLnBrk="1" fontAlgn="ctr" hangingPunct="1">
        <a:lnSpc>
          <a:spcPct val="125000"/>
        </a:lnSpc>
        <a:spcBef>
          <a:spcPct val="60000"/>
        </a:spcBef>
        <a:spcAft>
          <a:spcPct val="0"/>
        </a:spcAft>
        <a:buClr>
          <a:srgbClr val="647E9E"/>
        </a:buClr>
        <a:buSzPct val="80000"/>
        <a:buFont typeface="Wingdings" pitchFamily="2" charset="2"/>
        <a:buChar char="n"/>
        <a:defRPr kumimoji="1" sz="1400">
          <a:solidFill>
            <a:srgbClr val="000000"/>
          </a:solidFill>
          <a:latin typeface="Calibri" panose="020F0502020204030204" pitchFamily="34" charset="0"/>
          <a:ea typeface="Meiryo UI" pitchFamily="50" charset="-128"/>
          <a:cs typeface="Meiryo UI" pitchFamily="50" charset="-128"/>
        </a:defRPr>
      </a:lvl3pPr>
      <a:lvl4pPr marL="738188" indent="633413" algn="l" defTabSz="911225" rtl="0" eaLnBrk="1" fontAlgn="ctr" hangingPunct="1">
        <a:lnSpc>
          <a:spcPct val="125000"/>
        </a:lnSpc>
        <a:spcBef>
          <a:spcPct val="60000"/>
        </a:spcBef>
        <a:spcAft>
          <a:spcPct val="0"/>
        </a:spcAft>
        <a:defRPr kumimoji="1" sz="1200">
          <a:solidFill>
            <a:srgbClr val="000000"/>
          </a:solidFill>
          <a:latin typeface="Calibri" panose="020F0502020204030204" pitchFamily="34" charset="0"/>
          <a:ea typeface="Meiryo UI" pitchFamily="50" charset="-128"/>
          <a:cs typeface="Meiryo UI" pitchFamily="50" charset="-128"/>
        </a:defRPr>
      </a:lvl4pPr>
      <a:lvl5pPr marL="906463" indent="-166688" algn="l" defTabSz="911225" rtl="0" eaLnBrk="1" fontAlgn="ctr" hangingPunct="1">
        <a:lnSpc>
          <a:spcPct val="125000"/>
        </a:lnSpc>
        <a:spcBef>
          <a:spcPct val="60000"/>
        </a:spcBef>
        <a:spcAft>
          <a:spcPct val="0"/>
        </a:spcAft>
        <a:buClr>
          <a:srgbClr val="96A8C0"/>
        </a:buClr>
        <a:buSzPct val="80000"/>
        <a:buFont typeface="Wingdings" pitchFamily="2" charset="2"/>
        <a:buChar char="n"/>
        <a:defRPr kumimoji="1" sz="1200">
          <a:solidFill>
            <a:srgbClr val="000000"/>
          </a:solidFill>
          <a:latin typeface="Calibri" panose="020F0502020204030204" pitchFamily="34" charset="0"/>
          <a:ea typeface="Meiryo UI" pitchFamily="50" charset="-128"/>
          <a:cs typeface="Meiryo UI" pitchFamily="50" charset="-128"/>
        </a:defRPr>
      </a:lvl5pPr>
      <a:lvl6pPr marL="1363663" indent="-166688" algn="l" defTabSz="911225" rtl="0" eaLnBrk="1" fontAlgn="ctr" hangingPunct="1">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mn-lt"/>
          <a:ea typeface="+mn-ea"/>
        </a:defRPr>
      </a:lvl6pPr>
      <a:lvl7pPr marL="1820863" indent="-166688" algn="l" defTabSz="911225" rtl="0" eaLnBrk="1" fontAlgn="ctr" hangingPunct="1">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mn-lt"/>
          <a:ea typeface="+mn-ea"/>
        </a:defRPr>
      </a:lvl7pPr>
      <a:lvl8pPr marL="2278063" indent="-166688" algn="l" defTabSz="911225" rtl="0" eaLnBrk="1" fontAlgn="ctr" hangingPunct="1">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mn-lt"/>
          <a:ea typeface="+mn-ea"/>
        </a:defRPr>
      </a:lvl8pPr>
      <a:lvl9pPr marL="2735263" indent="-166688" algn="l" defTabSz="911225" rtl="0" eaLnBrk="1" fontAlgn="ctr" hangingPunct="1">
        <a:lnSpc>
          <a:spcPct val="125000"/>
        </a:lnSpc>
        <a:spcBef>
          <a:spcPct val="60000"/>
        </a:spcBef>
        <a:spcAft>
          <a:spcPct val="0"/>
        </a:spcAft>
        <a:buClr>
          <a:srgbClr val="96A8C0"/>
        </a:buClr>
        <a:buSzPct val="80000"/>
        <a:buFont typeface="Wingdings" pitchFamily="2" charset="2"/>
        <a:buChar char="n"/>
        <a:defRPr kumimoji="1" sz="12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6">
            <a:extLst>
              <a:ext uri="{FF2B5EF4-FFF2-40B4-BE49-F238E27FC236}">
                <a16:creationId xmlns:a16="http://schemas.microsoft.com/office/drawing/2014/main" id="{09BEBF1B-417B-3AFB-B371-F7E7892C0E43}"/>
              </a:ext>
            </a:extLst>
          </p:cNvPr>
          <p:cNvSpPr txBox="1">
            <a:spLocks noChangeArrowheads="1"/>
          </p:cNvSpPr>
          <p:nvPr/>
        </p:nvSpPr>
        <p:spPr bwMode="auto">
          <a:xfrm>
            <a:off x="488504" y="1628800"/>
            <a:ext cx="9145016" cy="178664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gn="ctr">
              <a:lnSpc>
                <a:spcPct val="120000"/>
              </a:lnSpc>
              <a:spcBef>
                <a:spcPct val="0"/>
              </a:spcBef>
              <a:buClr>
                <a:srgbClr val="000066"/>
              </a:buClr>
              <a:buSzTx/>
              <a:buNone/>
              <a:tabLst>
                <a:tab pos="0" algn="l"/>
                <a:tab pos="1343025" algn="l"/>
              </a:tabLst>
            </a:pPr>
            <a:r>
              <a:rPr lang="ja-JP" altLang="en-US" sz="3200" b="0" dirty="0">
                <a:solidFill>
                  <a:srgbClr val="000000"/>
                </a:solidFill>
                <a:latin typeface="ＭＳ ゴシック" panose="020B0609070205080204" pitchFamily="49" charset="-128"/>
                <a:ea typeface="ＭＳ ゴシック" panose="020B0609070205080204" pitchFamily="49" charset="-128"/>
              </a:rPr>
              <a:t>設計方針書</a:t>
            </a:r>
            <a:endParaRPr lang="en-US" altLang="ja-JP" sz="3200" b="0" dirty="0">
              <a:solidFill>
                <a:srgbClr val="000000"/>
              </a:solidFill>
              <a:latin typeface="ＭＳ ゴシック" panose="020B0609070205080204" pitchFamily="49" charset="-128"/>
              <a:ea typeface="ＭＳ ゴシック" panose="020B0609070205080204" pitchFamily="49" charset="-128"/>
            </a:endParaRPr>
          </a:p>
          <a:p>
            <a:pPr algn="ctr">
              <a:lnSpc>
                <a:spcPct val="120000"/>
              </a:lnSpc>
              <a:spcBef>
                <a:spcPct val="0"/>
              </a:spcBef>
              <a:buClr>
                <a:srgbClr val="000066"/>
              </a:buClr>
              <a:buSzTx/>
              <a:buNone/>
              <a:tabLst>
                <a:tab pos="0" algn="l"/>
                <a:tab pos="1343025" algn="l"/>
              </a:tabLst>
            </a:pPr>
            <a:r>
              <a:rPr lang="ja-JP" altLang="en-US" sz="3200" b="0" dirty="0">
                <a:solidFill>
                  <a:srgbClr val="000000"/>
                </a:solidFill>
                <a:latin typeface="ＭＳ ゴシック" panose="020B0609070205080204" pitchFamily="49" charset="-128"/>
                <a:ea typeface="ＭＳ ゴシック" panose="020B0609070205080204" pitchFamily="49" charset="-128"/>
              </a:rPr>
              <a:t>（</a:t>
            </a:r>
            <a:r>
              <a:rPr lang="en-US" altLang="ja-JP" sz="3200" b="0" dirty="0">
                <a:solidFill>
                  <a:srgbClr val="000000"/>
                </a:solidFill>
                <a:latin typeface="ＭＳ ゴシック" panose="020B0609070205080204" pitchFamily="49" charset="-128"/>
                <a:ea typeface="ＭＳ ゴシック" panose="020B0609070205080204" pitchFamily="49" charset="-128"/>
              </a:rPr>
              <a:t>【FF】</a:t>
            </a:r>
            <a:r>
              <a:rPr lang="ja-JP" altLang="en-US" sz="3200" b="0" dirty="0">
                <a:solidFill>
                  <a:srgbClr val="000000"/>
                </a:solidFill>
                <a:latin typeface="ＭＳ ゴシック" panose="020B0609070205080204" pitchFamily="49" charset="-128"/>
                <a:ea typeface="ＭＳ ゴシック" panose="020B0609070205080204" pitchFamily="49" charset="-128"/>
              </a:rPr>
              <a:t>タブレットソリューション投信注文機能の追加対応）</a:t>
            </a:r>
            <a:endParaRPr lang="en-US" altLang="ja-JP" sz="3200" b="0" dirty="0">
              <a:solidFill>
                <a:srgbClr val="000000"/>
              </a:solidFill>
              <a:latin typeface="ＭＳ ゴシック" panose="020B0609070205080204" pitchFamily="49" charset="-128"/>
              <a:ea typeface="ＭＳ ゴシック" panose="020B0609070205080204" pitchFamily="49" charset="-128"/>
            </a:endParaRPr>
          </a:p>
        </p:txBody>
      </p:sp>
      <p:sp>
        <p:nvSpPr>
          <p:cNvPr id="3" name="Text Box 16">
            <a:extLst>
              <a:ext uri="{FF2B5EF4-FFF2-40B4-BE49-F238E27FC236}">
                <a16:creationId xmlns:a16="http://schemas.microsoft.com/office/drawing/2014/main" id="{97ED948A-110D-F9B2-C7C1-9F1B882A5C35}"/>
              </a:ext>
            </a:extLst>
          </p:cNvPr>
          <p:cNvSpPr txBox="1">
            <a:spLocks noChangeArrowheads="1"/>
          </p:cNvSpPr>
          <p:nvPr/>
        </p:nvSpPr>
        <p:spPr bwMode="auto">
          <a:xfrm>
            <a:off x="2966715" y="4053484"/>
            <a:ext cx="3972570" cy="117089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gn="ctr">
              <a:lnSpc>
                <a:spcPct val="120000"/>
              </a:lnSpc>
              <a:spcBef>
                <a:spcPct val="0"/>
              </a:spcBef>
              <a:buClr>
                <a:srgbClr val="000066"/>
              </a:buClr>
              <a:buSzTx/>
              <a:buNone/>
              <a:tabLst>
                <a:tab pos="0" algn="l"/>
                <a:tab pos="1343025" algn="l"/>
              </a:tabLst>
            </a:pPr>
            <a:r>
              <a:rPr lang="ja-JP" altLang="en-US" sz="1200" b="0" dirty="0">
                <a:solidFill>
                  <a:srgbClr val="000000"/>
                </a:solidFill>
                <a:latin typeface="ＭＳ ゴシック" panose="020B0609070205080204" pitchFamily="49" charset="-128"/>
                <a:ea typeface="ＭＳ ゴシック" panose="020B0609070205080204" pitchFamily="49" charset="-128"/>
              </a:rPr>
              <a:t>金融フロントシステム部</a:t>
            </a:r>
            <a:endParaRPr lang="en-US" altLang="ja-JP" sz="1200" b="0" dirty="0">
              <a:solidFill>
                <a:srgbClr val="000000"/>
              </a:solidFill>
              <a:latin typeface="ＭＳ ゴシック" panose="020B0609070205080204" pitchFamily="49" charset="-128"/>
              <a:ea typeface="ＭＳ ゴシック" panose="020B0609070205080204" pitchFamily="49" charset="-128"/>
            </a:endParaRPr>
          </a:p>
          <a:p>
            <a:pPr algn="ctr">
              <a:lnSpc>
                <a:spcPct val="120000"/>
              </a:lnSpc>
              <a:spcBef>
                <a:spcPct val="0"/>
              </a:spcBef>
              <a:buClr>
                <a:srgbClr val="000066"/>
              </a:buClr>
              <a:buSzTx/>
              <a:buNone/>
              <a:tabLst>
                <a:tab pos="0" algn="l"/>
                <a:tab pos="1343025" algn="l"/>
              </a:tabLst>
            </a:pPr>
            <a:r>
              <a:rPr lang="ja-JP" altLang="en-US" sz="1200" b="0" dirty="0">
                <a:solidFill>
                  <a:srgbClr val="000000"/>
                </a:solidFill>
                <a:latin typeface="ＭＳ ゴシック" panose="020B0609070205080204" pitchFamily="49" charset="-128"/>
                <a:ea typeface="ＭＳ ゴシック" panose="020B0609070205080204" pitchFamily="49" charset="-128"/>
              </a:rPr>
              <a:t>ソリューション四課</a:t>
            </a:r>
            <a:endParaRPr lang="en-US" altLang="ja-JP" sz="1200" b="0" dirty="0">
              <a:solidFill>
                <a:srgbClr val="000000"/>
              </a:solidFill>
              <a:latin typeface="ＭＳ ゴシック" panose="020B0609070205080204" pitchFamily="49" charset="-128"/>
              <a:ea typeface="ＭＳ ゴシック" panose="020B0609070205080204" pitchFamily="49" charset="-128"/>
            </a:endParaRPr>
          </a:p>
          <a:p>
            <a:pPr algn="ctr">
              <a:lnSpc>
                <a:spcPct val="120000"/>
              </a:lnSpc>
              <a:spcBef>
                <a:spcPct val="0"/>
              </a:spcBef>
              <a:buClr>
                <a:srgbClr val="000066"/>
              </a:buClr>
              <a:buSzTx/>
              <a:buNone/>
              <a:tabLst>
                <a:tab pos="0" algn="l"/>
                <a:tab pos="1343025" algn="l"/>
              </a:tabLst>
            </a:pPr>
            <a:endParaRPr lang="en-US" altLang="ja-JP" sz="1200" b="0" dirty="0">
              <a:solidFill>
                <a:srgbClr val="000000"/>
              </a:solidFill>
              <a:latin typeface="ＭＳ ゴシック" panose="020B0609070205080204" pitchFamily="49" charset="-128"/>
              <a:ea typeface="ＭＳ ゴシック" panose="020B0609070205080204" pitchFamily="49" charset="-128"/>
            </a:endParaRPr>
          </a:p>
          <a:p>
            <a:pPr algn="ctr">
              <a:lnSpc>
                <a:spcPct val="120000"/>
              </a:lnSpc>
              <a:spcBef>
                <a:spcPct val="0"/>
              </a:spcBef>
              <a:buClr>
                <a:srgbClr val="000066"/>
              </a:buClr>
              <a:buSzTx/>
              <a:buNone/>
              <a:tabLst>
                <a:tab pos="0" algn="l"/>
                <a:tab pos="1343025" algn="l"/>
              </a:tabLst>
            </a:pPr>
            <a:endParaRPr lang="en-US" altLang="ja-JP" sz="1200" b="0" dirty="0">
              <a:solidFill>
                <a:srgbClr val="000000"/>
              </a:solidFill>
              <a:latin typeface="ＭＳ ゴシック" panose="020B0609070205080204" pitchFamily="49" charset="-128"/>
              <a:ea typeface="ＭＳ ゴシック" panose="020B0609070205080204" pitchFamily="49" charset="-128"/>
            </a:endParaRPr>
          </a:p>
          <a:p>
            <a:pPr algn="ctr">
              <a:lnSpc>
                <a:spcPct val="120000"/>
              </a:lnSpc>
              <a:spcBef>
                <a:spcPct val="0"/>
              </a:spcBef>
              <a:buClr>
                <a:srgbClr val="000066"/>
              </a:buClr>
              <a:buSzTx/>
              <a:buNone/>
              <a:tabLst>
                <a:tab pos="0" algn="l"/>
                <a:tab pos="1343025" algn="l"/>
              </a:tabLst>
            </a:pPr>
            <a:r>
              <a:rPr lang="ja-JP" altLang="en-US" sz="1200" b="0" dirty="0">
                <a:solidFill>
                  <a:srgbClr val="000000"/>
                </a:solidFill>
                <a:latin typeface="ＭＳ ゴシック" panose="020B0609070205080204" pitchFamily="49" charset="-128"/>
                <a:ea typeface="ＭＳ ゴシック" panose="020B0609070205080204" pitchFamily="49" charset="-128"/>
              </a:rPr>
              <a:t>第</a:t>
            </a:r>
            <a:r>
              <a:rPr lang="en-US" altLang="ja-JP" sz="1200" b="0" dirty="0">
                <a:solidFill>
                  <a:srgbClr val="000000"/>
                </a:solidFill>
                <a:latin typeface="ＭＳ ゴシック" panose="020B0609070205080204" pitchFamily="49" charset="-128"/>
                <a:ea typeface="ＭＳ ゴシック" panose="020B0609070205080204" pitchFamily="49" charset="-128"/>
              </a:rPr>
              <a:t>2.0</a:t>
            </a:r>
            <a:r>
              <a:rPr lang="ja-JP" altLang="en-US" sz="1200" b="0" dirty="0">
                <a:solidFill>
                  <a:srgbClr val="000000"/>
                </a:solidFill>
                <a:latin typeface="ＭＳ ゴシック" panose="020B0609070205080204" pitchFamily="49" charset="-128"/>
                <a:ea typeface="ＭＳ ゴシック" panose="020B0609070205080204" pitchFamily="49" charset="-128"/>
              </a:rPr>
              <a:t>版</a:t>
            </a:r>
            <a:endParaRPr lang="en-US" altLang="ja-JP" sz="12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80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FBFFCB-8AF7-9592-91E9-5329D1F73836}"/>
              </a:ext>
            </a:extLst>
          </p:cNvPr>
          <p:cNvSpPr/>
          <p:nvPr/>
        </p:nvSpPr>
        <p:spPr bwMode="auto">
          <a:xfrm>
            <a:off x="128464" y="620688"/>
            <a:ext cx="8061975" cy="903757"/>
          </a:xfrm>
          <a:prstGeom prst="rect">
            <a:avLst/>
          </a:prstGeom>
          <a:no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本ドキュメントの目的</a:t>
            </a: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本ドキュメントは品質向上を目的とした資料である。概要設計を共通フォーマットにまとめることで見積り、設計時に</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観点の漏れなどが起きないようにする。また、「なぜ」「どうして」そのような設計方針としたのかを整理し、</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明記することで検討時のプロセスに誤りがないかをレビューできるようにする。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p:txBody>
      </p:sp>
      <p:graphicFrame>
        <p:nvGraphicFramePr>
          <p:cNvPr id="14" name="図表 13">
            <a:extLst>
              <a:ext uri="{FF2B5EF4-FFF2-40B4-BE49-F238E27FC236}">
                <a16:creationId xmlns:a16="http://schemas.microsoft.com/office/drawing/2014/main" id="{3F0664A1-9AE4-78E0-A954-D304FF237922}"/>
              </a:ext>
            </a:extLst>
          </p:cNvPr>
          <p:cNvGraphicFramePr/>
          <p:nvPr>
            <p:extLst>
              <p:ext uri="{D42A27DB-BD31-4B8C-83A1-F6EECF244321}">
                <p14:modId xmlns:p14="http://schemas.microsoft.com/office/powerpoint/2010/main" val="1381043081"/>
              </p:ext>
            </p:extLst>
          </p:nvPr>
        </p:nvGraphicFramePr>
        <p:xfrm>
          <a:off x="1696923" y="2132856"/>
          <a:ext cx="6405791" cy="2830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正方形/長方形 15">
            <a:extLst>
              <a:ext uri="{FF2B5EF4-FFF2-40B4-BE49-F238E27FC236}">
                <a16:creationId xmlns:a16="http://schemas.microsoft.com/office/drawing/2014/main" id="{89A6E660-4EB7-4571-24A1-5C0F607F462C}"/>
              </a:ext>
            </a:extLst>
          </p:cNvPr>
          <p:cNvSpPr/>
          <p:nvPr/>
        </p:nvSpPr>
        <p:spPr bwMode="auto">
          <a:xfrm>
            <a:off x="128464" y="5157192"/>
            <a:ext cx="8061975" cy="903757"/>
          </a:xfrm>
          <a:prstGeom prst="rect">
            <a:avLst/>
          </a:prstGeom>
          <a:no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a:t>
            </a: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）要件定義プロセスと見積プロセスが逆転することが多々あるが、その場合は設計方針書にて要件整理を行う。</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 　　 見積プロセス前に要件定義書を作成している場合、設計方針書で要件定義書と重複する内容については</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　　「要件定義書を参照」で可とするが、</a:t>
            </a:r>
            <a:r>
              <a:rPr lang="ja-JP" altLang="en-US" sz="1400" b="1" u="sng" dirty="0">
                <a:solidFill>
                  <a:srgbClr val="FF0000"/>
                </a:solidFill>
                <a:latin typeface="ＭＳ ゴシック" panose="020B0609070205080204" pitchFamily="49" charset="-128"/>
                <a:ea typeface="ＭＳ ゴシック" panose="020B0609070205080204" pitchFamily="49" charset="-128"/>
                <a:cs typeface="Meiryo UI" panose="020B0604030504040204" pitchFamily="50" charset="-128"/>
              </a:rPr>
              <a:t>設計方針書には主になぜこのような設計としたのか、検討したプロセスを</a:t>
            </a:r>
            <a:endParaRPr lang="en-US" altLang="ja-JP" sz="1400" b="1" u="sng" dirty="0">
              <a:solidFill>
                <a:srgbClr val="FF0000"/>
              </a:solidFill>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b="1" dirty="0">
                <a:solidFill>
                  <a:srgbClr val="FF0000"/>
                </a:solidFill>
                <a:latin typeface="ＭＳ ゴシック" panose="020B0609070205080204" pitchFamily="49" charset="-128"/>
                <a:ea typeface="ＭＳ ゴシック" panose="020B0609070205080204" pitchFamily="49" charset="-128"/>
                <a:cs typeface="Meiryo UI" panose="020B0604030504040204" pitchFamily="50" charset="-128"/>
              </a:rPr>
              <a:t>　　 </a:t>
            </a:r>
            <a:r>
              <a:rPr lang="ja-JP" altLang="en-US" sz="1400" b="1" u="sng" dirty="0">
                <a:solidFill>
                  <a:srgbClr val="FF0000"/>
                </a:solidFill>
                <a:latin typeface="ＭＳ ゴシック" panose="020B0609070205080204" pitchFamily="49" charset="-128"/>
                <a:ea typeface="ＭＳ ゴシック" panose="020B0609070205080204" pitchFamily="49" charset="-128"/>
                <a:cs typeface="Meiryo UI" panose="020B0604030504040204" pitchFamily="50" charset="-128"/>
              </a:rPr>
              <a:t>しっかりと明記することが目的であることを意識すること</a:t>
            </a: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p:txBody>
      </p:sp>
      <p:sp>
        <p:nvSpPr>
          <p:cNvPr id="6" name="タイトル 1">
            <a:extLst>
              <a:ext uri="{FF2B5EF4-FFF2-40B4-BE49-F238E27FC236}">
                <a16:creationId xmlns:a16="http://schemas.microsoft.com/office/drawing/2014/main" id="{F13BE4EF-3014-DFA5-8C98-F50668D415BD}"/>
              </a:ext>
            </a:extLst>
          </p:cNvPr>
          <p:cNvSpPr>
            <a:spLocks noGrp="1"/>
          </p:cNvSpPr>
          <p:nvPr>
            <p:ph type="title"/>
          </p:nvPr>
        </p:nvSpPr>
        <p:spPr>
          <a:xfrm>
            <a:off x="307975" y="142877"/>
            <a:ext cx="9183688" cy="441325"/>
          </a:xfrm>
        </p:spPr>
        <p:txBody>
          <a:bodyPr/>
          <a:lstStyle/>
          <a:p>
            <a:r>
              <a:rPr kumimoji="1" lang="ja-JP" altLang="en-US" dirty="0"/>
              <a:t>本ドキュメントの目的</a:t>
            </a:r>
          </a:p>
        </p:txBody>
      </p:sp>
    </p:spTree>
    <p:extLst>
      <p:ext uri="{BB962C8B-B14F-4D97-AF65-F5344CB8AC3E}">
        <p14:creationId xmlns:p14="http://schemas.microsoft.com/office/powerpoint/2010/main" val="3748321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B52EE-632D-2FC5-BEF1-AD4248B36C0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CA59199-A327-E516-2882-B1B126063CC9}"/>
              </a:ext>
            </a:extLst>
          </p:cNvPr>
          <p:cNvSpPr/>
          <p:nvPr/>
        </p:nvSpPr>
        <p:spPr bwMode="auto">
          <a:xfrm>
            <a:off x="128464" y="620688"/>
            <a:ext cx="8061975" cy="903757"/>
          </a:xfrm>
          <a:prstGeom prst="rect">
            <a:avLst/>
          </a:prstGeom>
          <a:noFill/>
          <a:ln w="2857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本ドキュメントの対象者</a:t>
            </a: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開発チーム（プロパ、ニアショア、オフショア）向け。</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本ドキュメントのルール</a:t>
            </a:r>
            <a:r>
              <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rPr>
              <a:t>】</a:t>
            </a:r>
          </a:p>
          <a:p>
            <a:pPr marL="179388" indent="-179388" defTabSz="914400" fontAlgn="base">
              <a:lnSpc>
                <a:spcPct val="150000"/>
              </a:lnSpc>
              <a:spcAft>
                <a:spcPct val="0"/>
              </a:spcAft>
              <a:buClr>
                <a:srgbClr val="000066"/>
              </a:buClr>
              <a:tabLst>
                <a:tab pos="179388" algn="l"/>
              </a:tabLst>
            </a:pPr>
            <a:r>
              <a:rPr lang="ja-JP" altLang="en-US" sz="1400" b="1" u="sng" dirty="0">
                <a:latin typeface="ＭＳ ゴシック" panose="020B0609070205080204" pitchFamily="49" charset="-128"/>
                <a:ea typeface="ＭＳ ゴシック" panose="020B0609070205080204" pitchFamily="49" charset="-128"/>
                <a:cs typeface="Meiryo UI" panose="020B0604030504040204" pitchFamily="50" charset="-128"/>
              </a:rPr>
              <a:t>受託案件は見積り時、保守案件はプロジェクト計画時、本ドキュメントを作成する。</a:t>
            </a:r>
            <a:endParaRPr lang="en-US" altLang="ja-JP" sz="1400" b="1" u="sng"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作成した本ドキュメントは受託案件の場合は見積りフォルダ、保守案件の場合は要件定義フォルダに配置する。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indent="-179388" defTabSz="914400" fontAlgn="base">
              <a:lnSpc>
                <a:spcPct val="150000"/>
              </a:lnSpc>
              <a:spcAft>
                <a:spcPct val="0"/>
              </a:spcAft>
              <a:buClr>
                <a:srgbClr val="000066"/>
              </a:buClr>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受託案件の場合、プロジェクト始動後本ドキュメントを要件定義フォルダ配下に配置する。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本ドキュメントは</a:t>
            </a:r>
            <a:r>
              <a:rPr lang="ja-JP" altLang="en-US" sz="1400" b="1" u="sng" dirty="0">
                <a:latin typeface="ＭＳ ゴシック" panose="020B0609070205080204" pitchFamily="49" charset="-128"/>
                <a:ea typeface="ＭＳ ゴシック" panose="020B0609070205080204" pitchFamily="49" charset="-128"/>
                <a:cs typeface="Meiryo UI" panose="020B0604030504040204" pitchFamily="50" charset="-128"/>
              </a:rPr>
              <a:t>必ず課長レビューを行う。</a:t>
            </a:r>
            <a:endParaRPr lang="en-US" altLang="ja-JP" sz="1400" b="1" u="sng"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各ページに対して対応要否の確認を行い、要件がないシートは「記載事項なし」と記載する。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設計着手後決まる場合はその旨を記載し、設計着手後更新するものとする。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（設計の方針を記すドキュメントであるため、基本設計が完了するまでに本ドキュメントも必ず更新する）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また、プロジェクト始動後、要件の変更があった場合についても本ドキュメントを更新する。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a:p>
            <a:pPr marL="179388" marR="0" indent="-179388" algn="l" defTabSz="914400" rtl="0" eaLnBrk="1" fontAlgn="base" latinLnBrk="0" hangingPunct="1">
              <a:lnSpc>
                <a:spcPct val="150000"/>
              </a:lnSpc>
              <a:spcBef>
                <a:spcPts val="0"/>
              </a:spcBef>
              <a:spcAft>
                <a:spcPct val="0"/>
              </a:spcAft>
              <a:buClr>
                <a:srgbClr val="000066"/>
              </a:buClr>
              <a:buSzTx/>
              <a:buFont typeface="Wingdings" pitchFamily="2" charset="2"/>
              <a:buNone/>
              <a:tabLst>
                <a:tab pos="179388" algn="l"/>
              </a:tabLst>
            </a:pPr>
            <a:r>
              <a:rPr lang="ja-JP" altLang="en-US" sz="1400" dirty="0">
                <a:latin typeface="ＭＳ ゴシック" panose="020B0609070205080204" pitchFamily="49" charset="-128"/>
                <a:ea typeface="ＭＳ ゴシック" panose="020B0609070205080204" pitchFamily="49" charset="-128"/>
                <a:cs typeface="Meiryo UI" panose="020B0604030504040204" pitchFamily="50" charset="-128"/>
              </a:rPr>
              <a:t>プロジェクトメンバーは設計着手前に本ドキュメントを確認し、要件、設計方針を理解する。</a:t>
            </a:r>
            <a:endParaRPr lang="en-US" altLang="ja-JP" sz="1400" dirty="0">
              <a:latin typeface="ＭＳ ゴシック" panose="020B0609070205080204" pitchFamily="49" charset="-128"/>
              <a:ea typeface="ＭＳ ゴシック" panose="020B0609070205080204" pitchFamily="49" charset="-128"/>
              <a:cs typeface="Meiryo UI" panose="020B0604030504040204" pitchFamily="50" charset="-128"/>
            </a:endParaRPr>
          </a:p>
        </p:txBody>
      </p:sp>
      <p:sp>
        <p:nvSpPr>
          <p:cNvPr id="6" name="タイトル 1">
            <a:extLst>
              <a:ext uri="{FF2B5EF4-FFF2-40B4-BE49-F238E27FC236}">
                <a16:creationId xmlns:a16="http://schemas.microsoft.com/office/drawing/2014/main" id="{4C35BB92-50FF-C885-5939-10E36741C604}"/>
              </a:ext>
            </a:extLst>
          </p:cNvPr>
          <p:cNvSpPr>
            <a:spLocks noGrp="1"/>
          </p:cNvSpPr>
          <p:nvPr>
            <p:ph type="title"/>
          </p:nvPr>
        </p:nvSpPr>
        <p:spPr>
          <a:xfrm>
            <a:off x="307975" y="142877"/>
            <a:ext cx="9183688" cy="441325"/>
          </a:xfrm>
        </p:spPr>
        <p:txBody>
          <a:bodyPr/>
          <a:lstStyle/>
          <a:p>
            <a:r>
              <a:rPr kumimoji="1" lang="ja-JP" altLang="en-US" dirty="0"/>
              <a:t>本ドキュメントの目的</a:t>
            </a:r>
          </a:p>
        </p:txBody>
      </p:sp>
    </p:spTree>
    <p:extLst>
      <p:ext uri="{BB962C8B-B14F-4D97-AF65-F5344CB8AC3E}">
        <p14:creationId xmlns:p14="http://schemas.microsoft.com/office/powerpoint/2010/main" val="193541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4DFBD-5C78-BAF8-6A58-1D9F62CBDE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9E91AC-96D6-AA93-BEB9-A4B05639EBE3}"/>
              </a:ext>
            </a:extLst>
          </p:cNvPr>
          <p:cNvSpPr>
            <a:spLocks noGrp="1"/>
          </p:cNvSpPr>
          <p:nvPr>
            <p:ph type="title"/>
          </p:nvPr>
        </p:nvSpPr>
        <p:spPr/>
        <p:txBody>
          <a:bodyPr/>
          <a:lstStyle/>
          <a:p>
            <a:r>
              <a:rPr kumimoji="1" lang="ja-JP" altLang="en-US" dirty="0"/>
              <a:t>更新履歴</a:t>
            </a:r>
          </a:p>
        </p:txBody>
      </p:sp>
      <p:graphicFrame>
        <p:nvGraphicFramePr>
          <p:cNvPr id="3" name="表 2">
            <a:extLst>
              <a:ext uri="{FF2B5EF4-FFF2-40B4-BE49-F238E27FC236}">
                <a16:creationId xmlns:a16="http://schemas.microsoft.com/office/drawing/2014/main" id="{E9186C94-0015-E798-4670-4EF356C66758}"/>
              </a:ext>
            </a:extLst>
          </p:cNvPr>
          <p:cNvGraphicFramePr>
            <a:graphicFrameLocks noGrp="1"/>
          </p:cNvGraphicFramePr>
          <p:nvPr>
            <p:extLst>
              <p:ext uri="{D42A27DB-BD31-4B8C-83A1-F6EECF244321}">
                <p14:modId xmlns:p14="http://schemas.microsoft.com/office/powerpoint/2010/main" val="1403838518"/>
              </p:ext>
            </p:extLst>
          </p:nvPr>
        </p:nvGraphicFramePr>
        <p:xfrm>
          <a:off x="488504" y="1143044"/>
          <a:ext cx="8676964" cy="4498800"/>
        </p:xfrm>
        <a:graphic>
          <a:graphicData uri="http://schemas.openxmlformats.org/drawingml/2006/table">
            <a:tbl>
              <a:tblPr firstRow="1" bandRow="1">
                <a:tableStyleId>{93296810-A885-4BE3-A3E7-6D5BEEA58F35}</a:tableStyleId>
              </a:tblPr>
              <a:tblGrid>
                <a:gridCol w="432048">
                  <a:extLst>
                    <a:ext uri="{9D8B030D-6E8A-4147-A177-3AD203B41FA5}">
                      <a16:colId xmlns:a16="http://schemas.microsoft.com/office/drawing/2014/main" val="1777742977"/>
                    </a:ext>
                  </a:extLst>
                </a:gridCol>
                <a:gridCol w="679592">
                  <a:extLst>
                    <a:ext uri="{9D8B030D-6E8A-4147-A177-3AD203B41FA5}">
                      <a16:colId xmlns:a16="http://schemas.microsoft.com/office/drawing/2014/main" val="2154433068"/>
                    </a:ext>
                  </a:extLst>
                </a:gridCol>
                <a:gridCol w="1235155">
                  <a:extLst>
                    <a:ext uri="{9D8B030D-6E8A-4147-A177-3AD203B41FA5}">
                      <a16:colId xmlns:a16="http://schemas.microsoft.com/office/drawing/2014/main" val="2629557999"/>
                    </a:ext>
                  </a:extLst>
                </a:gridCol>
                <a:gridCol w="1235155">
                  <a:extLst>
                    <a:ext uri="{9D8B030D-6E8A-4147-A177-3AD203B41FA5}">
                      <a16:colId xmlns:a16="http://schemas.microsoft.com/office/drawing/2014/main" val="1127834330"/>
                    </a:ext>
                  </a:extLst>
                </a:gridCol>
                <a:gridCol w="1235155">
                  <a:extLst>
                    <a:ext uri="{9D8B030D-6E8A-4147-A177-3AD203B41FA5}">
                      <a16:colId xmlns:a16="http://schemas.microsoft.com/office/drawing/2014/main" val="345525746"/>
                    </a:ext>
                  </a:extLst>
                </a:gridCol>
                <a:gridCol w="3859859">
                  <a:extLst>
                    <a:ext uri="{9D8B030D-6E8A-4147-A177-3AD203B41FA5}">
                      <a16:colId xmlns:a16="http://schemas.microsoft.com/office/drawing/2014/main" val="3092326056"/>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版数</a:t>
                      </a:r>
                    </a:p>
                  </a:txBody>
                  <a:tcPr/>
                </a:tc>
                <a:tc>
                  <a:txBody>
                    <a:bodyPr/>
                    <a:lstStyle/>
                    <a:p>
                      <a:r>
                        <a:rPr kumimoji="1" lang="ja-JP" altLang="en-US" sz="1200" dirty="0"/>
                        <a:t>作成日</a:t>
                      </a:r>
                    </a:p>
                  </a:txBody>
                  <a:tcPr/>
                </a:tc>
                <a:tc>
                  <a:txBody>
                    <a:bodyPr/>
                    <a:lstStyle/>
                    <a:p>
                      <a:r>
                        <a:rPr kumimoji="1" lang="ja-JP" altLang="en-US" sz="1200" dirty="0"/>
                        <a:t>対応者</a:t>
                      </a:r>
                    </a:p>
                  </a:txBody>
                  <a:tcPr/>
                </a:tc>
                <a:tc>
                  <a:txBody>
                    <a:bodyPr/>
                    <a:lstStyle/>
                    <a:p>
                      <a:r>
                        <a:rPr kumimoji="1" lang="ja-JP" altLang="en-US" sz="1200" dirty="0"/>
                        <a:t>承認者</a:t>
                      </a:r>
                    </a:p>
                  </a:txBody>
                  <a:tcPr/>
                </a:tc>
                <a:tc>
                  <a:txBody>
                    <a:bodyPr/>
                    <a:lstStyle/>
                    <a:p>
                      <a:r>
                        <a:rPr kumimoji="1" lang="ja-JP" altLang="en-US" sz="1200" dirty="0"/>
                        <a:t>対応概要</a:t>
                      </a:r>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en-US" altLang="ja-JP" sz="1200" dirty="0"/>
                        <a:t>1.0</a:t>
                      </a:r>
                      <a:endParaRPr kumimoji="1" lang="ja-JP" altLang="en-US" sz="1200" dirty="0"/>
                    </a:p>
                  </a:txBody>
                  <a:tcPr/>
                </a:tc>
                <a:tc>
                  <a:txBody>
                    <a:bodyPr/>
                    <a:lstStyle/>
                    <a:p>
                      <a:r>
                        <a:rPr kumimoji="1" lang="en-US" altLang="ja-JP" sz="1200" dirty="0"/>
                        <a:t>2025/10/1</a:t>
                      </a:r>
                      <a:endParaRPr kumimoji="1" lang="ja-JP" altLang="en-US" sz="1200" dirty="0"/>
                    </a:p>
                  </a:txBody>
                  <a:tcPr/>
                </a:tc>
                <a:tc>
                  <a:txBody>
                    <a:bodyPr/>
                    <a:lstStyle/>
                    <a:p>
                      <a:r>
                        <a:rPr kumimoji="1" lang="en-US" altLang="ja-JP" sz="1200" dirty="0"/>
                        <a:t>ISB</a:t>
                      </a:r>
                      <a:r>
                        <a:rPr kumimoji="1" lang="ja-JP" altLang="en-US" sz="1200" dirty="0"/>
                        <a:t>内藤</a:t>
                      </a:r>
                    </a:p>
                  </a:txBody>
                  <a:tcPr/>
                </a:tc>
                <a:tc>
                  <a:txBody>
                    <a:bodyPr/>
                    <a:lstStyle/>
                    <a:p>
                      <a:endParaRPr kumimoji="1" lang="ja-JP" altLang="en-US" sz="1200" dirty="0"/>
                    </a:p>
                  </a:txBody>
                  <a:tcPr/>
                </a:tc>
                <a:tc>
                  <a:txBody>
                    <a:bodyPr/>
                    <a:lstStyle/>
                    <a:p>
                      <a:r>
                        <a:rPr kumimoji="1" lang="ja-JP" altLang="en-US" sz="1200" dirty="0"/>
                        <a:t>新規作成</a:t>
                      </a:r>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r>
                        <a:rPr kumimoji="1" lang="en-US" altLang="ja-JP" sz="1200" dirty="0">
                          <a:solidFill>
                            <a:schemeClr val="tx1"/>
                          </a:solidFill>
                        </a:rPr>
                        <a:t>1.1</a:t>
                      </a:r>
                      <a:endParaRPr kumimoji="1" lang="ja-JP" altLang="en-US" sz="1200" dirty="0">
                        <a:solidFill>
                          <a:schemeClr val="tx1"/>
                        </a:solidFill>
                      </a:endParaRPr>
                    </a:p>
                  </a:txBody>
                  <a:tcPr/>
                </a:tc>
                <a:tc>
                  <a:txBody>
                    <a:bodyPr/>
                    <a:lstStyle/>
                    <a:p>
                      <a:r>
                        <a:rPr kumimoji="1" lang="en-US" altLang="ja-JP" sz="1200" dirty="0">
                          <a:solidFill>
                            <a:schemeClr val="tx1"/>
                          </a:solidFill>
                        </a:rPr>
                        <a:t>2025/11/11</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内藤</a:t>
                      </a:r>
                    </a:p>
                  </a:txBody>
                  <a:tcPr/>
                </a:tc>
                <a:tc>
                  <a:txBody>
                    <a:bodyPr/>
                    <a:lstStyle/>
                    <a:p>
                      <a:endParaRPr kumimoji="1" lang="ja-JP" altLang="en-US" sz="1200" dirty="0">
                        <a:solidFill>
                          <a:schemeClr val="tx1"/>
                        </a:solidFill>
                      </a:endParaRPr>
                    </a:p>
                  </a:txBody>
                  <a:tcPr/>
                </a:tc>
                <a:tc>
                  <a:txBody>
                    <a:bodyPr/>
                    <a:lstStyle/>
                    <a:p>
                      <a:r>
                        <a:rPr kumimoji="1" lang="ja-JP" altLang="en-US" sz="1200" dirty="0">
                          <a:solidFill>
                            <a:schemeClr val="tx1"/>
                          </a:solidFill>
                        </a:rPr>
                        <a:t>３．画面　＜画面一覧＞</a:t>
                      </a:r>
                    </a:p>
                    <a:p>
                      <a:r>
                        <a:rPr kumimoji="1" lang="ja-JP" altLang="en-US" sz="1200" dirty="0">
                          <a:solidFill>
                            <a:schemeClr val="tx1"/>
                          </a:solidFill>
                        </a:rPr>
                        <a:t>　</a:t>
                      </a:r>
                      <a:r>
                        <a:rPr kumimoji="1" lang="en-US" altLang="ja-JP" sz="1200" dirty="0">
                          <a:solidFill>
                            <a:schemeClr val="tx1"/>
                          </a:solidFill>
                        </a:rPr>
                        <a:t>No.1</a:t>
                      </a:r>
                      <a:r>
                        <a:rPr kumimoji="1" lang="ja-JP" altLang="en-US" sz="1200" dirty="0">
                          <a:solidFill>
                            <a:schemeClr val="tx1"/>
                          </a:solidFill>
                        </a:rPr>
                        <a:t>　進捗状況一覧を追加</a:t>
                      </a:r>
                    </a:p>
                  </a:txBody>
                  <a:tcPr/>
                </a:tc>
                <a:extLst>
                  <a:ext uri="{0D108BD9-81ED-4DB2-BD59-A6C34878D82A}">
                    <a16:rowId xmlns:a16="http://schemas.microsoft.com/office/drawing/2014/main" val="2695248803"/>
                  </a:ext>
                </a:extLst>
              </a:tr>
              <a:tr h="448050">
                <a:tc>
                  <a:txBody>
                    <a:bodyPr/>
                    <a:lstStyle/>
                    <a:p>
                      <a:r>
                        <a:rPr kumimoji="1" lang="en-US" altLang="ja-JP" sz="1200" dirty="0"/>
                        <a:t>3</a:t>
                      </a:r>
                      <a:endParaRPr kumimoji="1" lang="ja-JP" altLang="en-US" sz="1200" dirty="0"/>
                    </a:p>
                  </a:txBody>
                  <a:tcPr/>
                </a:tc>
                <a:tc>
                  <a:txBody>
                    <a:bodyPr/>
                    <a:lstStyle/>
                    <a:p>
                      <a:r>
                        <a:rPr kumimoji="1" lang="en-US" altLang="ja-JP" sz="1200" dirty="0">
                          <a:solidFill>
                            <a:srgbClr val="000000"/>
                          </a:solidFill>
                        </a:rPr>
                        <a:t>1.2</a:t>
                      </a:r>
                      <a:endParaRPr kumimoji="1" lang="ja-JP" altLang="en-US" sz="1200" dirty="0">
                        <a:solidFill>
                          <a:srgbClr val="000000"/>
                        </a:solidFill>
                      </a:endParaRPr>
                    </a:p>
                  </a:txBody>
                  <a:tcPr/>
                </a:tc>
                <a:tc>
                  <a:txBody>
                    <a:bodyPr/>
                    <a:lstStyle/>
                    <a:p>
                      <a:r>
                        <a:rPr kumimoji="1" lang="en-US" altLang="ja-JP" sz="1200" dirty="0">
                          <a:solidFill>
                            <a:srgbClr val="000000"/>
                          </a:solidFill>
                        </a:rPr>
                        <a:t>2026/2/18</a:t>
                      </a:r>
                      <a:endParaRPr kumimoji="1" lang="ja-JP" altLang="en-US" sz="1200" dirty="0">
                        <a:solidFill>
                          <a:srgbClr val="000000"/>
                        </a:solidFill>
                      </a:endParaRPr>
                    </a:p>
                  </a:txBody>
                  <a:tcPr/>
                </a:tc>
                <a:tc>
                  <a:txBody>
                    <a:bodyPr/>
                    <a:lstStyle/>
                    <a:p>
                      <a:r>
                        <a:rPr kumimoji="1" lang="en-US" altLang="ja-JP" sz="1200" dirty="0">
                          <a:solidFill>
                            <a:srgbClr val="000000"/>
                          </a:solidFill>
                        </a:rPr>
                        <a:t>ISB</a:t>
                      </a:r>
                      <a:r>
                        <a:rPr kumimoji="1" lang="ja-JP" altLang="en-US" sz="1200" dirty="0">
                          <a:solidFill>
                            <a:srgbClr val="000000"/>
                          </a:solidFill>
                        </a:rPr>
                        <a:t>赤坂</a:t>
                      </a:r>
                    </a:p>
                  </a:txBody>
                  <a:tcPr/>
                </a:tc>
                <a:tc>
                  <a:txBody>
                    <a:bodyPr/>
                    <a:lstStyle/>
                    <a:p>
                      <a:endParaRPr kumimoji="1" lang="ja-JP" altLang="en-US" sz="1200" dirty="0">
                        <a:solidFill>
                          <a:srgbClr val="000000"/>
                        </a:solidFill>
                      </a:endParaRPr>
                    </a:p>
                  </a:txBody>
                  <a:tcPr/>
                </a:tc>
                <a:tc>
                  <a:txBody>
                    <a:bodyPr/>
                    <a:lstStyle/>
                    <a:p>
                      <a:r>
                        <a:rPr kumimoji="1" lang="ja-JP" altLang="en-US" sz="1200" dirty="0">
                          <a:solidFill>
                            <a:srgbClr val="000000"/>
                          </a:solidFill>
                        </a:rPr>
                        <a:t>三十三銀行用の資料を全社対応用に修正</a:t>
                      </a:r>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r>
                        <a:rPr kumimoji="1" lang="en-US" altLang="ja-JP" sz="1200" dirty="0">
                          <a:solidFill>
                            <a:srgbClr val="000000"/>
                          </a:solidFill>
                        </a:rPr>
                        <a:t>1.3</a:t>
                      </a:r>
                      <a:endParaRPr kumimoji="1" lang="ja-JP" altLang="en-US" sz="1200" dirty="0">
                        <a:solidFill>
                          <a:srgbClr val="000000"/>
                        </a:solidFill>
                      </a:endParaRPr>
                    </a:p>
                  </a:txBody>
                  <a:tcPr/>
                </a:tc>
                <a:tc>
                  <a:txBody>
                    <a:bodyPr/>
                    <a:lstStyle/>
                    <a:p>
                      <a:r>
                        <a:rPr kumimoji="1" lang="en-US" altLang="ja-JP" sz="1200" dirty="0">
                          <a:solidFill>
                            <a:srgbClr val="000000"/>
                          </a:solidFill>
                        </a:rPr>
                        <a:t>2026/2/27</a:t>
                      </a:r>
                      <a:endParaRPr kumimoji="1" lang="ja-JP" altLang="en-US" sz="1200" dirty="0">
                        <a:solidFill>
                          <a:srgbClr val="000000"/>
                        </a:solidFill>
                      </a:endParaRPr>
                    </a:p>
                  </a:txBody>
                  <a:tcPr/>
                </a:tc>
                <a:tc>
                  <a:txBody>
                    <a:bodyPr/>
                    <a:lstStyle/>
                    <a:p>
                      <a:r>
                        <a:rPr kumimoji="1" lang="en-US" altLang="ja-JP" sz="1200" dirty="0">
                          <a:solidFill>
                            <a:srgbClr val="000000"/>
                          </a:solidFill>
                        </a:rPr>
                        <a:t>ISB</a:t>
                      </a:r>
                      <a:r>
                        <a:rPr kumimoji="1" lang="ja-JP" altLang="en-US" sz="1200" dirty="0">
                          <a:solidFill>
                            <a:srgbClr val="000000"/>
                          </a:solidFill>
                        </a:rPr>
                        <a:t>赤坂</a:t>
                      </a:r>
                    </a:p>
                  </a:txBody>
                  <a:tcPr/>
                </a:tc>
                <a:tc>
                  <a:txBody>
                    <a:bodyPr/>
                    <a:lstStyle/>
                    <a:p>
                      <a:endParaRPr kumimoji="1" lang="ja-JP" altLang="en-US" sz="1200" dirty="0">
                        <a:solidFill>
                          <a:srgbClr val="000000"/>
                        </a:solidFill>
                      </a:endParaRPr>
                    </a:p>
                  </a:txBody>
                  <a:tcPr/>
                </a:tc>
                <a:tc>
                  <a:txBody>
                    <a:bodyPr/>
                    <a:lstStyle/>
                    <a:p>
                      <a:r>
                        <a:rPr kumimoji="1" lang="ja-JP" altLang="en-US" sz="1200" dirty="0">
                          <a:solidFill>
                            <a:srgbClr val="000000"/>
                          </a:solidFill>
                        </a:rPr>
                        <a:t>要件定義書から反映</a:t>
                      </a:r>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r>
                        <a:rPr kumimoji="1" lang="en-US" altLang="ja-JP" sz="1200" dirty="0">
                          <a:solidFill>
                            <a:schemeClr val="tx1"/>
                          </a:solidFill>
                        </a:rPr>
                        <a:t>1.4</a:t>
                      </a:r>
                      <a:endParaRPr kumimoji="1" lang="ja-JP" altLang="en-US" sz="1200" dirty="0">
                        <a:solidFill>
                          <a:schemeClr val="tx1"/>
                        </a:solidFill>
                      </a:endParaRPr>
                    </a:p>
                  </a:txBody>
                  <a:tcPr/>
                </a:tc>
                <a:tc>
                  <a:txBody>
                    <a:bodyPr/>
                    <a:lstStyle/>
                    <a:p>
                      <a:r>
                        <a:rPr kumimoji="1" lang="en-US" altLang="ja-JP" sz="1200" dirty="0">
                          <a:solidFill>
                            <a:schemeClr val="tx1"/>
                          </a:solidFill>
                        </a:rPr>
                        <a:t>2026/3/3</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赤坂</a:t>
                      </a:r>
                    </a:p>
                  </a:txBody>
                  <a:tcPr/>
                </a:tc>
                <a:tc>
                  <a:txBody>
                    <a:bodyPr/>
                    <a:lstStyle/>
                    <a:p>
                      <a:endParaRPr kumimoji="1" lang="ja-JP" altLang="en-US" sz="1200" dirty="0">
                        <a:solidFill>
                          <a:schemeClr val="tx1"/>
                        </a:solidFill>
                      </a:endParaRPr>
                    </a:p>
                  </a:txBody>
                  <a:tcPr/>
                </a:tc>
                <a:tc>
                  <a:txBody>
                    <a:bodyPr/>
                    <a:lstStyle/>
                    <a:p>
                      <a:r>
                        <a:rPr kumimoji="1" lang="ja-JP" altLang="en-US" sz="1200" dirty="0">
                          <a:solidFill>
                            <a:schemeClr val="tx1"/>
                          </a:solidFill>
                        </a:rPr>
                        <a:t>役席レビューの指摘対応</a:t>
                      </a:r>
                    </a:p>
                  </a:txBody>
                  <a:tcPr/>
                </a:tc>
                <a:extLst>
                  <a:ext uri="{0D108BD9-81ED-4DB2-BD59-A6C34878D82A}">
                    <a16:rowId xmlns:a16="http://schemas.microsoft.com/office/drawing/2014/main" val="2545511512"/>
                  </a:ext>
                </a:extLst>
              </a:tr>
              <a:tr h="448050">
                <a:tc>
                  <a:txBody>
                    <a:bodyPr/>
                    <a:lstStyle/>
                    <a:p>
                      <a:r>
                        <a:rPr kumimoji="1" lang="en-US" altLang="ja-JP" sz="1200" dirty="0"/>
                        <a:t>6</a:t>
                      </a:r>
                      <a:endParaRPr kumimoji="1" lang="ja-JP" altLang="en-US" sz="1200" dirty="0"/>
                    </a:p>
                  </a:txBody>
                  <a:tcPr/>
                </a:tc>
                <a:tc>
                  <a:txBody>
                    <a:bodyPr/>
                    <a:lstStyle/>
                    <a:p>
                      <a:r>
                        <a:rPr kumimoji="1" lang="en-US" altLang="ja-JP" sz="1200" dirty="0">
                          <a:solidFill>
                            <a:srgbClr val="000000"/>
                          </a:solidFill>
                        </a:rPr>
                        <a:t>1.5</a:t>
                      </a:r>
                      <a:endParaRPr kumimoji="1" lang="ja-JP" altLang="en-US" sz="1200" dirty="0">
                        <a:solidFill>
                          <a:srgbClr val="000000"/>
                        </a:solidFill>
                      </a:endParaRPr>
                    </a:p>
                  </a:txBody>
                  <a:tcPr/>
                </a:tc>
                <a:tc>
                  <a:txBody>
                    <a:bodyPr/>
                    <a:lstStyle/>
                    <a:p>
                      <a:r>
                        <a:rPr kumimoji="1" lang="en-US" altLang="ja-JP" sz="1200" dirty="0">
                          <a:solidFill>
                            <a:srgbClr val="000000"/>
                          </a:solidFill>
                        </a:rPr>
                        <a:t>2026/3/9</a:t>
                      </a:r>
                      <a:endParaRPr kumimoji="1" lang="ja-JP" altLang="en-US" sz="1200" dirty="0">
                        <a:solidFill>
                          <a:srgbClr val="0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rgbClr val="000000"/>
                          </a:solidFill>
                        </a:rPr>
                        <a:t>ISB</a:t>
                      </a:r>
                      <a:r>
                        <a:rPr kumimoji="1" lang="ja-JP" altLang="en-US" sz="1200" dirty="0">
                          <a:solidFill>
                            <a:srgbClr val="000000"/>
                          </a:solidFill>
                        </a:rPr>
                        <a:t>赤坂</a:t>
                      </a:r>
                    </a:p>
                  </a:txBody>
                  <a:tcPr/>
                </a:tc>
                <a:tc>
                  <a:txBody>
                    <a:bodyPr/>
                    <a:lstStyle/>
                    <a:p>
                      <a:endParaRPr kumimoji="1" lang="ja-JP" altLang="en-US" sz="1200" dirty="0">
                        <a:solidFill>
                          <a:srgbClr val="000000"/>
                        </a:solidFill>
                      </a:endParaRPr>
                    </a:p>
                  </a:txBody>
                  <a:tcPr/>
                </a:tc>
                <a:tc>
                  <a:txBody>
                    <a:bodyPr/>
                    <a:lstStyle/>
                    <a:p>
                      <a:r>
                        <a:rPr kumimoji="1" lang="en-US" altLang="ja-JP" sz="1200" dirty="0">
                          <a:solidFill>
                            <a:srgbClr val="000000"/>
                          </a:solidFill>
                        </a:rPr>
                        <a:t>NISA</a:t>
                      </a:r>
                      <a:r>
                        <a:rPr kumimoji="1" lang="ja-JP" altLang="en-US" sz="1200" dirty="0">
                          <a:solidFill>
                            <a:srgbClr val="000000"/>
                          </a:solidFill>
                        </a:rPr>
                        <a:t>先日付注文を会社条件で制御する記載の追加</a:t>
                      </a:r>
                    </a:p>
                  </a:txBody>
                  <a:tcPr/>
                </a:tc>
                <a:extLst>
                  <a:ext uri="{0D108BD9-81ED-4DB2-BD59-A6C34878D82A}">
                    <a16:rowId xmlns:a16="http://schemas.microsoft.com/office/drawing/2014/main" val="3770836329"/>
                  </a:ext>
                </a:extLst>
              </a:tr>
              <a:tr h="448050">
                <a:tc>
                  <a:txBody>
                    <a:bodyPr/>
                    <a:lstStyle/>
                    <a:p>
                      <a:r>
                        <a:rPr kumimoji="1" lang="en-US" altLang="ja-JP" sz="1200" dirty="0"/>
                        <a:t>7</a:t>
                      </a:r>
                      <a:endParaRPr kumimoji="1" lang="ja-JP" altLang="en-US" sz="1200" dirty="0"/>
                    </a:p>
                  </a:txBody>
                  <a:tcPr/>
                </a:tc>
                <a:tc>
                  <a:txBody>
                    <a:bodyPr/>
                    <a:lstStyle/>
                    <a:p>
                      <a:r>
                        <a:rPr kumimoji="1" lang="en-US" altLang="ja-JP" sz="1200" dirty="0">
                          <a:solidFill>
                            <a:schemeClr val="tx1"/>
                          </a:solidFill>
                        </a:rPr>
                        <a:t>1.6</a:t>
                      </a:r>
                      <a:endParaRPr kumimoji="1" lang="ja-JP" altLang="en-US" sz="1200" dirty="0">
                        <a:solidFill>
                          <a:schemeClr val="tx1"/>
                        </a:solidFill>
                      </a:endParaRPr>
                    </a:p>
                  </a:txBody>
                  <a:tcPr/>
                </a:tc>
                <a:tc>
                  <a:txBody>
                    <a:bodyPr/>
                    <a:lstStyle/>
                    <a:p>
                      <a:r>
                        <a:rPr kumimoji="1" lang="en-US" altLang="ja-JP" sz="1200" dirty="0">
                          <a:solidFill>
                            <a:schemeClr val="tx1"/>
                          </a:solidFill>
                        </a:rPr>
                        <a:t>2026/4/2</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赤坂</a:t>
                      </a:r>
                    </a:p>
                  </a:txBody>
                  <a:tcPr/>
                </a:tc>
                <a:tc>
                  <a:txBody>
                    <a:bodyPr/>
                    <a:lstStyle/>
                    <a:p>
                      <a:endParaRPr kumimoji="1" lang="ja-JP" altLang="en-US" sz="1200" dirty="0">
                        <a:solidFill>
                          <a:schemeClr val="tx1"/>
                        </a:solidFill>
                      </a:endParaRPr>
                    </a:p>
                  </a:txBody>
                  <a:tcPr/>
                </a:tc>
                <a:tc>
                  <a:txBody>
                    <a:bodyPr/>
                    <a:lstStyle/>
                    <a:p>
                      <a:r>
                        <a:rPr kumimoji="1" lang="ja-JP" altLang="en-US" sz="1200" dirty="0">
                          <a:solidFill>
                            <a:schemeClr val="tx1"/>
                          </a:solidFill>
                        </a:rPr>
                        <a:t>定時定額</a:t>
                      </a:r>
                      <a:r>
                        <a:rPr kumimoji="1" lang="en-US" altLang="ja-JP" sz="1200" dirty="0">
                          <a:solidFill>
                            <a:schemeClr val="tx1"/>
                          </a:solidFill>
                        </a:rPr>
                        <a:t>(</a:t>
                      </a:r>
                      <a:r>
                        <a:rPr kumimoji="1" lang="ja-JP" altLang="en-US" sz="1200" dirty="0">
                          <a:solidFill>
                            <a:schemeClr val="tx1"/>
                          </a:solidFill>
                        </a:rPr>
                        <a:t>変更</a:t>
                      </a:r>
                      <a:r>
                        <a:rPr kumimoji="1" lang="en-US" altLang="ja-JP" sz="1200" dirty="0">
                          <a:solidFill>
                            <a:schemeClr val="tx1"/>
                          </a:solidFill>
                        </a:rPr>
                        <a:t>)</a:t>
                      </a:r>
                      <a:r>
                        <a:rPr kumimoji="1" lang="ja-JP" altLang="en-US" sz="1200" dirty="0">
                          <a:solidFill>
                            <a:schemeClr val="tx1"/>
                          </a:solidFill>
                        </a:rPr>
                        <a:t>も先日付</a:t>
                      </a:r>
                      <a:r>
                        <a:rPr kumimoji="1" lang="en-US" altLang="ja-JP" sz="1200" dirty="0">
                          <a:solidFill>
                            <a:schemeClr val="tx1"/>
                          </a:solidFill>
                        </a:rPr>
                        <a:t>NISA</a:t>
                      </a:r>
                      <a:r>
                        <a:rPr kumimoji="1" lang="ja-JP" altLang="en-US" sz="1200" dirty="0">
                          <a:solidFill>
                            <a:schemeClr val="tx1"/>
                          </a:solidFill>
                        </a:rPr>
                        <a:t>注文できるよう修正する記載の追加</a:t>
                      </a:r>
                    </a:p>
                  </a:txBody>
                  <a:tcPr/>
                </a:tc>
                <a:extLst>
                  <a:ext uri="{0D108BD9-81ED-4DB2-BD59-A6C34878D82A}">
                    <a16:rowId xmlns:a16="http://schemas.microsoft.com/office/drawing/2014/main" val="2002038993"/>
                  </a:ext>
                </a:extLst>
              </a:tr>
              <a:tr h="448050">
                <a:tc>
                  <a:txBody>
                    <a:bodyPr/>
                    <a:lstStyle/>
                    <a:p>
                      <a:r>
                        <a:rPr kumimoji="1" lang="en-US" altLang="ja-JP" sz="1200" dirty="0"/>
                        <a:t>8</a:t>
                      </a:r>
                      <a:endParaRPr kumimoji="1" lang="ja-JP" altLang="en-US" sz="1200" dirty="0"/>
                    </a:p>
                  </a:txBody>
                  <a:tcPr/>
                </a:tc>
                <a:tc>
                  <a:txBody>
                    <a:bodyPr/>
                    <a:lstStyle/>
                    <a:p>
                      <a:r>
                        <a:rPr kumimoji="1" lang="en-US" altLang="ja-JP" sz="1200" dirty="0">
                          <a:solidFill>
                            <a:schemeClr val="tx1"/>
                          </a:solidFill>
                        </a:rPr>
                        <a:t>1.7</a:t>
                      </a:r>
                      <a:endParaRPr kumimoji="1" lang="ja-JP" altLang="en-US" sz="1200" dirty="0">
                        <a:solidFill>
                          <a:schemeClr val="tx1"/>
                        </a:solidFill>
                      </a:endParaRPr>
                    </a:p>
                  </a:txBody>
                  <a:tcPr/>
                </a:tc>
                <a:tc>
                  <a:txBody>
                    <a:bodyPr/>
                    <a:lstStyle/>
                    <a:p>
                      <a:r>
                        <a:rPr kumimoji="1" lang="en-US" altLang="ja-JP" sz="1200" dirty="0">
                          <a:solidFill>
                            <a:schemeClr val="tx1"/>
                          </a:solidFill>
                        </a:rPr>
                        <a:t>2026/4/27</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赤坂</a:t>
                      </a:r>
                    </a:p>
                  </a:txBody>
                  <a:tcPr/>
                </a:tc>
                <a:tc>
                  <a:txBody>
                    <a:bodyPr/>
                    <a:lstStyle/>
                    <a:p>
                      <a:endParaRPr kumimoji="1" lang="ja-JP" altLang="en-US" sz="1200" dirty="0">
                        <a:solidFill>
                          <a:schemeClr val="tx1"/>
                        </a:solidFill>
                      </a:endParaRPr>
                    </a:p>
                  </a:txBody>
                  <a:tcPr/>
                </a:tc>
                <a:tc>
                  <a:txBody>
                    <a:bodyPr/>
                    <a:lstStyle/>
                    <a:p>
                      <a:r>
                        <a:rPr kumimoji="1" lang="ja-JP" altLang="en-US" sz="1200" dirty="0">
                          <a:solidFill>
                            <a:schemeClr val="tx1"/>
                          </a:solidFill>
                        </a:rPr>
                        <a:t>要件確定後更新</a:t>
                      </a:r>
                    </a:p>
                  </a:txBody>
                  <a:tcPr/>
                </a:tc>
                <a:extLst>
                  <a:ext uri="{0D108BD9-81ED-4DB2-BD59-A6C34878D82A}">
                    <a16:rowId xmlns:a16="http://schemas.microsoft.com/office/drawing/2014/main" val="381766258"/>
                  </a:ext>
                </a:extLst>
              </a:tr>
              <a:tr h="448050">
                <a:tc>
                  <a:txBody>
                    <a:bodyPr/>
                    <a:lstStyle/>
                    <a:p>
                      <a:r>
                        <a:rPr kumimoji="1" lang="en-US" altLang="ja-JP" sz="1200" dirty="0"/>
                        <a:t>9</a:t>
                      </a:r>
                      <a:endParaRPr kumimoji="1" lang="ja-JP" altLang="en-US" sz="1200" dirty="0"/>
                    </a:p>
                  </a:txBody>
                  <a:tcPr/>
                </a:tc>
                <a:tc>
                  <a:txBody>
                    <a:bodyPr/>
                    <a:lstStyle/>
                    <a:p>
                      <a:r>
                        <a:rPr kumimoji="1" lang="en-US" altLang="ja-JP" sz="1200" dirty="0">
                          <a:solidFill>
                            <a:schemeClr val="tx1"/>
                          </a:solidFill>
                        </a:rPr>
                        <a:t>1.8</a:t>
                      </a:r>
                      <a:endParaRPr kumimoji="1" lang="ja-JP" altLang="en-US" sz="1200" dirty="0">
                        <a:solidFill>
                          <a:schemeClr val="tx1"/>
                        </a:solidFill>
                      </a:endParaRPr>
                    </a:p>
                  </a:txBody>
                  <a:tcPr/>
                </a:tc>
                <a:tc>
                  <a:txBody>
                    <a:bodyPr/>
                    <a:lstStyle/>
                    <a:p>
                      <a:r>
                        <a:rPr kumimoji="1" lang="en-US" altLang="ja-JP" sz="1200" dirty="0">
                          <a:solidFill>
                            <a:schemeClr val="tx1"/>
                          </a:solidFill>
                        </a:rPr>
                        <a:t>2026/5/19</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赤坂</a:t>
                      </a:r>
                    </a:p>
                  </a:txBody>
                  <a:tcPr/>
                </a:tc>
                <a:tc>
                  <a:txBody>
                    <a:bodyPr/>
                    <a:lstStyle/>
                    <a:p>
                      <a:endParaRPr kumimoji="1" lang="ja-JP" altLang="en-US" sz="1200" dirty="0">
                        <a:solidFill>
                          <a:schemeClr val="tx1"/>
                        </a:solidFill>
                      </a:endParaRPr>
                    </a:p>
                  </a:txBody>
                  <a:tcPr/>
                </a:tc>
                <a:tc>
                  <a:txBody>
                    <a:bodyPr/>
                    <a:lstStyle/>
                    <a:p>
                      <a:r>
                        <a:rPr kumimoji="1" lang="ja-JP" altLang="en-US" sz="1200" dirty="0">
                          <a:solidFill>
                            <a:schemeClr val="tx1"/>
                          </a:solidFill>
                        </a:rPr>
                        <a:t>取引シミュレーション機能の追加</a:t>
                      </a:r>
                    </a:p>
                  </a:txBody>
                  <a:tcPr/>
                </a:tc>
                <a:extLst>
                  <a:ext uri="{0D108BD9-81ED-4DB2-BD59-A6C34878D82A}">
                    <a16:rowId xmlns:a16="http://schemas.microsoft.com/office/drawing/2014/main" val="522267820"/>
                  </a:ext>
                </a:extLst>
              </a:tr>
            </a:tbl>
          </a:graphicData>
        </a:graphic>
      </p:graphicFrame>
    </p:spTree>
    <p:extLst>
      <p:ext uri="{BB962C8B-B14F-4D97-AF65-F5344CB8AC3E}">
        <p14:creationId xmlns:p14="http://schemas.microsoft.com/office/powerpoint/2010/main" val="421682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FC23-3FDE-50F8-342C-0DD0A73A4C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E5811B-DBA3-BECC-409D-8D13D6D293EC}"/>
              </a:ext>
            </a:extLst>
          </p:cNvPr>
          <p:cNvSpPr>
            <a:spLocks noGrp="1"/>
          </p:cNvSpPr>
          <p:nvPr>
            <p:ph type="title"/>
          </p:nvPr>
        </p:nvSpPr>
        <p:spPr/>
        <p:txBody>
          <a:bodyPr/>
          <a:lstStyle/>
          <a:p>
            <a:r>
              <a:rPr kumimoji="1" lang="ja-JP" altLang="en-US" dirty="0"/>
              <a:t>更新履歴</a:t>
            </a:r>
          </a:p>
        </p:txBody>
      </p:sp>
      <p:graphicFrame>
        <p:nvGraphicFramePr>
          <p:cNvPr id="3" name="表 2">
            <a:extLst>
              <a:ext uri="{FF2B5EF4-FFF2-40B4-BE49-F238E27FC236}">
                <a16:creationId xmlns:a16="http://schemas.microsoft.com/office/drawing/2014/main" id="{9FAA8CE3-F31D-012A-BA59-9E40C1E2A370}"/>
              </a:ext>
            </a:extLst>
          </p:cNvPr>
          <p:cNvGraphicFramePr>
            <a:graphicFrameLocks noGrp="1"/>
          </p:cNvGraphicFramePr>
          <p:nvPr>
            <p:extLst>
              <p:ext uri="{D42A27DB-BD31-4B8C-83A1-F6EECF244321}">
                <p14:modId xmlns:p14="http://schemas.microsoft.com/office/powerpoint/2010/main" val="3438303906"/>
              </p:ext>
            </p:extLst>
          </p:nvPr>
        </p:nvGraphicFramePr>
        <p:xfrm>
          <a:off x="488504" y="1143044"/>
          <a:ext cx="8676964" cy="3557010"/>
        </p:xfrm>
        <a:graphic>
          <a:graphicData uri="http://schemas.openxmlformats.org/drawingml/2006/table">
            <a:tbl>
              <a:tblPr firstRow="1" bandRow="1">
                <a:tableStyleId>{93296810-A885-4BE3-A3E7-6D5BEEA58F35}</a:tableStyleId>
              </a:tblPr>
              <a:tblGrid>
                <a:gridCol w="432048">
                  <a:extLst>
                    <a:ext uri="{9D8B030D-6E8A-4147-A177-3AD203B41FA5}">
                      <a16:colId xmlns:a16="http://schemas.microsoft.com/office/drawing/2014/main" val="1777742977"/>
                    </a:ext>
                  </a:extLst>
                </a:gridCol>
                <a:gridCol w="679592">
                  <a:extLst>
                    <a:ext uri="{9D8B030D-6E8A-4147-A177-3AD203B41FA5}">
                      <a16:colId xmlns:a16="http://schemas.microsoft.com/office/drawing/2014/main" val="2154433068"/>
                    </a:ext>
                  </a:extLst>
                </a:gridCol>
                <a:gridCol w="1235155">
                  <a:extLst>
                    <a:ext uri="{9D8B030D-6E8A-4147-A177-3AD203B41FA5}">
                      <a16:colId xmlns:a16="http://schemas.microsoft.com/office/drawing/2014/main" val="2629557999"/>
                    </a:ext>
                  </a:extLst>
                </a:gridCol>
                <a:gridCol w="1235155">
                  <a:extLst>
                    <a:ext uri="{9D8B030D-6E8A-4147-A177-3AD203B41FA5}">
                      <a16:colId xmlns:a16="http://schemas.microsoft.com/office/drawing/2014/main" val="1127834330"/>
                    </a:ext>
                  </a:extLst>
                </a:gridCol>
                <a:gridCol w="1235155">
                  <a:extLst>
                    <a:ext uri="{9D8B030D-6E8A-4147-A177-3AD203B41FA5}">
                      <a16:colId xmlns:a16="http://schemas.microsoft.com/office/drawing/2014/main" val="345525746"/>
                    </a:ext>
                  </a:extLst>
                </a:gridCol>
                <a:gridCol w="3859859">
                  <a:extLst>
                    <a:ext uri="{9D8B030D-6E8A-4147-A177-3AD203B41FA5}">
                      <a16:colId xmlns:a16="http://schemas.microsoft.com/office/drawing/2014/main" val="3092326056"/>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版数</a:t>
                      </a:r>
                    </a:p>
                  </a:txBody>
                  <a:tcPr/>
                </a:tc>
                <a:tc>
                  <a:txBody>
                    <a:bodyPr/>
                    <a:lstStyle/>
                    <a:p>
                      <a:r>
                        <a:rPr kumimoji="1" lang="ja-JP" altLang="en-US" sz="1200" dirty="0"/>
                        <a:t>作成日</a:t>
                      </a:r>
                    </a:p>
                  </a:txBody>
                  <a:tcPr/>
                </a:tc>
                <a:tc>
                  <a:txBody>
                    <a:bodyPr/>
                    <a:lstStyle/>
                    <a:p>
                      <a:r>
                        <a:rPr kumimoji="1" lang="ja-JP" altLang="en-US" sz="1200" dirty="0"/>
                        <a:t>対応者</a:t>
                      </a:r>
                    </a:p>
                  </a:txBody>
                  <a:tcPr/>
                </a:tc>
                <a:tc>
                  <a:txBody>
                    <a:bodyPr/>
                    <a:lstStyle/>
                    <a:p>
                      <a:r>
                        <a:rPr kumimoji="1" lang="ja-JP" altLang="en-US" sz="1200" dirty="0"/>
                        <a:t>承認者</a:t>
                      </a:r>
                    </a:p>
                  </a:txBody>
                  <a:tcPr/>
                </a:tc>
                <a:tc>
                  <a:txBody>
                    <a:bodyPr/>
                    <a:lstStyle/>
                    <a:p>
                      <a:r>
                        <a:rPr kumimoji="1" lang="ja-JP" altLang="en-US" sz="1200" dirty="0"/>
                        <a:t>対応概要</a:t>
                      </a:r>
                    </a:p>
                  </a:txBody>
                  <a:tcPr/>
                </a:tc>
                <a:extLst>
                  <a:ext uri="{0D108BD9-81ED-4DB2-BD59-A6C34878D82A}">
                    <a16:rowId xmlns:a16="http://schemas.microsoft.com/office/drawing/2014/main" val="1550797271"/>
                  </a:ext>
                </a:extLst>
              </a:tr>
              <a:tr h="448050">
                <a:tc>
                  <a:txBody>
                    <a:bodyPr/>
                    <a:lstStyle/>
                    <a:p>
                      <a:r>
                        <a:rPr kumimoji="1" lang="en-US" altLang="ja-JP" sz="1200" dirty="0"/>
                        <a:t>10</a:t>
                      </a:r>
                      <a:endParaRPr kumimoji="1" lang="ja-JP" altLang="en-US" sz="1200" dirty="0"/>
                    </a:p>
                  </a:txBody>
                  <a:tcPr/>
                </a:tc>
                <a:tc>
                  <a:txBody>
                    <a:bodyPr/>
                    <a:lstStyle/>
                    <a:p>
                      <a:r>
                        <a:rPr kumimoji="1" lang="en-US" altLang="ja-JP" sz="1200" dirty="0">
                          <a:solidFill>
                            <a:schemeClr val="tx1"/>
                          </a:solidFill>
                        </a:rPr>
                        <a:t>1.9</a:t>
                      </a:r>
                      <a:endParaRPr kumimoji="1" lang="ja-JP" altLang="en-US" sz="1200" dirty="0">
                        <a:solidFill>
                          <a:schemeClr val="tx1"/>
                        </a:solidFill>
                      </a:endParaRPr>
                    </a:p>
                  </a:txBody>
                  <a:tcPr/>
                </a:tc>
                <a:tc>
                  <a:txBody>
                    <a:bodyPr/>
                    <a:lstStyle/>
                    <a:p>
                      <a:r>
                        <a:rPr kumimoji="1" lang="en-US" altLang="ja-JP" sz="1200" dirty="0">
                          <a:solidFill>
                            <a:schemeClr val="tx1"/>
                          </a:solidFill>
                        </a:rPr>
                        <a:t>2026/5/22</a:t>
                      </a:r>
                      <a:endParaRPr kumimoji="1" lang="ja-JP" altLang="en-US" sz="1200" dirty="0">
                        <a:solidFill>
                          <a:schemeClr val="tx1"/>
                        </a:solidFill>
                      </a:endParaRPr>
                    </a:p>
                  </a:txBody>
                  <a:tcPr/>
                </a:tc>
                <a:tc>
                  <a:txBody>
                    <a:bodyPr/>
                    <a:lstStyle/>
                    <a:p>
                      <a:r>
                        <a:rPr kumimoji="1" lang="en-US" altLang="ja-JP" sz="1200" dirty="0">
                          <a:solidFill>
                            <a:schemeClr val="tx1"/>
                          </a:solidFill>
                        </a:rPr>
                        <a:t>ISB</a:t>
                      </a:r>
                      <a:r>
                        <a:rPr kumimoji="1" lang="ja-JP" altLang="en-US" sz="1200" dirty="0">
                          <a:solidFill>
                            <a:schemeClr val="tx1"/>
                          </a:solidFill>
                        </a:rPr>
                        <a:t>赤坂</a:t>
                      </a:r>
                    </a:p>
                  </a:txBody>
                  <a:tcPr/>
                </a:tc>
                <a:tc>
                  <a:txBody>
                    <a:bodyPr/>
                    <a:lstStyle/>
                    <a:p>
                      <a:endParaRPr kumimoji="1" lang="ja-JP" altLang="en-US" sz="1200" dirty="0">
                        <a:solidFill>
                          <a:schemeClr val="tx1"/>
                        </a:solidFill>
                      </a:endParaRPr>
                    </a:p>
                  </a:txBody>
                  <a:tcPr/>
                </a:tc>
                <a:tc>
                  <a:txBody>
                    <a:bodyPr/>
                    <a:lstStyle/>
                    <a:p>
                      <a:r>
                        <a:rPr kumimoji="1" lang="en-US" altLang="ja-JP" sz="1200" dirty="0">
                          <a:solidFill>
                            <a:schemeClr val="tx1"/>
                          </a:solidFill>
                        </a:rPr>
                        <a:t>P.3</a:t>
                      </a:r>
                    </a:p>
                    <a:p>
                      <a:r>
                        <a:rPr kumimoji="1" lang="ja-JP" altLang="en-US" sz="1200" dirty="0">
                          <a:solidFill>
                            <a:schemeClr val="tx1"/>
                          </a:solidFill>
                        </a:rPr>
                        <a:t>取引状況の修正を</a:t>
                      </a:r>
                      <a:r>
                        <a:rPr kumimoji="1" lang="en-US" altLang="ja-JP" sz="1200" dirty="0">
                          <a:solidFill>
                            <a:schemeClr val="tx1"/>
                          </a:solidFill>
                        </a:rPr>
                        <a:t>No.7</a:t>
                      </a:r>
                      <a:r>
                        <a:rPr kumimoji="1" lang="ja-JP" altLang="en-US" sz="1200" dirty="0">
                          <a:solidFill>
                            <a:schemeClr val="tx1"/>
                          </a:solidFill>
                        </a:rPr>
                        <a:t>として追加</a:t>
                      </a:r>
                      <a:endParaRPr kumimoji="1" lang="en-US" altLang="ja-JP" sz="1200" dirty="0">
                        <a:solidFill>
                          <a:schemeClr val="tx1"/>
                        </a:solidFill>
                      </a:endParaRPr>
                    </a:p>
                    <a:p>
                      <a:r>
                        <a:rPr kumimoji="1" lang="en-US" altLang="ja-JP" sz="1200" dirty="0">
                          <a:solidFill>
                            <a:schemeClr val="tx1"/>
                          </a:solidFill>
                        </a:rPr>
                        <a:t>P.10</a:t>
                      </a:r>
                    </a:p>
                    <a:p>
                      <a:r>
                        <a:rPr kumimoji="1" lang="ja-JP" altLang="en-US" sz="1200" dirty="0">
                          <a:solidFill>
                            <a:schemeClr val="tx1"/>
                          </a:solidFill>
                        </a:rPr>
                        <a:t>軽技　の参照対象を追加</a:t>
                      </a:r>
                      <a:endParaRPr kumimoji="1" lang="en-US" altLang="ja-JP" sz="1200" dirty="0">
                        <a:solidFill>
                          <a:schemeClr val="tx1"/>
                        </a:solidFill>
                      </a:endParaRPr>
                    </a:p>
                    <a:p>
                      <a:r>
                        <a:rPr kumimoji="1" lang="en-US" altLang="ja-JP" sz="1200" dirty="0">
                          <a:solidFill>
                            <a:schemeClr val="tx1"/>
                          </a:solidFill>
                        </a:rPr>
                        <a:t>P.11</a:t>
                      </a:r>
                    </a:p>
                    <a:p>
                      <a:r>
                        <a:rPr kumimoji="1" lang="ja-JP" altLang="en-US" sz="1200" dirty="0">
                          <a:solidFill>
                            <a:schemeClr val="tx1"/>
                          </a:solidFill>
                        </a:rPr>
                        <a:t>取引状況の修正機能を追加</a:t>
                      </a:r>
                      <a:endParaRPr kumimoji="1" lang="en-US" altLang="ja-JP" sz="1200" dirty="0">
                        <a:solidFill>
                          <a:schemeClr val="tx1"/>
                        </a:solidFill>
                      </a:endParaRPr>
                    </a:p>
                    <a:p>
                      <a:r>
                        <a:rPr kumimoji="1" lang="en-US" altLang="ja-JP" sz="1200" dirty="0">
                          <a:solidFill>
                            <a:schemeClr val="tx1"/>
                          </a:solidFill>
                        </a:rPr>
                        <a:t>P.13</a:t>
                      </a:r>
                    </a:p>
                    <a:p>
                      <a:r>
                        <a:rPr kumimoji="1" lang="ja-JP" altLang="en-US" sz="1200" dirty="0">
                          <a:solidFill>
                            <a:schemeClr val="tx1"/>
                          </a:solidFill>
                        </a:rPr>
                        <a:t>取引状況の修正画面を追加</a:t>
                      </a:r>
                      <a:endParaRPr kumimoji="1" lang="en-US" altLang="ja-JP" sz="1200" dirty="0">
                        <a:solidFill>
                          <a:schemeClr val="tx1"/>
                        </a:solidFill>
                      </a:endParaRPr>
                    </a:p>
                    <a:p>
                      <a:r>
                        <a:rPr kumimoji="1" lang="en-US" altLang="ja-JP" sz="1200" dirty="0">
                          <a:solidFill>
                            <a:schemeClr val="tx1"/>
                          </a:solidFill>
                        </a:rPr>
                        <a:t>P.17</a:t>
                      </a:r>
                      <a:r>
                        <a:rPr kumimoji="1" lang="ja-JP" altLang="en-US" sz="1200" dirty="0">
                          <a:solidFill>
                            <a:schemeClr val="tx1"/>
                          </a:solidFill>
                        </a:rPr>
                        <a:t>～</a:t>
                      </a:r>
                      <a:r>
                        <a:rPr kumimoji="1" lang="en-US" altLang="ja-JP" sz="1200" dirty="0">
                          <a:solidFill>
                            <a:schemeClr val="tx1"/>
                          </a:solidFill>
                        </a:rPr>
                        <a:t>20</a:t>
                      </a:r>
                    </a:p>
                    <a:p>
                      <a:r>
                        <a:rPr kumimoji="1" lang="ja-JP" altLang="en-US" sz="1200" dirty="0">
                          <a:solidFill>
                            <a:schemeClr val="tx1"/>
                          </a:solidFill>
                        </a:rPr>
                        <a:t>取引状況の修正画面イメージを追加</a:t>
                      </a:r>
                      <a:endParaRPr kumimoji="1" lang="en-US" altLang="ja-JP" sz="1200" dirty="0">
                        <a:solidFill>
                          <a:schemeClr val="tx1"/>
                        </a:solidFill>
                      </a:endParaRPr>
                    </a:p>
                    <a:p>
                      <a:r>
                        <a:rPr kumimoji="1" lang="en-US" altLang="ja-JP" sz="1200" dirty="0">
                          <a:solidFill>
                            <a:schemeClr val="tx1"/>
                          </a:solidFill>
                        </a:rPr>
                        <a:t>P.21</a:t>
                      </a:r>
                    </a:p>
                    <a:p>
                      <a:r>
                        <a:rPr kumimoji="1" lang="en-US" altLang="ja-JP" sz="1200" dirty="0">
                          <a:solidFill>
                            <a:schemeClr val="tx1"/>
                          </a:solidFill>
                        </a:rPr>
                        <a:t>MF</a:t>
                      </a:r>
                      <a:r>
                        <a:rPr kumimoji="1" lang="ja-JP" altLang="en-US" sz="1200" dirty="0">
                          <a:solidFill>
                            <a:schemeClr val="tx1"/>
                          </a:solidFill>
                        </a:rPr>
                        <a:t>コードテーブルを追加</a:t>
                      </a:r>
                      <a:endParaRPr kumimoji="1" lang="en-US" altLang="ja-JP" sz="1200" dirty="0">
                        <a:solidFill>
                          <a:schemeClr val="tx1"/>
                        </a:solidFill>
                      </a:endParaRPr>
                    </a:p>
                  </a:txBody>
                  <a:tcPr/>
                </a:tc>
                <a:extLst>
                  <a:ext uri="{0D108BD9-81ED-4DB2-BD59-A6C34878D82A}">
                    <a16:rowId xmlns:a16="http://schemas.microsoft.com/office/drawing/2014/main" val="2934999646"/>
                  </a:ext>
                </a:extLst>
              </a:tr>
              <a:tr h="448050">
                <a:tc>
                  <a:txBody>
                    <a:bodyPr/>
                    <a:lstStyle/>
                    <a:p>
                      <a:r>
                        <a:rPr kumimoji="1" lang="en-US" altLang="ja-JP" sz="1200" dirty="0"/>
                        <a:t>11</a:t>
                      </a:r>
                      <a:endParaRPr kumimoji="1" lang="ja-JP" altLang="en-US" sz="1200" dirty="0"/>
                    </a:p>
                  </a:txBody>
                  <a:tcPr/>
                </a:tc>
                <a:tc>
                  <a:txBody>
                    <a:bodyPr/>
                    <a:lstStyle/>
                    <a:p>
                      <a:r>
                        <a:rPr kumimoji="1" lang="en-US" altLang="ja-JP" sz="1200" dirty="0">
                          <a:solidFill>
                            <a:srgbClr val="FF0000"/>
                          </a:solidFill>
                        </a:rPr>
                        <a:t>2.0</a:t>
                      </a:r>
                      <a:endParaRPr kumimoji="1" lang="ja-JP" altLang="en-US" sz="1200" dirty="0">
                        <a:solidFill>
                          <a:srgbClr val="FF0000"/>
                        </a:solidFill>
                      </a:endParaRPr>
                    </a:p>
                  </a:txBody>
                  <a:tcPr/>
                </a:tc>
                <a:tc>
                  <a:txBody>
                    <a:bodyPr/>
                    <a:lstStyle/>
                    <a:p>
                      <a:r>
                        <a:rPr kumimoji="1" lang="en-US" altLang="ja-JP" sz="1200" dirty="0">
                          <a:solidFill>
                            <a:srgbClr val="FF0000"/>
                          </a:solidFill>
                        </a:rPr>
                        <a:t>2026/6/12</a:t>
                      </a:r>
                      <a:endParaRPr kumimoji="1" lang="ja-JP" altLang="en-US" sz="1200" dirty="0">
                        <a:solidFill>
                          <a:srgbClr val="FF0000"/>
                        </a:solidFill>
                      </a:endParaRPr>
                    </a:p>
                  </a:txBody>
                  <a:tcPr/>
                </a:tc>
                <a:tc>
                  <a:txBody>
                    <a:bodyPr/>
                    <a:lstStyle/>
                    <a:p>
                      <a:r>
                        <a:rPr kumimoji="1" lang="en-US" altLang="ja-JP" sz="1200" dirty="0">
                          <a:solidFill>
                            <a:srgbClr val="FF0000"/>
                          </a:solidFill>
                        </a:rPr>
                        <a:t>ISB</a:t>
                      </a:r>
                      <a:r>
                        <a:rPr kumimoji="1" lang="ja-JP" altLang="en-US" sz="1200" dirty="0">
                          <a:solidFill>
                            <a:srgbClr val="FF0000"/>
                          </a:solidFill>
                        </a:rPr>
                        <a:t>赤坂</a:t>
                      </a:r>
                    </a:p>
                  </a:txBody>
                  <a:tcPr/>
                </a:tc>
                <a:tc>
                  <a:txBody>
                    <a:bodyPr/>
                    <a:lstStyle/>
                    <a:p>
                      <a:endParaRPr kumimoji="1" lang="ja-JP" altLang="en-US" sz="1200" dirty="0">
                        <a:solidFill>
                          <a:srgbClr val="FF0000"/>
                        </a:solidFill>
                      </a:endParaRPr>
                    </a:p>
                  </a:txBody>
                  <a:tcPr/>
                </a:tc>
                <a:tc>
                  <a:txBody>
                    <a:bodyPr/>
                    <a:lstStyle/>
                    <a:p>
                      <a:r>
                        <a:rPr kumimoji="1" lang="en-US" altLang="ja-JP" sz="1200" dirty="0">
                          <a:solidFill>
                            <a:srgbClr val="FF0000"/>
                          </a:solidFill>
                        </a:rPr>
                        <a:t>P.7</a:t>
                      </a:r>
                    </a:p>
                    <a:p>
                      <a:r>
                        <a:rPr kumimoji="1" lang="ja-JP" altLang="en-US" sz="1200" dirty="0">
                          <a:solidFill>
                            <a:srgbClr val="FF0000"/>
                          </a:solidFill>
                        </a:rPr>
                        <a:t>軽技の要件を取消された先日付注文の照会のみに修正</a:t>
                      </a:r>
                      <a:endParaRPr kumimoji="1" lang="en-US" altLang="ja-JP" sz="1200" dirty="0">
                        <a:solidFill>
                          <a:srgbClr val="FF0000"/>
                        </a:solidFill>
                      </a:endParaRPr>
                    </a:p>
                    <a:p>
                      <a:r>
                        <a:rPr kumimoji="1" lang="en-US" altLang="ja-JP" sz="1200" dirty="0">
                          <a:solidFill>
                            <a:srgbClr val="FF0000"/>
                          </a:solidFill>
                        </a:rPr>
                        <a:t>P.10</a:t>
                      </a:r>
                    </a:p>
                    <a:p>
                      <a:r>
                        <a:rPr kumimoji="1" lang="ja-JP" altLang="en-US" sz="1200" dirty="0">
                          <a:solidFill>
                            <a:srgbClr val="FF0000"/>
                          </a:solidFill>
                        </a:rPr>
                        <a:t>非課税口座簡易開設に追加した項目の参照機能を削除</a:t>
                      </a:r>
                      <a:endParaRPr kumimoji="1" lang="en-US" altLang="ja-JP" sz="1200" dirty="0">
                        <a:solidFill>
                          <a:srgbClr val="FF0000"/>
                        </a:solidFill>
                      </a:endParaRPr>
                    </a:p>
                  </a:txBody>
                  <a:tcPr/>
                </a:tc>
                <a:extLst>
                  <a:ext uri="{0D108BD9-81ED-4DB2-BD59-A6C34878D82A}">
                    <a16:rowId xmlns:a16="http://schemas.microsoft.com/office/drawing/2014/main" val="2847242387"/>
                  </a:ext>
                </a:extLst>
              </a:tr>
            </a:tbl>
          </a:graphicData>
        </a:graphic>
      </p:graphicFrame>
    </p:spTree>
    <p:extLst>
      <p:ext uri="{BB962C8B-B14F-4D97-AF65-F5344CB8AC3E}">
        <p14:creationId xmlns:p14="http://schemas.microsoft.com/office/powerpoint/2010/main" val="570120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E61E59-88FF-0400-ACB1-C0ECA4B464A9}"/>
              </a:ext>
            </a:extLst>
          </p:cNvPr>
          <p:cNvSpPr>
            <a:spLocks noGrp="1"/>
          </p:cNvSpPr>
          <p:nvPr>
            <p:ph type="title"/>
          </p:nvPr>
        </p:nvSpPr>
        <p:spPr/>
        <p:txBody>
          <a:bodyPr/>
          <a:lstStyle/>
          <a:p>
            <a:r>
              <a:rPr kumimoji="1" lang="ja-JP" altLang="en-US" dirty="0"/>
              <a:t>１．案件概要</a:t>
            </a:r>
          </a:p>
        </p:txBody>
      </p:sp>
      <p:sp>
        <p:nvSpPr>
          <p:cNvPr id="4" name="Text Box 16">
            <a:extLst>
              <a:ext uri="{FF2B5EF4-FFF2-40B4-BE49-F238E27FC236}">
                <a16:creationId xmlns:a16="http://schemas.microsoft.com/office/drawing/2014/main" id="{1E8A35A1-4686-D0BF-3F1D-8E315BB7D64B}"/>
              </a:ext>
            </a:extLst>
          </p:cNvPr>
          <p:cNvSpPr txBox="1">
            <a:spLocks noChangeArrowheads="1"/>
          </p:cNvSpPr>
          <p:nvPr/>
        </p:nvSpPr>
        <p:spPr bwMode="auto">
          <a:xfrm>
            <a:off x="92460" y="764704"/>
            <a:ext cx="9645650" cy="503413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eaLnBrk="1" hangingPunct="1">
              <a:lnSpc>
                <a:spcPct val="120000"/>
              </a:lnSpc>
              <a:spcBef>
                <a:spcPct val="0"/>
              </a:spcBef>
              <a:buClr>
                <a:srgbClr val="000066"/>
              </a:buClr>
              <a:buSzTx/>
              <a:buFont typeface="Wingdings" panose="05000000000000000000" pitchFamily="2" charset="2"/>
              <a:buNone/>
            </a:pP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案件名</a:t>
            </a:r>
            <a:r>
              <a:rPr lang="en-US" altLang="ja-JP" sz="1800" b="0" dirty="0">
                <a:solidFill>
                  <a:srgbClr val="000000"/>
                </a:solidFill>
                <a:latin typeface="ＭＳ ゴシック" panose="020B0609070205080204" pitchFamily="49" charset="-128"/>
                <a:ea typeface="ＭＳ ゴシック" panose="020B0609070205080204" pitchFamily="49" charset="-128"/>
              </a:rPr>
              <a:t>】</a:t>
            </a:r>
          </a:p>
          <a:p>
            <a:pPr>
              <a:lnSpc>
                <a:spcPct val="120000"/>
              </a:lnSpc>
              <a:spcBef>
                <a:spcPct val="0"/>
              </a:spcBef>
              <a:buClr>
                <a:srgbClr val="000066"/>
              </a:buClr>
              <a:buSzTx/>
              <a:buNone/>
            </a:pPr>
            <a:r>
              <a:rPr lang="ja-JP" altLang="en-US" sz="1800" b="0" dirty="0">
                <a:solidFill>
                  <a:srgbClr val="000000"/>
                </a:solidFill>
                <a:latin typeface="ＭＳ ゴシック" panose="020B0609070205080204" pitchFamily="49" charset="-128"/>
                <a:ea typeface="ＭＳ ゴシック" panose="020B0609070205080204" pitchFamily="49" charset="-128"/>
              </a:rPr>
              <a:t>　</a:t>
            </a:r>
            <a:r>
              <a:rPr lang="en-US" altLang="ja-JP" sz="1800" b="0" dirty="0">
                <a:solidFill>
                  <a:srgbClr val="000000"/>
                </a:solidFill>
                <a:latin typeface="ＭＳ ゴシック" panose="020B0609070205080204" pitchFamily="49" charset="-128"/>
                <a:ea typeface="ＭＳ ゴシック" panose="020B0609070205080204" pitchFamily="49" charset="-128"/>
              </a:rPr>
              <a:t>【FF】</a:t>
            </a:r>
            <a:r>
              <a:rPr lang="ja-JP" altLang="en-US" sz="1800" b="0" dirty="0">
                <a:solidFill>
                  <a:srgbClr val="000000"/>
                </a:solidFill>
                <a:latin typeface="ＭＳ ゴシック" panose="020B0609070205080204" pitchFamily="49" charset="-128"/>
                <a:ea typeface="ＭＳ ゴシック" panose="020B0609070205080204" pitchFamily="49" charset="-128"/>
              </a:rPr>
              <a:t>タブレットソリューション投信注文機能の追加対応</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eaLnBrk="1" hangingPunct="1">
              <a:lnSpc>
                <a:spcPct val="120000"/>
              </a:lnSpc>
              <a:spcBef>
                <a:spcPct val="0"/>
              </a:spcBef>
              <a:buClr>
                <a:srgbClr val="000066"/>
              </a:buClr>
              <a:buSzTx/>
              <a:buFont typeface="Wingdings" panose="05000000000000000000" pitchFamily="2" charset="2"/>
              <a:buNone/>
            </a:pPr>
            <a:r>
              <a:rPr lang="en-US" altLang="ja-JP" sz="1800" b="0" dirty="0">
                <a:solidFill>
                  <a:srgbClr val="000000"/>
                </a:solidFill>
                <a:latin typeface="ＭＳ ゴシック" panose="020B0609070205080204" pitchFamily="49" charset="-128"/>
                <a:ea typeface="ＭＳ ゴシック" panose="020B0609070205080204" pitchFamily="49" charset="-128"/>
              </a:rPr>
              <a:t>【SFA</a:t>
            </a:r>
            <a:r>
              <a:rPr lang="ja-JP" altLang="en-US" sz="1800" b="0" dirty="0">
                <a:solidFill>
                  <a:srgbClr val="000000"/>
                </a:solidFill>
                <a:latin typeface="ＭＳ ゴシック" panose="020B0609070205080204" pitchFamily="49" charset="-128"/>
                <a:ea typeface="ＭＳ ゴシック" panose="020B0609070205080204" pitchFamily="49" charset="-128"/>
              </a:rPr>
              <a:t>管理</a:t>
            </a:r>
            <a:r>
              <a:rPr lang="en-US" altLang="ja-JP" sz="1800" b="0" dirty="0">
                <a:solidFill>
                  <a:srgbClr val="000000"/>
                </a:solidFill>
                <a:latin typeface="ＭＳ ゴシック" panose="020B0609070205080204" pitchFamily="49" charset="-128"/>
                <a:ea typeface="ＭＳ ゴシック" panose="020B0609070205080204" pitchFamily="49" charset="-128"/>
              </a:rPr>
              <a:t>No】</a:t>
            </a:r>
            <a:r>
              <a:rPr lang="ja-JP" altLang="en-US" sz="1800" b="0" dirty="0">
                <a:solidFill>
                  <a:srgbClr val="000000"/>
                </a:solidFill>
                <a:ea typeface="ＭＳ ゴシック" panose="020B0609070205080204" pitchFamily="49" charset="-128"/>
              </a:rPr>
              <a:t>　</a:t>
            </a:r>
            <a:endParaRPr lang="en-US" altLang="ja-JP" sz="1800" b="0" dirty="0">
              <a:solidFill>
                <a:srgbClr val="000000"/>
              </a:solidFill>
              <a:ea typeface="ＭＳ ゴシック" panose="020B0609070205080204" pitchFamily="49" charset="-128"/>
            </a:endParaRPr>
          </a:p>
          <a:p>
            <a:pPr eaLnBrk="1" hangingPunct="1">
              <a:lnSpc>
                <a:spcPct val="120000"/>
              </a:lnSpc>
              <a:spcBef>
                <a:spcPct val="0"/>
              </a:spcBef>
              <a:buClr>
                <a:srgbClr val="000066"/>
              </a:buClr>
              <a:buSzTx/>
              <a:buFont typeface="Wingdings" panose="05000000000000000000" pitchFamily="2" charset="2"/>
              <a:buNone/>
              <a:tabLst>
                <a:tab pos="0" algn="l"/>
                <a:tab pos="1341438" algn="l"/>
              </a:tabLst>
            </a:pP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eaLnBrk="1" hangingPunct="1">
              <a:lnSpc>
                <a:spcPct val="120000"/>
              </a:lnSpc>
              <a:spcBef>
                <a:spcPct val="0"/>
              </a:spcBef>
              <a:buClr>
                <a:srgbClr val="000066"/>
              </a:buClr>
              <a:buSzTx/>
              <a:buFont typeface="Wingdings" panose="05000000000000000000" pitchFamily="2" charset="2"/>
              <a:buNone/>
              <a:tabLst>
                <a:tab pos="0" algn="l"/>
                <a:tab pos="1341438" algn="l"/>
              </a:tabLst>
            </a:pP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案件管理</a:t>
            </a:r>
            <a:r>
              <a:rPr lang="en-US" altLang="ja-JP" sz="1800" b="0" dirty="0">
                <a:solidFill>
                  <a:srgbClr val="000000"/>
                </a:solidFill>
                <a:latin typeface="ＭＳ ゴシック" panose="020B0609070205080204" pitchFamily="49" charset="-128"/>
                <a:ea typeface="ＭＳ ゴシック" panose="020B0609070205080204" pitchFamily="49" charset="-128"/>
              </a:rPr>
              <a:t>No】</a:t>
            </a:r>
            <a:r>
              <a:rPr lang="ja-JP" altLang="en-US" sz="1800" b="0" dirty="0">
                <a:solidFill>
                  <a:srgbClr val="000000"/>
                </a:solidFill>
                <a:latin typeface="ＭＳ ゴシック" panose="020B0609070205080204" pitchFamily="49" charset="-128"/>
                <a:ea typeface="ＭＳ ゴシック" panose="020B0609070205080204" pitchFamily="49" charset="-128"/>
              </a:rPr>
              <a:t>（見積もり時、未定の場合は決定後記載）</a:t>
            </a:r>
            <a:endParaRPr lang="ja-JP" altLang="en-US" sz="1800" b="0" dirty="0">
              <a:solidFill>
                <a:srgbClr val="000000"/>
              </a:solidFill>
              <a:ea typeface="ＭＳ ゴシック" panose="020B0609070205080204" pitchFamily="49" charset="-128"/>
            </a:endParaRPr>
          </a:p>
          <a:p>
            <a:pPr eaLnBrk="1" hangingPunct="1">
              <a:lnSpc>
                <a:spcPct val="120000"/>
              </a:lnSpc>
              <a:spcBef>
                <a:spcPct val="0"/>
              </a:spcBef>
              <a:buClr>
                <a:srgbClr val="000066"/>
              </a:buClr>
              <a:buSzTx/>
              <a:buFont typeface="Wingdings" panose="05000000000000000000" pitchFamily="2" charset="2"/>
              <a:buNone/>
              <a:tabLst>
                <a:tab pos="0" algn="l"/>
                <a:tab pos="1341438" algn="l"/>
              </a:tabLst>
            </a:pPr>
            <a:r>
              <a:rPr lang="ja-JP" altLang="en-US" sz="1800" b="0" dirty="0">
                <a:solidFill>
                  <a:srgbClr val="000000"/>
                </a:solidFill>
                <a:ea typeface="ＭＳ ゴシック" panose="020B0609070205080204" pitchFamily="49" charset="-128"/>
              </a:rPr>
              <a:t>　</a:t>
            </a:r>
            <a:r>
              <a:rPr lang="en-US" altLang="ja-JP" sz="1800" b="0" dirty="0">
                <a:solidFill>
                  <a:schemeClr val="tx1"/>
                </a:solidFill>
                <a:ea typeface="ＭＳ ゴシック" panose="020B0609070205080204" pitchFamily="49" charset="-128"/>
              </a:rPr>
              <a:t>1158</a:t>
            </a:r>
          </a:p>
          <a:p>
            <a:pPr eaLnBrk="1" hangingPunct="1">
              <a:lnSpc>
                <a:spcPct val="120000"/>
              </a:lnSpc>
              <a:spcBef>
                <a:spcPct val="0"/>
              </a:spcBef>
              <a:buClr>
                <a:srgbClr val="000066"/>
              </a:buClr>
              <a:buSzTx/>
              <a:buFont typeface="Wingdings" panose="05000000000000000000" pitchFamily="2" charset="2"/>
              <a:buNone/>
              <a:tabLst>
                <a:tab pos="0" algn="l"/>
                <a:tab pos="1341438" algn="l"/>
              </a:tabLst>
            </a:pPr>
            <a:r>
              <a:rPr lang="en-US" altLang="ja-JP" sz="1800" b="0" dirty="0">
                <a:solidFill>
                  <a:srgbClr val="000000"/>
                </a:solidFill>
                <a:ea typeface="ＭＳ ゴシック" panose="020B0609070205080204" pitchFamily="49" charset="-128"/>
              </a:rPr>
              <a:t>【</a:t>
            </a:r>
            <a:r>
              <a:rPr lang="ja-JP" altLang="en-US" sz="1800" b="0" dirty="0">
                <a:solidFill>
                  <a:srgbClr val="000000"/>
                </a:solidFill>
                <a:ea typeface="ＭＳ ゴシック" panose="020B0609070205080204" pitchFamily="49" charset="-128"/>
              </a:rPr>
              <a:t>ユーザ</a:t>
            </a:r>
            <a:r>
              <a:rPr lang="en-US" altLang="ja-JP" sz="1800" b="0" dirty="0">
                <a:solidFill>
                  <a:srgbClr val="000000"/>
                </a:solidFill>
                <a:ea typeface="ＭＳ ゴシック" panose="020B0609070205080204" pitchFamily="49" charset="-128"/>
              </a:rPr>
              <a:t>】	</a:t>
            </a:r>
            <a:endParaRPr lang="ja-JP" altLang="en-US" sz="1400" b="0" dirty="0">
              <a:solidFill>
                <a:srgbClr val="000000"/>
              </a:solidFill>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800" b="0" dirty="0">
                <a:solidFill>
                  <a:srgbClr val="000000"/>
                </a:solidFill>
                <a:latin typeface="ＭＳ ゴシック" panose="020B0609070205080204" pitchFamily="49" charset="-128"/>
                <a:ea typeface="ＭＳ ゴシック" panose="020B0609070205080204" pitchFamily="49" charset="-128"/>
              </a:rPr>
              <a:t>　タブレットで非課税口座開設機能を開放している</a:t>
            </a:r>
            <a:r>
              <a:rPr lang="en-US" altLang="ja-JP" sz="1800" b="0" dirty="0">
                <a:solidFill>
                  <a:srgbClr val="000000"/>
                </a:solidFill>
                <a:latin typeface="ＭＳ ゴシック" panose="020B0609070205080204" pitchFamily="49" charset="-128"/>
                <a:ea typeface="ＭＳ ゴシック" panose="020B0609070205080204" pitchFamily="49" charset="-128"/>
              </a:rPr>
              <a:t>MF</a:t>
            </a:r>
            <a:r>
              <a:rPr lang="ja-JP" altLang="en-US" sz="1800" b="0" dirty="0">
                <a:solidFill>
                  <a:srgbClr val="000000"/>
                </a:solidFill>
                <a:latin typeface="ＭＳ ゴシック" panose="020B0609070205080204" pitchFamily="49" charset="-128"/>
                <a:ea typeface="ＭＳ ゴシック" panose="020B0609070205080204" pitchFamily="49" charset="-128"/>
              </a:rPr>
              <a:t>利用行（大東銀行、愛媛銀行、</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800" b="0" dirty="0">
                <a:solidFill>
                  <a:srgbClr val="000000"/>
                </a:solidFill>
                <a:latin typeface="ＭＳ ゴシック" panose="020B0609070205080204" pitchFamily="49" charset="-128"/>
                <a:ea typeface="ＭＳ ゴシック" panose="020B0609070205080204" pitchFamily="49" charset="-128"/>
              </a:rPr>
              <a:t>　福島銀行、荘内銀行、香川銀行、組連銀行、北都銀行、三十三銀行、</a:t>
            </a:r>
            <a:r>
              <a:rPr lang="en-US" altLang="ja-JP" sz="1800" b="0" dirty="0">
                <a:solidFill>
                  <a:srgbClr val="000000"/>
                </a:solidFill>
                <a:latin typeface="ＭＳ ゴシック" panose="020B0609070205080204" pitchFamily="49" charset="-128"/>
                <a:ea typeface="ＭＳ ゴシック" panose="020B0609070205080204" pitchFamily="49" charset="-128"/>
              </a:rPr>
              <a:t>DIR</a:t>
            </a:r>
            <a:r>
              <a:rPr lang="ja-JP" altLang="en-US" sz="1800" b="0" dirty="0">
                <a:solidFill>
                  <a:srgbClr val="000000"/>
                </a:solidFill>
                <a:latin typeface="ＭＳ ゴシック" panose="020B0609070205080204" pitchFamily="49" charset="-128"/>
                <a:ea typeface="ＭＳ ゴシック" panose="020B0609070205080204" pitchFamily="49" charset="-128"/>
              </a:rPr>
              <a:t>銀行）</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リリース時期</a:t>
            </a: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（見積もり時、未定の場合は決定後記載）</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800" b="0" dirty="0">
                <a:solidFill>
                  <a:srgbClr val="000000"/>
                </a:solidFill>
                <a:latin typeface="ＭＳ ゴシック" panose="020B0609070205080204" pitchFamily="49" charset="-128"/>
                <a:ea typeface="ＭＳ ゴシック" panose="020B0609070205080204" pitchFamily="49" charset="-128"/>
              </a:rPr>
              <a:t>　未定</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添付資料</a:t>
            </a:r>
            <a:r>
              <a:rPr lang="en-US" altLang="ja-JP" sz="1800" b="0" dirty="0">
                <a:solidFill>
                  <a:srgbClr val="000000"/>
                </a:solidFill>
                <a:latin typeface="ＭＳ ゴシック" panose="020B0609070205080204" pitchFamily="49" charset="-128"/>
                <a:ea typeface="ＭＳ ゴシック" panose="020B0609070205080204" pitchFamily="49" charset="-128"/>
              </a:rPr>
              <a:t>】</a:t>
            </a:r>
          </a:p>
          <a:p>
            <a:pPr>
              <a:lnSpc>
                <a:spcPct val="120000"/>
              </a:lnSpc>
              <a:spcBef>
                <a:spcPct val="0"/>
              </a:spcBef>
              <a:buClr>
                <a:srgbClr val="000066"/>
              </a:buClr>
              <a:buSzTx/>
              <a:buNone/>
              <a:tabLst>
                <a:tab pos="0" algn="l"/>
                <a:tab pos="1343025" algn="l"/>
              </a:tabLst>
            </a:pPr>
            <a:r>
              <a:rPr lang="en-US" altLang="ja-JP" sz="1800" b="0" dirty="0">
                <a:solidFill>
                  <a:srgbClr val="000000"/>
                </a:solidFill>
                <a:latin typeface="ＭＳ ゴシック" panose="020B0609070205080204" pitchFamily="49" charset="-128"/>
                <a:ea typeface="ＭＳ ゴシック" panose="020B0609070205080204" pitchFamily="49" charset="-128"/>
              </a:rPr>
              <a:t>【PD00800115】【FR】</a:t>
            </a:r>
            <a:r>
              <a:rPr lang="ja-JP" altLang="en-US" sz="1800" b="0" dirty="0">
                <a:solidFill>
                  <a:srgbClr val="000000"/>
                </a:solidFill>
                <a:latin typeface="ＭＳ ゴシック" panose="020B0609070205080204" pitchFamily="49" charset="-128"/>
                <a:ea typeface="ＭＳ ゴシック" panose="020B0609070205080204" pitchFamily="49" charset="-128"/>
              </a:rPr>
              <a:t>タブレットソリューション投信注文機能対応</a:t>
            </a: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非課税口座開設同日先日付注文</a:t>
            </a:r>
            <a:r>
              <a:rPr lang="en-US" altLang="ja-JP" sz="1800" b="0" dirty="0">
                <a:solidFill>
                  <a:srgbClr val="000000"/>
                </a:solidFill>
                <a:latin typeface="ＭＳ ゴシック" panose="020B0609070205080204" pitchFamily="49" charset="-128"/>
                <a:ea typeface="ＭＳ ゴシック" panose="020B0609070205080204" pitchFamily="49" charset="-128"/>
              </a:rPr>
              <a:t>)_</a:t>
            </a:r>
            <a:r>
              <a:rPr lang="ja-JP" altLang="en-US" sz="1800" b="0" dirty="0">
                <a:solidFill>
                  <a:srgbClr val="000000"/>
                </a:solidFill>
                <a:latin typeface="ＭＳ ゴシック" panose="020B0609070205080204" pitchFamily="49" charset="-128"/>
                <a:ea typeface="ＭＳ ゴシック" panose="020B0609070205080204" pitchFamily="49" charset="-128"/>
              </a:rPr>
              <a:t>見積</a:t>
            </a:r>
            <a:r>
              <a:rPr lang="en-US" altLang="ja-JP" sz="1800" b="0" dirty="0">
                <a:solidFill>
                  <a:srgbClr val="000000"/>
                </a:solidFill>
                <a:latin typeface="ＭＳ ゴシック" panose="020B0609070205080204" pitchFamily="49" charset="-128"/>
                <a:ea typeface="ＭＳ ゴシック" panose="020B0609070205080204" pitchFamily="49" charset="-128"/>
              </a:rPr>
              <a:t>(</a:t>
            </a:r>
            <a:r>
              <a:rPr lang="ja-JP" altLang="en-US" sz="1800" b="0" dirty="0">
                <a:solidFill>
                  <a:srgbClr val="000000"/>
                </a:solidFill>
                <a:latin typeface="ＭＳ ゴシック" panose="020B0609070205080204" pitchFamily="49" charset="-128"/>
                <a:ea typeface="ＭＳ ゴシック" panose="020B0609070205080204" pitchFamily="49" charset="-128"/>
              </a:rPr>
              <a:t>更新版</a:t>
            </a:r>
            <a:r>
              <a:rPr lang="en-US" altLang="ja-JP" sz="1800" b="0" dirty="0">
                <a:solidFill>
                  <a:srgbClr val="000000"/>
                </a:solidFill>
                <a:latin typeface="ＭＳ ゴシック" panose="020B0609070205080204" pitchFamily="49" charset="-128"/>
                <a:ea typeface="ＭＳ ゴシック" panose="020B0609070205080204" pitchFamily="49" charset="-128"/>
              </a:rPr>
              <a:t>).xlsx</a:t>
            </a:r>
          </a:p>
          <a:p>
            <a:pPr>
              <a:lnSpc>
                <a:spcPct val="120000"/>
              </a:lnSpc>
              <a:spcBef>
                <a:spcPct val="0"/>
              </a:spcBef>
              <a:buClr>
                <a:srgbClr val="000066"/>
              </a:buClr>
              <a:buSzTx/>
              <a:buNone/>
              <a:tabLst>
                <a:tab pos="0" algn="l"/>
                <a:tab pos="1343025" algn="l"/>
              </a:tabLst>
            </a:pPr>
            <a:r>
              <a:rPr lang="en-US" altLang="zh-TW" sz="1800" b="0" dirty="0">
                <a:solidFill>
                  <a:srgbClr val="000000"/>
                </a:solidFill>
                <a:latin typeface="ＭＳ ゴシック" panose="020B0609070205080204" pitchFamily="49" charset="-128"/>
                <a:ea typeface="ＭＳ ゴシック" panose="020B0609070205080204" pitchFamily="49" charset="-128"/>
              </a:rPr>
              <a:t>【SFM-01-001】(1158</a:t>
            </a:r>
            <a:r>
              <a:rPr lang="zh-TW" altLang="en-US" sz="1800" b="0" dirty="0">
                <a:solidFill>
                  <a:srgbClr val="000000"/>
                </a:solidFill>
                <a:latin typeface="ＭＳ ゴシック" panose="020B0609070205080204" pitchFamily="49" charset="-128"/>
                <a:ea typeface="ＭＳ ゴシック" panose="020B0609070205080204" pitchFamily="49" charset="-128"/>
              </a:rPr>
              <a:t>案件</a:t>
            </a:r>
            <a:r>
              <a:rPr lang="en-US" altLang="zh-TW" sz="1800" b="0" dirty="0">
                <a:solidFill>
                  <a:srgbClr val="000000"/>
                </a:solidFill>
                <a:latin typeface="ＭＳ ゴシック" panose="020B0609070205080204" pitchFamily="49" charset="-128"/>
                <a:ea typeface="ＭＳ ゴシック" panose="020B0609070205080204" pitchFamily="49" charset="-128"/>
              </a:rPr>
              <a:t>)</a:t>
            </a:r>
            <a:r>
              <a:rPr lang="zh-TW" altLang="en-US" sz="1800" b="0" dirty="0">
                <a:solidFill>
                  <a:srgbClr val="000000"/>
                </a:solidFill>
                <a:latin typeface="ＭＳ ゴシック" panose="020B0609070205080204" pitchFamily="49" charset="-128"/>
                <a:ea typeface="ＭＳ ゴシック" panose="020B0609070205080204" pitchFamily="49" charset="-128"/>
              </a:rPr>
              <a:t>要件定義書</a:t>
            </a:r>
            <a:r>
              <a:rPr lang="en-US" altLang="zh-TW" sz="1800" b="0" dirty="0">
                <a:solidFill>
                  <a:srgbClr val="000000"/>
                </a:solidFill>
                <a:latin typeface="ＭＳ ゴシック" panose="020B0609070205080204" pitchFamily="49" charset="-128"/>
                <a:ea typeface="ＭＳ ゴシック" panose="020B0609070205080204" pitchFamily="49" charset="-128"/>
              </a:rPr>
              <a:t>_v1.00.docx</a:t>
            </a:r>
            <a:endParaRPr lang="en-US" altLang="ja-JP" sz="18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744439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C94D41F0-8BCC-DDBA-3974-AFCAC4563425}"/>
              </a:ext>
            </a:extLst>
          </p:cNvPr>
          <p:cNvSpPr>
            <a:spLocks noGrp="1"/>
          </p:cNvSpPr>
          <p:nvPr>
            <p:ph type="title"/>
          </p:nvPr>
        </p:nvSpPr>
        <p:spPr>
          <a:xfrm>
            <a:off x="307975" y="142877"/>
            <a:ext cx="9183688" cy="441325"/>
          </a:xfrm>
        </p:spPr>
        <p:txBody>
          <a:bodyPr/>
          <a:lstStyle/>
          <a:p>
            <a:r>
              <a:rPr kumimoji="1" lang="ja-JP" altLang="en-US" dirty="0"/>
              <a:t>１．案件概要</a:t>
            </a:r>
          </a:p>
        </p:txBody>
      </p:sp>
      <p:sp>
        <p:nvSpPr>
          <p:cNvPr id="4" name="Text Box 14">
            <a:extLst>
              <a:ext uri="{FF2B5EF4-FFF2-40B4-BE49-F238E27FC236}">
                <a16:creationId xmlns:a16="http://schemas.microsoft.com/office/drawing/2014/main" id="{B4EC1336-360F-6809-1B1A-9152CD82E51E}"/>
              </a:ext>
            </a:extLst>
          </p:cNvPr>
          <p:cNvSpPr txBox="1">
            <a:spLocks noChangeArrowheads="1"/>
          </p:cNvSpPr>
          <p:nvPr/>
        </p:nvSpPr>
        <p:spPr bwMode="auto">
          <a:xfrm>
            <a:off x="349823" y="764704"/>
            <a:ext cx="9409112" cy="5652628"/>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indent="180975" eaLnBrk="1" hangingPunct="1">
              <a:lnSpc>
                <a:spcPct val="130000"/>
              </a:lnSpc>
              <a:spcBef>
                <a:spcPct val="0"/>
              </a:spcBef>
              <a:buClr>
                <a:srgbClr val="000066"/>
              </a:buClr>
              <a:buSzTx/>
              <a:buFont typeface="Wingdings" panose="05000000000000000000" pitchFamily="2" charset="2"/>
              <a:buNone/>
              <a:tabLst/>
            </a:pPr>
            <a:r>
              <a:rPr lang="en-US" altLang="ja-JP" sz="2000" b="0" dirty="0">
                <a:solidFill>
                  <a:srgbClr val="000000"/>
                </a:solidFill>
                <a:ea typeface="ＭＳ ゴシック" panose="020B0609070205080204" pitchFamily="49" charset="-128"/>
              </a:rPr>
              <a:t>【</a:t>
            </a:r>
            <a:r>
              <a:rPr lang="ja-JP" altLang="en-US" sz="2000" b="0" dirty="0">
                <a:solidFill>
                  <a:srgbClr val="000000"/>
                </a:solidFill>
                <a:ea typeface="ＭＳ ゴシック" panose="020B0609070205080204" pitchFamily="49" charset="-128"/>
              </a:rPr>
              <a:t>目的</a:t>
            </a:r>
            <a:r>
              <a:rPr lang="en-US" altLang="ja-JP" sz="2000" b="0" dirty="0">
                <a:solidFill>
                  <a:srgbClr val="000000"/>
                </a:solidFill>
                <a:ea typeface="ＭＳ ゴシック" panose="020B0609070205080204" pitchFamily="49" charset="-128"/>
              </a:rPr>
              <a:t>】</a:t>
            </a:r>
          </a:p>
          <a:p>
            <a:pPr indent="180975" eaLnBrk="1" hangingPunct="1">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・非課税口座開設同日の</a:t>
            </a:r>
            <a:r>
              <a:rPr lang="en-US" altLang="ja-JP" sz="2000" b="0" dirty="0">
                <a:solidFill>
                  <a:srgbClr val="000000"/>
                </a:solidFill>
                <a:ea typeface="ＭＳ ゴシック" panose="020B0609070205080204" pitchFamily="49" charset="-128"/>
              </a:rPr>
              <a:t>NISA</a:t>
            </a:r>
            <a:r>
              <a:rPr lang="ja-JP" altLang="en-US" sz="2000" b="0" dirty="0">
                <a:solidFill>
                  <a:srgbClr val="000000"/>
                </a:solidFill>
                <a:ea typeface="ＭＳ ゴシック" panose="020B0609070205080204" pitchFamily="49" charset="-128"/>
              </a:rPr>
              <a:t>先日付注文を可能とする</a:t>
            </a:r>
            <a:endParaRPr lang="en-US" altLang="ja-JP" sz="2000" b="0" dirty="0">
              <a:solidFill>
                <a:srgbClr val="000000"/>
              </a:solidFill>
              <a:ea typeface="ＭＳ ゴシック" panose="020B0609070205080204" pitchFamily="49" charset="-128"/>
            </a:endParaRPr>
          </a:p>
          <a:p>
            <a:pPr indent="180975" eaLnBrk="1" hangingPunct="1">
              <a:lnSpc>
                <a:spcPct val="130000"/>
              </a:lnSpc>
              <a:spcBef>
                <a:spcPct val="0"/>
              </a:spcBef>
              <a:buClr>
                <a:srgbClr val="000066"/>
              </a:buClr>
              <a:buSzTx/>
              <a:buNone/>
              <a:tabLst/>
            </a:pPr>
            <a:endParaRPr lang="en-US" altLang="ja-JP" sz="2000" b="0" dirty="0">
              <a:solidFill>
                <a:srgbClr val="000000"/>
              </a:solidFill>
              <a:ea typeface="ＭＳ ゴシック" panose="020B0609070205080204" pitchFamily="49" charset="-128"/>
            </a:endParaRPr>
          </a:p>
          <a:p>
            <a:pPr indent="180975" eaLnBrk="1" hangingPunct="1">
              <a:lnSpc>
                <a:spcPct val="130000"/>
              </a:lnSpc>
              <a:spcBef>
                <a:spcPct val="0"/>
              </a:spcBef>
              <a:buClr>
                <a:srgbClr val="000066"/>
              </a:buClr>
              <a:buSzTx/>
              <a:buNone/>
              <a:tabLst/>
            </a:pPr>
            <a:r>
              <a:rPr lang="en-US" altLang="ja-JP" sz="2000" b="0" dirty="0">
                <a:solidFill>
                  <a:srgbClr val="000000"/>
                </a:solidFill>
                <a:ea typeface="ＭＳ ゴシック" panose="020B0609070205080204" pitchFamily="49" charset="-128"/>
              </a:rPr>
              <a:t>【</a:t>
            </a:r>
            <a:r>
              <a:rPr lang="ja-JP" altLang="en-US" sz="2000" b="0" dirty="0">
                <a:solidFill>
                  <a:srgbClr val="000000"/>
                </a:solidFill>
                <a:ea typeface="ＭＳ ゴシック" panose="020B0609070205080204" pitchFamily="49" charset="-128"/>
              </a:rPr>
              <a:t>背景</a:t>
            </a:r>
            <a:r>
              <a:rPr lang="en-US" altLang="ja-JP" sz="2000" b="0" dirty="0">
                <a:solidFill>
                  <a:srgbClr val="000000"/>
                </a:solidFill>
                <a:ea typeface="ＭＳ ゴシック" panose="020B0609070205080204" pitchFamily="49" charset="-128"/>
              </a:rPr>
              <a:t>】</a:t>
            </a: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・現状、非課税口座開設と</a:t>
            </a:r>
            <a:r>
              <a:rPr lang="en-US" altLang="ja-JP" sz="2000" b="0" dirty="0">
                <a:solidFill>
                  <a:srgbClr val="000000"/>
                </a:solidFill>
                <a:ea typeface="ＭＳ ゴシック" panose="020B0609070205080204" pitchFamily="49" charset="-128"/>
              </a:rPr>
              <a:t>NISA</a:t>
            </a:r>
            <a:r>
              <a:rPr lang="ja-JP" altLang="en-US" sz="2000" b="0" dirty="0">
                <a:solidFill>
                  <a:srgbClr val="000000"/>
                </a:solidFill>
                <a:ea typeface="ＭＳ ゴシック" panose="020B0609070205080204" pitchFamily="49" charset="-128"/>
              </a:rPr>
              <a:t>注文は、別々の日に申し込む必要がある。</a:t>
            </a:r>
            <a:endParaRPr lang="en-US" altLang="ja-JP" sz="2000" b="0" dirty="0">
              <a:solidFill>
                <a:srgbClr val="000000"/>
              </a:solidFill>
              <a:ea typeface="ＭＳ ゴシック" panose="020B0609070205080204" pitchFamily="49" charset="-128"/>
            </a:endParaRP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　これは、</a:t>
            </a:r>
            <a:r>
              <a:rPr lang="en-US" altLang="ja-JP" sz="2000" b="0" dirty="0">
                <a:solidFill>
                  <a:srgbClr val="000000"/>
                </a:solidFill>
                <a:ea typeface="ＭＳ ゴシック" panose="020B0609070205080204" pitchFamily="49" charset="-128"/>
              </a:rPr>
              <a:t>MF</a:t>
            </a:r>
            <a:r>
              <a:rPr lang="ja-JP" altLang="en-US" sz="2000" b="0" dirty="0">
                <a:solidFill>
                  <a:srgbClr val="000000"/>
                </a:solidFill>
                <a:ea typeface="ＭＳ ゴシック" panose="020B0609070205080204" pitchFamily="49" charset="-128"/>
              </a:rPr>
              <a:t>より非課税口座開設登録結果を夜間に受領し、</a:t>
            </a:r>
            <a:r>
              <a:rPr lang="en-US" altLang="ja-JP" sz="2000" b="0" dirty="0">
                <a:solidFill>
                  <a:srgbClr val="000000"/>
                </a:solidFill>
                <a:ea typeface="ＭＳ ゴシック" panose="020B0609070205080204" pitchFamily="49" charset="-128"/>
              </a:rPr>
              <a:t>NISA</a:t>
            </a:r>
            <a:r>
              <a:rPr lang="ja-JP" altLang="en-US" sz="2000" b="0" dirty="0">
                <a:solidFill>
                  <a:srgbClr val="000000"/>
                </a:solidFill>
                <a:ea typeface="ＭＳ ゴシック" panose="020B0609070205080204" pitchFamily="49" charset="-128"/>
              </a:rPr>
              <a:t>注文に</a:t>
            </a:r>
            <a:endParaRPr lang="en-US" altLang="ja-JP" sz="2000" b="0" dirty="0">
              <a:solidFill>
                <a:srgbClr val="000000"/>
              </a:solidFill>
              <a:ea typeface="ＭＳ ゴシック" panose="020B0609070205080204" pitchFamily="49" charset="-128"/>
            </a:endParaRP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　必要なデータが</a:t>
            </a:r>
            <a:r>
              <a:rPr lang="en-US" altLang="ja-JP" sz="2000" b="0" dirty="0">
                <a:solidFill>
                  <a:srgbClr val="000000"/>
                </a:solidFill>
                <a:ea typeface="ＭＳ ゴシック" panose="020B0609070205080204" pitchFamily="49" charset="-128"/>
              </a:rPr>
              <a:t>SONAR-FR/FF</a:t>
            </a:r>
            <a:r>
              <a:rPr lang="ja-JP" altLang="en-US" sz="2000" b="0" dirty="0">
                <a:solidFill>
                  <a:srgbClr val="000000"/>
                </a:solidFill>
                <a:ea typeface="ＭＳ ゴシック" panose="020B0609070205080204" pitchFamily="49" charset="-128"/>
              </a:rPr>
              <a:t>に登録されることで、翌日以降に注文が</a:t>
            </a:r>
            <a:endParaRPr lang="en-US" altLang="ja-JP" sz="2000" b="0" dirty="0">
              <a:solidFill>
                <a:srgbClr val="000000"/>
              </a:solidFill>
              <a:ea typeface="ＭＳ ゴシック" panose="020B0609070205080204" pitchFamily="49" charset="-128"/>
            </a:endParaRP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　可能となるためである。</a:t>
            </a:r>
            <a:endParaRPr lang="en-US" altLang="ja-JP" sz="2000" b="0" dirty="0">
              <a:solidFill>
                <a:srgbClr val="000000"/>
              </a:solidFill>
              <a:ea typeface="ＭＳ ゴシック" panose="020B0609070205080204" pitchFamily="49" charset="-128"/>
            </a:endParaRP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　顧客の利便性を向上させるため、非課税口座開設同日に</a:t>
            </a:r>
            <a:r>
              <a:rPr lang="en-US" altLang="ja-JP" sz="2000" b="0" dirty="0">
                <a:solidFill>
                  <a:srgbClr val="000000"/>
                </a:solidFill>
                <a:ea typeface="ＭＳ ゴシック" panose="020B0609070205080204" pitchFamily="49" charset="-128"/>
              </a:rPr>
              <a:t>NISA</a:t>
            </a:r>
            <a:r>
              <a:rPr lang="ja-JP" altLang="en-US" sz="2000" b="0" dirty="0">
                <a:solidFill>
                  <a:srgbClr val="000000"/>
                </a:solidFill>
                <a:ea typeface="ＭＳ ゴシック" panose="020B0609070205080204" pitchFamily="49" charset="-128"/>
              </a:rPr>
              <a:t>注文が行える</a:t>
            </a:r>
            <a:endParaRPr lang="en-US" altLang="ja-JP" sz="2000" b="0" dirty="0">
              <a:solidFill>
                <a:srgbClr val="000000"/>
              </a:solidFill>
              <a:ea typeface="ＭＳ ゴシック" panose="020B0609070205080204" pitchFamily="49" charset="-128"/>
            </a:endParaRPr>
          </a:p>
          <a:p>
            <a:pPr indent="180975">
              <a:lnSpc>
                <a:spcPct val="130000"/>
              </a:lnSpc>
              <a:spcBef>
                <a:spcPct val="0"/>
              </a:spcBef>
              <a:buClr>
                <a:srgbClr val="000066"/>
              </a:buClr>
              <a:buSzTx/>
              <a:buNone/>
              <a:tabLst/>
            </a:pPr>
            <a:r>
              <a:rPr lang="ja-JP" altLang="en-US" sz="2000" b="0" dirty="0">
                <a:solidFill>
                  <a:srgbClr val="000000"/>
                </a:solidFill>
                <a:ea typeface="ＭＳ ゴシック" panose="020B0609070205080204" pitchFamily="49" charset="-128"/>
              </a:rPr>
              <a:t>　ようシステム改修を行う。</a:t>
            </a:r>
            <a:endParaRPr lang="en-US" altLang="ja-JP" sz="2000" b="0" dirty="0">
              <a:solidFill>
                <a:srgbClr val="000000"/>
              </a:solidFill>
              <a:ea typeface="ＭＳ ゴシック" panose="020B0609070205080204" pitchFamily="49" charset="-128"/>
            </a:endParaRPr>
          </a:p>
        </p:txBody>
      </p:sp>
    </p:spTree>
    <p:extLst>
      <p:ext uri="{BB962C8B-B14F-4D97-AF65-F5344CB8AC3E}">
        <p14:creationId xmlns:p14="http://schemas.microsoft.com/office/powerpoint/2010/main" val="17349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D2EEA-9AE5-99EA-18C7-7168836263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4ADB30-53E5-8434-688C-9425CFB03491}"/>
              </a:ext>
            </a:extLst>
          </p:cNvPr>
          <p:cNvSpPr>
            <a:spLocks noGrp="1"/>
          </p:cNvSpPr>
          <p:nvPr>
            <p:ph type="title"/>
          </p:nvPr>
        </p:nvSpPr>
        <p:spPr/>
        <p:txBody>
          <a:bodyPr/>
          <a:lstStyle/>
          <a:p>
            <a:r>
              <a:rPr kumimoji="1" lang="ja-JP" altLang="en-US" dirty="0"/>
              <a:t>１．案件概要</a:t>
            </a:r>
          </a:p>
        </p:txBody>
      </p:sp>
      <p:graphicFrame>
        <p:nvGraphicFramePr>
          <p:cNvPr id="3" name="表 2">
            <a:extLst>
              <a:ext uri="{FF2B5EF4-FFF2-40B4-BE49-F238E27FC236}">
                <a16:creationId xmlns:a16="http://schemas.microsoft.com/office/drawing/2014/main" id="{299B805B-F1C8-85B1-1511-B8971E2F626E}"/>
              </a:ext>
            </a:extLst>
          </p:cNvPr>
          <p:cNvGraphicFramePr>
            <a:graphicFrameLocks noGrp="1"/>
          </p:cNvGraphicFramePr>
          <p:nvPr>
            <p:extLst>
              <p:ext uri="{D42A27DB-BD31-4B8C-83A1-F6EECF244321}">
                <p14:modId xmlns:p14="http://schemas.microsoft.com/office/powerpoint/2010/main" val="2036661931"/>
              </p:ext>
            </p:extLst>
          </p:nvPr>
        </p:nvGraphicFramePr>
        <p:xfrm>
          <a:off x="488503" y="1596794"/>
          <a:ext cx="8856985" cy="3685516"/>
        </p:xfrm>
        <a:graphic>
          <a:graphicData uri="http://schemas.openxmlformats.org/drawingml/2006/table">
            <a:tbl>
              <a:tblPr firstRow="1" bandRow="1">
                <a:tableStyleId>{93296810-A885-4BE3-A3E7-6D5BEEA58F35}</a:tableStyleId>
              </a:tblPr>
              <a:tblGrid>
                <a:gridCol w="499992">
                  <a:extLst>
                    <a:ext uri="{9D8B030D-6E8A-4147-A177-3AD203B41FA5}">
                      <a16:colId xmlns:a16="http://schemas.microsoft.com/office/drawing/2014/main" val="1777742977"/>
                    </a:ext>
                  </a:extLst>
                </a:gridCol>
                <a:gridCol w="6268761">
                  <a:extLst>
                    <a:ext uri="{9D8B030D-6E8A-4147-A177-3AD203B41FA5}">
                      <a16:colId xmlns:a16="http://schemas.microsoft.com/office/drawing/2014/main" val="2154433068"/>
                    </a:ext>
                  </a:extLst>
                </a:gridCol>
                <a:gridCol w="2088232">
                  <a:extLst>
                    <a:ext uri="{9D8B030D-6E8A-4147-A177-3AD203B41FA5}">
                      <a16:colId xmlns:a16="http://schemas.microsoft.com/office/drawing/2014/main" val="1720594670"/>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システム要求事項</a:t>
                      </a:r>
                    </a:p>
                  </a:txBody>
                  <a:tcPr/>
                </a:tc>
                <a:tc>
                  <a:txBody>
                    <a:bodyPr/>
                    <a:lstStyle/>
                    <a:p>
                      <a:r>
                        <a:rPr kumimoji="1" lang="ja-JP" altLang="en-US" sz="1200" dirty="0"/>
                        <a:t>備考</a:t>
                      </a:r>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ja-JP" altLang="en-US" sz="1200" dirty="0"/>
                        <a:t>非課税口座開設同日に</a:t>
                      </a:r>
                      <a:r>
                        <a:rPr kumimoji="1" lang="en-US" altLang="ja-JP" sz="1200" dirty="0"/>
                        <a:t>NISA</a:t>
                      </a:r>
                      <a:r>
                        <a:rPr kumimoji="1" lang="ja-JP" altLang="en-US" sz="1200" dirty="0"/>
                        <a:t>先日付注文を受け付けられるようにする</a:t>
                      </a:r>
                    </a:p>
                  </a:txBody>
                  <a:tcPr/>
                </a:tc>
                <a:tc>
                  <a:txBody>
                    <a:bodyPr/>
                    <a:lstStyle/>
                    <a:p>
                      <a:endParaRPr kumimoji="1" lang="ja-JP" altLang="en-US" sz="1200" dirty="0"/>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r>
                        <a:rPr kumimoji="1" lang="en-US" altLang="ja-JP"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NISA</a:t>
                      </a:r>
                      <a:r>
                        <a:rPr kumimoji="1" lang="ja-JP" altLang="en-US"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状況照会画面にて非課税口座開設当日における開設状態であることがわかるように表示する</a:t>
                      </a:r>
                      <a:endParaRPr kumimoji="1" lang="ja-JP" altLang="en-US" sz="1200" dirty="0">
                        <a:solidFill>
                          <a:srgbClr val="000000"/>
                        </a:solidFill>
                      </a:endParaRPr>
                    </a:p>
                  </a:txBody>
                  <a:tcPr/>
                </a:tc>
                <a:tc>
                  <a:txBody>
                    <a:bodyPr/>
                    <a:lstStyle/>
                    <a:p>
                      <a:r>
                        <a:rPr kumimoji="1" lang="ja-JP" altLang="en-US" sz="1200" dirty="0">
                          <a:solidFill>
                            <a:srgbClr val="000000"/>
                          </a:solidFill>
                        </a:rPr>
                        <a:t>既存動作で表示されるため、本案件での対応不要</a:t>
                      </a:r>
                      <a:endParaRPr kumimoji="1" lang="en-US" altLang="ja-JP" sz="1200" dirty="0">
                        <a:solidFill>
                          <a:srgbClr val="000000"/>
                        </a:solidFill>
                      </a:endParaRPr>
                    </a:p>
                  </a:txBody>
                  <a:tcPr/>
                </a:tc>
                <a:extLst>
                  <a:ext uri="{0D108BD9-81ED-4DB2-BD59-A6C34878D82A}">
                    <a16:rowId xmlns:a16="http://schemas.microsoft.com/office/drawing/2014/main" val="2042078748"/>
                  </a:ext>
                </a:extLst>
              </a:tr>
              <a:tr h="448050">
                <a:tc>
                  <a:txBody>
                    <a:bodyPr/>
                    <a:lstStyle/>
                    <a:p>
                      <a:r>
                        <a:rPr kumimoji="1" lang="en-US" altLang="ja-JP" sz="1200" dirty="0"/>
                        <a:t>3</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非課税口座開設を受け付けた日に税務署に申請できなかった場合は先日付注文を取り消す</a:t>
                      </a:r>
                    </a:p>
                  </a:txBody>
                  <a:tcPr/>
                </a:tc>
                <a:tc>
                  <a:txBody>
                    <a:bodyPr/>
                    <a:lstStyle/>
                    <a:p>
                      <a:endParaRPr kumimoji="1" lang="ja-JP" altLang="en-US" sz="1200" dirty="0">
                        <a:solidFill>
                          <a:srgbClr val="000000"/>
                        </a:solidFill>
                      </a:endParaRPr>
                    </a:p>
                  </a:txBody>
                  <a:tcPr/>
                </a:tc>
                <a:extLst>
                  <a:ext uri="{0D108BD9-81ED-4DB2-BD59-A6C34878D82A}">
                    <a16:rowId xmlns:a16="http://schemas.microsoft.com/office/drawing/2014/main" val="1871727349"/>
                  </a:ext>
                </a:extLst>
              </a:tr>
              <a:tr h="448050">
                <a:tc>
                  <a:txBody>
                    <a:bodyPr/>
                    <a:lstStyle/>
                    <a:p>
                      <a:r>
                        <a:rPr kumimoji="1" lang="en-US" altLang="ja-JP" sz="1200" dirty="0"/>
                        <a:t>4</a:t>
                      </a:r>
                      <a:endParaRPr kumimoji="1" lang="ja-JP" altLang="en-US" sz="1200" dirty="0"/>
                    </a:p>
                  </a:txBody>
                  <a:tcPr/>
                </a:tc>
                <a:tc>
                  <a:txBody>
                    <a:bodyPr/>
                    <a:lstStyle/>
                    <a:p>
                      <a:r>
                        <a:rPr kumimoji="1" lang="ja-JP" altLang="en-US" sz="1200" dirty="0">
                          <a:solidFill>
                            <a:srgbClr val="000000"/>
                          </a:solidFill>
                        </a:rPr>
                        <a:t>非課税口座開設申込後に非課税口座開設申込の検印却下をおこなった際に、非課税口座関連のマスタ情報を未開設状態に戻す</a:t>
                      </a:r>
                    </a:p>
                  </a:txBody>
                  <a:tcPr/>
                </a:tc>
                <a:tc>
                  <a:txBody>
                    <a:bodyPr/>
                    <a:lstStyle/>
                    <a:p>
                      <a:endParaRPr kumimoji="1" lang="ja-JP" altLang="en-US" sz="1200" dirty="0">
                        <a:solidFill>
                          <a:srgbClr val="000000"/>
                        </a:solidFill>
                      </a:endParaRPr>
                    </a:p>
                  </a:txBody>
                  <a:tcPr/>
                </a:tc>
                <a:extLst>
                  <a:ext uri="{0D108BD9-81ED-4DB2-BD59-A6C34878D82A}">
                    <a16:rowId xmlns:a16="http://schemas.microsoft.com/office/drawing/2014/main" val="2545511512"/>
                  </a:ext>
                </a:extLst>
              </a:tr>
              <a:tr h="448050">
                <a:tc>
                  <a:txBody>
                    <a:bodyPr/>
                    <a:lstStyle/>
                    <a:p>
                      <a:r>
                        <a:rPr kumimoji="1" lang="en-US" altLang="ja-JP" sz="1200" dirty="0"/>
                        <a:t>5</a:t>
                      </a:r>
                      <a:endParaRPr kumimoji="1" lang="ja-JP" altLang="en-US" sz="1200" dirty="0"/>
                    </a:p>
                  </a:txBody>
                  <a:tcPr/>
                </a:tc>
                <a:tc>
                  <a:txBody>
                    <a:bodyPr/>
                    <a:lstStyle/>
                    <a:p>
                      <a:r>
                        <a:rPr kumimoji="1" lang="ja-JP" altLang="en-US" sz="1200" dirty="0">
                          <a:solidFill>
                            <a:srgbClr val="000000"/>
                          </a:solidFill>
                        </a:rPr>
                        <a:t>バッチ取消された先日付注文を進捗状況一覧画面で照会できるようにし、フィルターで絞り込みも可能にする</a:t>
                      </a:r>
                      <a:endParaRPr kumimoji="1" lang="en-US" altLang="ja-JP" sz="1200" dirty="0">
                        <a:solidFill>
                          <a:srgbClr val="000000"/>
                        </a:solidFill>
                      </a:endParaRPr>
                    </a:p>
                  </a:txBody>
                  <a:tcPr/>
                </a:tc>
                <a:tc>
                  <a:txBody>
                    <a:bodyPr/>
                    <a:lstStyle/>
                    <a:p>
                      <a:endParaRPr kumimoji="1" lang="ja-JP" altLang="en-US" sz="1200" dirty="0">
                        <a:solidFill>
                          <a:srgbClr val="000000"/>
                        </a:solidFill>
                      </a:endParaRPr>
                    </a:p>
                  </a:txBody>
                  <a:tcPr/>
                </a:tc>
                <a:extLst>
                  <a:ext uri="{0D108BD9-81ED-4DB2-BD59-A6C34878D82A}">
                    <a16:rowId xmlns:a16="http://schemas.microsoft.com/office/drawing/2014/main" val="3770836329"/>
                  </a:ext>
                </a:extLst>
              </a:tr>
              <a:tr h="448050">
                <a:tc>
                  <a:txBody>
                    <a:bodyPr/>
                    <a:lstStyle/>
                    <a:p>
                      <a:r>
                        <a:rPr kumimoji="1" lang="en-US" altLang="ja-JP" sz="1200" dirty="0"/>
                        <a:t>6</a:t>
                      </a:r>
                      <a:endParaRPr kumimoji="1" lang="ja-JP" altLang="en-US" sz="1200" dirty="0"/>
                    </a:p>
                  </a:txBody>
                  <a:tcPr/>
                </a:tc>
                <a:tc>
                  <a:txBody>
                    <a:bodyPr/>
                    <a:lstStyle/>
                    <a:p>
                      <a:pPr>
                        <a:lnSpc>
                          <a:spcPts val="1800"/>
                        </a:lnSpc>
                      </a:pPr>
                      <a:r>
                        <a:rPr kumimoji="1" lang="ja-JP" altLang="en-US"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軽技で取消された先日付注文を照会できるようにする</a:t>
                      </a:r>
                      <a:endParaRPr kumimoji="1" lang="en-US" altLang="ja-JP" sz="12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endParaRPr kumimoji="1" lang="ja-JP" altLang="en-US" sz="1200" dirty="0">
                        <a:solidFill>
                          <a:srgbClr val="000000"/>
                        </a:solidFill>
                      </a:endParaRPr>
                    </a:p>
                  </a:txBody>
                  <a:tcPr/>
                </a:tc>
                <a:extLst>
                  <a:ext uri="{0D108BD9-81ED-4DB2-BD59-A6C34878D82A}">
                    <a16:rowId xmlns:a16="http://schemas.microsoft.com/office/drawing/2014/main" val="483807084"/>
                  </a:ext>
                </a:extLst>
              </a:tr>
              <a:tr h="448050">
                <a:tc>
                  <a:txBody>
                    <a:bodyPr/>
                    <a:lstStyle/>
                    <a:p>
                      <a:r>
                        <a:rPr kumimoji="1" lang="en-US" altLang="ja-JP" sz="1200" dirty="0">
                          <a:solidFill>
                            <a:schemeClr val="tx1"/>
                          </a:solidFill>
                        </a:rPr>
                        <a:t>7</a:t>
                      </a:r>
                      <a:endParaRPr kumimoji="1" lang="ja-JP" altLang="en-US" sz="1200" dirty="0">
                        <a:solidFill>
                          <a:schemeClr val="tx1"/>
                        </a:solidFill>
                      </a:endParaRPr>
                    </a:p>
                  </a:txBody>
                  <a:tcPr/>
                </a:tc>
                <a:tc>
                  <a:txBody>
                    <a:bodyPr/>
                    <a:lstStyle/>
                    <a:p>
                      <a:pPr>
                        <a:lnSpc>
                          <a:spcPts val="1800"/>
                        </a:lnSpc>
                      </a:pPr>
                      <a:r>
                        <a:rPr kumimoji="1"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伝票の取引状況を確認する画面にてバッチ取消された先日付注文であることがわかるように取引状況の表示を修正する</a:t>
                      </a:r>
                      <a:endPar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a:tc>
                <a:tc>
                  <a:txBody>
                    <a:bodyPr/>
                    <a:lstStyle/>
                    <a:p>
                      <a:r>
                        <a:rPr kumimoji="1" lang="en-US" altLang="ja-JP" sz="1200" dirty="0">
                          <a:solidFill>
                            <a:schemeClr val="tx1"/>
                          </a:solidFill>
                        </a:rPr>
                        <a:t>No.5</a:t>
                      </a:r>
                      <a:r>
                        <a:rPr kumimoji="1" lang="ja-JP" altLang="en-US" sz="1200" dirty="0">
                          <a:solidFill>
                            <a:schemeClr val="tx1"/>
                          </a:solidFill>
                        </a:rPr>
                        <a:t>で表示する内容に平仄を合わせる</a:t>
                      </a:r>
                    </a:p>
                  </a:txBody>
                  <a:tcPr/>
                </a:tc>
                <a:extLst>
                  <a:ext uri="{0D108BD9-81ED-4DB2-BD59-A6C34878D82A}">
                    <a16:rowId xmlns:a16="http://schemas.microsoft.com/office/drawing/2014/main" val="3896679784"/>
                  </a:ext>
                </a:extLst>
              </a:tr>
            </a:tbl>
          </a:graphicData>
        </a:graphic>
      </p:graphicFrame>
      <p:sp>
        <p:nvSpPr>
          <p:cNvPr id="4" name="Text Box 16">
            <a:extLst>
              <a:ext uri="{FF2B5EF4-FFF2-40B4-BE49-F238E27FC236}">
                <a16:creationId xmlns:a16="http://schemas.microsoft.com/office/drawing/2014/main" id="{767154AA-C3F4-118C-21E2-B8313E098A84}"/>
              </a:ext>
            </a:extLst>
          </p:cNvPr>
          <p:cNvSpPr txBox="1">
            <a:spLocks noChangeArrowheads="1"/>
          </p:cNvSpPr>
          <p:nvPr/>
        </p:nvSpPr>
        <p:spPr bwMode="auto">
          <a:xfrm>
            <a:off x="56456" y="692696"/>
            <a:ext cx="9645650" cy="54303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＜要件一覧＞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システム要求事項を記載する。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867148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74048-31DC-1B12-D73F-846F281966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F0D437-EDC0-29BC-2923-2E9B42210C45}"/>
              </a:ext>
            </a:extLst>
          </p:cNvPr>
          <p:cNvSpPr>
            <a:spLocks noGrp="1"/>
          </p:cNvSpPr>
          <p:nvPr>
            <p:ph type="title"/>
          </p:nvPr>
        </p:nvSpPr>
        <p:spPr/>
        <p:txBody>
          <a:bodyPr/>
          <a:lstStyle/>
          <a:p>
            <a:r>
              <a:rPr kumimoji="1" lang="ja-JP" altLang="en-US" dirty="0"/>
              <a:t>１．案件概要</a:t>
            </a:r>
          </a:p>
        </p:txBody>
      </p:sp>
      <p:graphicFrame>
        <p:nvGraphicFramePr>
          <p:cNvPr id="3" name="表 2">
            <a:extLst>
              <a:ext uri="{FF2B5EF4-FFF2-40B4-BE49-F238E27FC236}">
                <a16:creationId xmlns:a16="http://schemas.microsoft.com/office/drawing/2014/main" id="{C530F46F-BAC4-E20D-CA2F-155E5CD9B327}"/>
              </a:ext>
            </a:extLst>
          </p:cNvPr>
          <p:cNvGraphicFramePr>
            <a:graphicFrameLocks noGrp="1"/>
          </p:cNvGraphicFramePr>
          <p:nvPr>
            <p:extLst>
              <p:ext uri="{D42A27DB-BD31-4B8C-83A1-F6EECF244321}">
                <p14:modId xmlns:p14="http://schemas.microsoft.com/office/powerpoint/2010/main" val="643869068"/>
              </p:ext>
            </p:extLst>
          </p:nvPr>
        </p:nvGraphicFramePr>
        <p:xfrm>
          <a:off x="488502" y="1596794"/>
          <a:ext cx="8856985" cy="3977610"/>
        </p:xfrm>
        <a:graphic>
          <a:graphicData uri="http://schemas.openxmlformats.org/drawingml/2006/table">
            <a:tbl>
              <a:tblPr firstRow="1" bandRow="1">
                <a:tableStyleId>{93296810-A885-4BE3-A3E7-6D5BEEA58F35}</a:tableStyleId>
              </a:tblPr>
              <a:tblGrid>
                <a:gridCol w="504058">
                  <a:extLst>
                    <a:ext uri="{9D8B030D-6E8A-4147-A177-3AD203B41FA5}">
                      <a16:colId xmlns:a16="http://schemas.microsoft.com/office/drawing/2014/main" val="1777742977"/>
                    </a:ext>
                  </a:extLst>
                </a:gridCol>
                <a:gridCol w="6120680">
                  <a:extLst>
                    <a:ext uri="{9D8B030D-6E8A-4147-A177-3AD203B41FA5}">
                      <a16:colId xmlns:a16="http://schemas.microsoft.com/office/drawing/2014/main" val="2154433068"/>
                    </a:ext>
                  </a:extLst>
                </a:gridCol>
                <a:gridCol w="2232247">
                  <a:extLst>
                    <a:ext uri="{9D8B030D-6E8A-4147-A177-3AD203B41FA5}">
                      <a16:colId xmlns:a16="http://schemas.microsoft.com/office/drawing/2014/main" val="376044328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システム前提・制約条件</a:t>
                      </a:r>
                    </a:p>
                  </a:txBody>
                  <a:tcPr/>
                </a:tc>
                <a:tc>
                  <a:txBody>
                    <a:bodyPr/>
                    <a:lstStyle/>
                    <a:p>
                      <a:r>
                        <a:rPr kumimoji="1" lang="ja-JP" altLang="en-US" sz="1200" dirty="0"/>
                        <a:t>備考</a:t>
                      </a:r>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ja-JP" altLang="en-US" sz="1200" dirty="0"/>
                        <a:t>非課税口座開設同日に</a:t>
                      </a:r>
                      <a:r>
                        <a:rPr kumimoji="1" lang="en-US" altLang="ja-JP" sz="1200" dirty="0"/>
                        <a:t>NISA</a:t>
                      </a:r>
                      <a:r>
                        <a:rPr kumimoji="1" lang="ja-JP" altLang="en-US" sz="1200" dirty="0"/>
                        <a:t>先日付注文可能な条件は以下の通りする</a:t>
                      </a:r>
                      <a:endParaRPr kumimoji="1" lang="en-US" altLang="ja-JP" sz="1200" dirty="0"/>
                    </a:p>
                    <a:p>
                      <a:r>
                        <a:rPr kumimoji="1" lang="ja-JP" altLang="en-US" sz="1200" dirty="0"/>
                        <a:t>・簡易開設</a:t>
                      </a:r>
                      <a:r>
                        <a:rPr kumimoji="1" lang="en-US" altLang="ja-JP" sz="1200" dirty="0"/>
                        <a:t>[</a:t>
                      </a:r>
                      <a:r>
                        <a:rPr kumimoji="1" lang="ja-JP" altLang="en-US" sz="1200" dirty="0"/>
                        <a:t>廃止通知書受入なし</a:t>
                      </a:r>
                      <a:r>
                        <a:rPr kumimoji="1" lang="en-US" altLang="ja-JP" sz="1200" dirty="0"/>
                        <a:t>]</a:t>
                      </a:r>
                      <a:r>
                        <a:rPr kumimoji="1" lang="ja-JP" altLang="en-US" sz="1200" dirty="0"/>
                        <a:t>の場合のみ適用</a:t>
                      </a:r>
                    </a:p>
                    <a:p>
                      <a:r>
                        <a:rPr kumimoji="1" lang="ja-JP" altLang="en-US" sz="1200" dirty="0"/>
                        <a:t>・再開設または金融機関変更による非課税口座開設については、現状通り税務署承認済みとなった翌日から買付可能とする</a:t>
                      </a:r>
                    </a:p>
                  </a:txBody>
                  <a:tcPr/>
                </a:tc>
                <a:tc>
                  <a:txBody>
                    <a:bodyPr/>
                    <a:lstStyle/>
                    <a:p>
                      <a:endParaRPr kumimoji="1" lang="ja-JP" altLang="en-US" sz="1200" dirty="0"/>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dirty="0">
                          <a:solidFill>
                            <a:schemeClr val="dk1"/>
                          </a:solidFill>
                          <a:effectLst/>
                          <a:latin typeface="+mn-lt"/>
                          <a:ea typeface="+mn-ea"/>
                          <a:cs typeface="+mn-cs"/>
                        </a:rPr>
                        <a:t>買付・応募・定時定額機能において、当日の</a:t>
                      </a:r>
                      <a:r>
                        <a:rPr kumimoji="1" lang="en-US" altLang="ja-JP" sz="1200" kern="1200" dirty="0">
                          <a:solidFill>
                            <a:schemeClr val="dk1"/>
                          </a:solidFill>
                          <a:effectLst/>
                          <a:latin typeface="+mn-lt"/>
                          <a:ea typeface="+mn-ea"/>
                          <a:cs typeface="+mn-cs"/>
                        </a:rPr>
                        <a:t>NISA</a:t>
                      </a:r>
                      <a:r>
                        <a:rPr kumimoji="1" lang="ja-JP" altLang="ja-JP" sz="1200" kern="1200" dirty="0">
                          <a:solidFill>
                            <a:schemeClr val="dk1"/>
                          </a:solidFill>
                          <a:effectLst/>
                          <a:latin typeface="+mn-lt"/>
                          <a:ea typeface="+mn-ea"/>
                          <a:cs typeface="+mn-cs"/>
                        </a:rPr>
                        <a:t>注文は従来通り不可であること</a:t>
                      </a:r>
                      <a:endParaRPr kumimoji="1" lang="ja-JP" altLang="en-US" sz="1000" dirty="0"/>
                    </a:p>
                  </a:txBody>
                  <a:tcPr/>
                </a:tc>
                <a:tc>
                  <a:txBody>
                    <a:bodyPr/>
                    <a:lstStyle/>
                    <a:p>
                      <a:endParaRPr kumimoji="1" lang="ja-JP" altLang="en-US" sz="1200" dirty="0"/>
                    </a:p>
                  </a:txBody>
                  <a:tcPr/>
                </a:tc>
                <a:extLst>
                  <a:ext uri="{0D108BD9-81ED-4DB2-BD59-A6C34878D82A}">
                    <a16:rowId xmlns:a16="http://schemas.microsoft.com/office/drawing/2014/main" val="2695248803"/>
                  </a:ext>
                </a:extLst>
              </a:tr>
              <a:tr h="448050">
                <a:tc>
                  <a:txBody>
                    <a:bodyPr/>
                    <a:lstStyle/>
                    <a:p>
                      <a:r>
                        <a:rPr kumimoji="1" lang="en-US" altLang="ja-JP" sz="1200" dirty="0"/>
                        <a:t>3</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タブレットで非課税口座を受付した当日に、</a:t>
                      </a:r>
                      <a:r>
                        <a:rPr kumimoji="1" lang="en-US" altLang="ja-JP" sz="1200" dirty="0"/>
                        <a:t>LISA</a:t>
                      </a:r>
                      <a:r>
                        <a:rPr kumimoji="1" lang="ja-JP" altLang="en-US" sz="1200" dirty="0"/>
                        <a:t>システムへ非課税口座開設データを登録する事務運用であること</a:t>
                      </a:r>
                    </a:p>
                  </a:txBody>
                  <a:tcPr/>
                </a:tc>
                <a:tc>
                  <a:txBody>
                    <a:bodyPr/>
                    <a:lstStyle/>
                    <a:p>
                      <a:endParaRPr kumimoji="1" lang="ja-JP" altLang="en-US" sz="1200" dirty="0"/>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r>
                        <a:rPr kumimoji="1" lang="ja-JP" altLang="ja-JP" sz="1200" kern="1200" dirty="0">
                          <a:solidFill>
                            <a:schemeClr val="dk1"/>
                          </a:solidFill>
                          <a:effectLst/>
                          <a:latin typeface="+mn-lt"/>
                          <a:ea typeface="+mn-ea"/>
                          <a:cs typeface="+mn-cs"/>
                        </a:rPr>
                        <a:t>検印画面にて非課税口座開設伝票を却下した場合、紐づく先日付</a:t>
                      </a:r>
                      <a:r>
                        <a:rPr kumimoji="1" lang="en-US" altLang="ja-JP" sz="1200" kern="1200" dirty="0">
                          <a:solidFill>
                            <a:schemeClr val="dk1"/>
                          </a:solidFill>
                          <a:effectLst/>
                          <a:latin typeface="+mn-lt"/>
                          <a:ea typeface="+mn-ea"/>
                          <a:cs typeface="+mn-cs"/>
                        </a:rPr>
                        <a:t>NISA</a:t>
                      </a:r>
                      <a:r>
                        <a:rPr kumimoji="1" lang="ja-JP" altLang="ja-JP" sz="1200" kern="1200" dirty="0">
                          <a:solidFill>
                            <a:schemeClr val="dk1"/>
                          </a:solidFill>
                          <a:effectLst/>
                          <a:latin typeface="+mn-lt"/>
                          <a:ea typeface="+mn-ea"/>
                          <a:cs typeface="+mn-cs"/>
                        </a:rPr>
                        <a:t>注文はシステム側で取消は行わない</a:t>
                      </a:r>
                      <a:endParaRPr kumimoji="1" lang="ja-JP" altLang="en-US" sz="1000" dirty="0"/>
                    </a:p>
                  </a:txBody>
                  <a:tcPr/>
                </a:tc>
                <a:tc>
                  <a:txBody>
                    <a:bodyPr/>
                    <a:lstStyle/>
                    <a:p>
                      <a:endParaRPr kumimoji="1" lang="ja-JP" altLang="en-US" sz="1200" dirty="0"/>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545511512"/>
                  </a:ext>
                </a:extLst>
              </a:tr>
              <a:tr h="448050">
                <a:tc>
                  <a:txBody>
                    <a:bodyPr/>
                    <a:lstStyle/>
                    <a:p>
                      <a:r>
                        <a:rPr kumimoji="1" lang="en-US" altLang="ja-JP" sz="1200" dirty="0"/>
                        <a:t>6</a:t>
                      </a:r>
                      <a:endParaRPr kumimoji="1" lang="ja-JP" altLang="en-US" sz="1200" dirty="0"/>
                    </a:p>
                  </a:txBody>
                  <a:tcPr/>
                </a:tc>
                <a:tc>
                  <a:txBody>
                    <a:bodyPr/>
                    <a:lstStyle/>
                    <a:p>
                      <a:endParaRPr kumimoji="1" lang="ja-JP" altLang="en-US" sz="1000" dirty="0"/>
                    </a:p>
                  </a:txBody>
                  <a:tcPr/>
                </a:tc>
                <a:tc>
                  <a:txBody>
                    <a:bodyPr/>
                    <a:lstStyle/>
                    <a:p>
                      <a:endParaRPr kumimoji="1" lang="ja-JP" altLang="en-US" sz="1200" dirty="0"/>
                    </a:p>
                  </a:txBody>
                  <a:tcPr/>
                </a:tc>
                <a:extLst>
                  <a:ext uri="{0D108BD9-81ED-4DB2-BD59-A6C34878D82A}">
                    <a16:rowId xmlns:a16="http://schemas.microsoft.com/office/drawing/2014/main" val="3770836329"/>
                  </a:ext>
                </a:extLst>
              </a:tr>
              <a:tr h="448050">
                <a:tc>
                  <a:txBody>
                    <a:bodyPr/>
                    <a:lstStyle/>
                    <a:p>
                      <a:r>
                        <a:rPr kumimoji="1" lang="en-US" altLang="ja-JP" sz="1200" dirty="0"/>
                        <a:t>7</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002038993"/>
                  </a:ext>
                </a:extLst>
              </a:tr>
            </a:tbl>
          </a:graphicData>
        </a:graphic>
      </p:graphicFrame>
      <p:sp>
        <p:nvSpPr>
          <p:cNvPr id="4" name="Text Box 16">
            <a:extLst>
              <a:ext uri="{FF2B5EF4-FFF2-40B4-BE49-F238E27FC236}">
                <a16:creationId xmlns:a16="http://schemas.microsoft.com/office/drawing/2014/main" id="{089A6557-B353-EA51-D18C-9770F02E7D53}"/>
              </a:ext>
            </a:extLst>
          </p:cNvPr>
          <p:cNvSpPr txBox="1">
            <a:spLocks noChangeArrowheads="1"/>
          </p:cNvSpPr>
          <p:nvPr/>
        </p:nvSpPr>
        <p:spPr bwMode="auto">
          <a:xfrm>
            <a:off x="56456" y="692696"/>
            <a:ext cx="9645650" cy="54303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＜要件一覧＞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システム前提・制約条件を記載する。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248896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B9F1C8-E264-54BB-D581-3956DDD5D88F}"/>
              </a:ext>
            </a:extLst>
          </p:cNvPr>
          <p:cNvSpPr>
            <a:spLocks noGrp="1"/>
          </p:cNvSpPr>
          <p:nvPr>
            <p:ph type="title"/>
          </p:nvPr>
        </p:nvSpPr>
        <p:spPr/>
        <p:txBody>
          <a:bodyPr/>
          <a:lstStyle/>
          <a:p>
            <a:r>
              <a:rPr kumimoji="1" lang="ja-JP" altLang="en-US" dirty="0"/>
              <a:t>２．システム機能概要</a:t>
            </a:r>
          </a:p>
        </p:txBody>
      </p:sp>
      <p:graphicFrame>
        <p:nvGraphicFramePr>
          <p:cNvPr id="3" name="表 2">
            <a:extLst>
              <a:ext uri="{FF2B5EF4-FFF2-40B4-BE49-F238E27FC236}">
                <a16:creationId xmlns:a16="http://schemas.microsoft.com/office/drawing/2014/main" id="{3FA27BC3-5484-BCFE-AD8F-A8BD14016C3D}"/>
              </a:ext>
            </a:extLst>
          </p:cNvPr>
          <p:cNvGraphicFramePr>
            <a:graphicFrameLocks noGrp="1"/>
          </p:cNvGraphicFramePr>
          <p:nvPr>
            <p:extLst>
              <p:ext uri="{D42A27DB-BD31-4B8C-83A1-F6EECF244321}">
                <p14:modId xmlns:p14="http://schemas.microsoft.com/office/powerpoint/2010/main" val="388025809"/>
              </p:ext>
            </p:extLst>
          </p:nvPr>
        </p:nvGraphicFramePr>
        <p:xfrm>
          <a:off x="275510" y="2520863"/>
          <a:ext cx="9183687" cy="2743200"/>
        </p:xfrm>
        <a:graphic>
          <a:graphicData uri="http://schemas.openxmlformats.org/drawingml/2006/table">
            <a:tbl>
              <a:tblPr firstRow="1" bandRow="1">
                <a:tableStyleId>{93296810-A885-4BE3-A3E7-6D5BEEA58F35}</a:tableStyleId>
              </a:tblPr>
              <a:tblGrid>
                <a:gridCol w="412981">
                  <a:extLst>
                    <a:ext uri="{9D8B030D-6E8A-4147-A177-3AD203B41FA5}">
                      <a16:colId xmlns:a16="http://schemas.microsoft.com/office/drawing/2014/main" val="1777742977"/>
                    </a:ext>
                  </a:extLst>
                </a:gridCol>
                <a:gridCol w="550142">
                  <a:extLst>
                    <a:ext uri="{9D8B030D-6E8A-4147-A177-3AD203B41FA5}">
                      <a16:colId xmlns:a16="http://schemas.microsoft.com/office/drawing/2014/main" val="3295760834"/>
                    </a:ext>
                  </a:extLst>
                </a:gridCol>
                <a:gridCol w="577874">
                  <a:extLst>
                    <a:ext uri="{9D8B030D-6E8A-4147-A177-3AD203B41FA5}">
                      <a16:colId xmlns:a16="http://schemas.microsoft.com/office/drawing/2014/main" val="81306546"/>
                    </a:ext>
                  </a:extLst>
                </a:gridCol>
                <a:gridCol w="809464">
                  <a:extLst>
                    <a:ext uri="{9D8B030D-6E8A-4147-A177-3AD203B41FA5}">
                      <a16:colId xmlns:a16="http://schemas.microsoft.com/office/drawing/2014/main" val="2996124008"/>
                    </a:ext>
                  </a:extLst>
                </a:gridCol>
                <a:gridCol w="1469038">
                  <a:extLst>
                    <a:ext uri="{9D8B030D-6E8A-4147-A177-3AD203B41FA5}">
                      <a16:colId xmlns:a16="http://schemas.microsoft.com/office/drawing/2014/main" val="2154433068"/>
                    </a:ext>
                  </a:extLst>
                </a:gridCol>
                <a:gridCol w="4527559">
                  <a:extLst>
                    <a:ext uri="{9D8B030D-6E8A-4147-A177-3AD203B41FA5}">
                      <a16:colId xmlns:a16="http://schemas.microsoft.com/office/drawing/2014/main" val="3092326056"/>
                    </a:ext>
                  </a:extLst>
                </a:gridCol>
                <a:gridCol w="836629">
                  <a:extLst>
                    <a:ext uri="{9D8B030D-6E8A-4147-A177-3AD203B41FA5}">
                      <a16:colId xmlns:a16="http://schemas.microsoft.com/office/drawing/2014/main" val="2620392848"/>
                    </a:ext>
                  </a:extLst>
                </a:gridCol>
              </a:tblGrid>
              <a:tr h="624581">
                <a:tc>
                  <a:txBody>
                    <a:bodyPr/>
                    <a:lstStyle/>
                    <a:p>
                      <a:r>
                        <a:rPr kumimoji="1" lang="en-US" altLang="ja-JP" sz="1200" dirty="0"/>
                        <a:t>No</a:t>
                      </a:r>
                      <a:endParaRPr kumimoji="1" lang="ja-JP" altLang="en-US" sz="1200" dirty="0"/>
                    </a:p>
                  </a:txBody>
                  <a:tcPr/>
                </a:tc>
                <a:tc>
                  <a:txBody>
                    <a:bodyPr/>
                    <a:lstStyle/>
                    <a:p>
                      <a:r>
                        <a:rPr kumimoji="1" lang="ja-JP" altLang="en-US" sz="1200" dirty="0"/>
                        <a:t>シス</a:t>
                      </a:r>
                      <a:endParaRPr kumimoji="1" lang="en-US" altLang="ja-JP" sz="1200" dirty="0"/>
                    </a:p>
                    <a:p>
                      <a:r>
                        <a:rPr kumimoji="1" lang="ja-JP" altLang="en-US" sz="1200" dirty="0"/>
                        <a:t>テム</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オン</a:t>
                      </a:r>
                      <a:r>
                        <a:rPr kumimoji="1" lang="en-US" altLang="ja-JP" sz="1200" dirty="0"/>
                        <a:t>/</a:t>
                      </a:r>
                      <a:r>
                        <a:rPr kumimoji="1" lang="ja-JP" altLang="en-US" sz="1200" dirty="0"/>
                        <a:t>バッチ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新規</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変更</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廃止</a:t>
                      </a:r>
                    </a:p>
                  </a:txBody>
                  <a:tcPr/>
                </a:tc>
                <a:tc>
                  <a:txBody>
                    <a:bodyPr/>
                    <a:lstStyle/>
                    <a:p>
                      <a:r>
                        <a:rPr kumimoji="1" lang="ja-JP" altLang="en-US" sz="1200" dirty="0"/>
                        <a:t>機能名</a:t>
                      </a:r>
                    </a:p>
                  </a:txBody>
                  <a:tcPr/>
                </a:tc>
                <a:tc>
                  <a:txBody>
                    <a:bodyPr/>
                    <a:lstStyle/>
                    <a:p>
                      <a:r>
                        <a:rPr kumimoji="1" lang="ja-JP" altLang="en-US" sz="1200" dirty="0"/>
                        <a:t>機能概要</a:t>
                      </a:r>
                    </a:p>
                  </a:txBody>
                  <a:tcPr/>
                </a:tc>
                <a:tc>
                  <a:txBody>
                    <a:bodyPr/>
                    <a:lstStyle/>
                    <a:p>
                      <a:r>
                        <a:rPr kumimoji="1" lang="ja-JP" altLang="en-US" sz="1200" dirty="0"/>
                        <a:t>該当要件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1695291">
                <a:tc>
                  <a:txBody>
                    <a:bodyPr/>
                    <a:lstStyle/>
                    <a:p>
                      <a:r>
                        <a:rPr kumimoji="1" lang="en-US" altLang="ja-JP" sz="1200" dirty="0"/>
                        <a:t>1</a:t>
                      </a:r>
                      <a:endParaRPr kumimoji="1" lang="ja-JP" altLang="en-US" sz="1200" dirty="0"/>
                    </a:p>
                  </a:txBody>
                  <a:tcPr/>
                </a:tc>
                <a:tc>
                  <a:txBody>
                    <a:bodyPr/>
                    <a:lstStyle/>
                    <a:p>
                      <a:r>
                        <a:rPr kumimoji="1" lang="en-US" altLang="ja-JP" sz="1200" dirty="0"/>
                        <a:t>FF</a:t>
                      </a:r>
                      <a:endParaRPr kumimoji="1" lang="ja-JP" altLang="en-US" sz="1200" dirty="0"/>
                    </a:p>
                  </a:txBody>
                  <a:tcPr/>
                </a:tc>
                <a:tc>
                  <a:txBody>
                    <a:bodyPr/>
                    <a:lstStyle/>
                    <a:p>
                      <a:r>
                        <a:rPr kumimoji="1" lang="ja-JP" altLang="en-US" sz="1200" dirty="0"/>
                        <a:t>オンライン</a:t>
                      </a:r>
                    </a:p>
                  </a:txBody>
                  <a:tcPr/>
                </a:tc>
                <a:tc>
                  <a:txBody>
                    <a:bodyPr/>
                    <a:lstStyle/>
                    <a:p>
                      <a:r>
                        <a:rPr kumimoji="1" lang="ja-JP" altLang="en-US" sz="1200" dirty="0"/>
                        <a:t>変更</a:t>
                      </a:r>
                    </a:p>
                  </a:txBody>
                  <a:tcPr/>
                </a:tc>
                <a:tc>
                  <a:txBody>
                    <a:bodyPr/>
                    <a:lstStyle/>
                    <a:p>
                      <a:r>
                        <a:rPr kumimoji="1" lang="ja-JP" altLang="en-US" sz="1200" dirty="0"/>
                        <a:t>非課税口座開設</a:t>
                      </a:r>
                    </a:p>
                  </a:txBody>
                  <a:tcPr/>
                </a:tc>
                <a:tc>
                  <a:txBody>
                    <a:bodyPr/>
                    <a:lstStyle/>
                    <a:p>
                      <a:r>
                        <a:rPr kumimoji="1" lang="ja-JP" altLang="en-US" sz="1200" dirty="0"/>
                        <a:t>非課税口座開設時、同日の</a:t>
                      </a:r>
                      <a:r>
                        <a:rPr kumimoji="1" lang="en-US" altLang="ja-JP" sz="1200" dirty="0"/>
                        <a:t>NISA</a:t>
                      </a:r>
                      <a:r>
                        <a:rPr kumimoji="1" lang="ja-JP" altLang="en-US" sz="1200" dirty="0"/>
                        <a:t>先日付注文を受け付けられるよう以下の項目を設定する。</a:t>
                      </a:r>
                      <a:r>
                        <a:rPr kumimoji="1" lang="en-US" altLang="ja-JP" sz="1200" dirty="0"/>
                        <a:t>LISA/MF</a:t>
                      </a:r>
                      <a:r>
                        <a:rPr kumimoji="1" lang="ja-JP" altLang="en-US" sz="1200" dirty="0"/>
                        <a:t>からのデータ受領前でも非課税口座開設状態とすることで、</a:t>
                      </a:r>
                      <a:r>
                        <a:rPr kumimoji="1" lang="en-US" altLang="ja-JP" sz="1200" dirty="0"/>
                        <a:t>NISA</a:t>
                      </a:r>
                      <a:r>
                        <a:rPr kumimoji="1" lang="ja-JP" altLang="en-US" sz="1200" dirty="0"/>
                        <a:t>先日付注文を受付可能とする。</a:t>
                      </a:r>
                      <a:endParaRPr kumimoji="1" lang="en-US" altLang="ja-JP" sz="1200" dirty="0"/>
                    </a:p>
                    <a:p>
                      <a:r>
                        <a:rPr kumimoji="1" lang="en-US" altLang="ja-JP" sz="1200" dirty="0">
                          <a:solidFill>
                            <a:srgbClr val="000000"/>
                          </a:solidFill>
                        </a:rPr>
                        <a:t>NISA</a:t>
                      </a:r>
                      <a:r>
                        <a:rPr kumimoji="1" lang="ja-JP" altLang="en-US" sz="1200" dirty="0">
                          <a:solidFill>
                            <a:srgbClr val="000000"/>
                          </a:solidFill>
                        </a:rPr>
                        <a:t>先日付注文を受け付け可能とするかどうかの判断は会社条件テーブルの</a:t>
                      </a:r>
                      <a:r>
                        <a:rPr lang="en-US" altLang="ja-JP" sz="1200" dirty="0">
                          <a:solidFill>
                            <a:srgbClr val="000000"/>
                          </a:solidFill>
                        </a:rPr>
                        <a:t>NISA</a:t>
                      </a:r>
                      <a:r>
                        <a:rPr lang="ja-JP" altLang="en-US" sz="1200" dirty="0">
                          <a:solidFill>
                            <a:srgbClr val="000000"/>
                          </a:solidFill>
                        </a:rPr>
                        <a:t>先日付注文可能フラグで判断する。</a:t>
                      </a:r>
                      <a:endParaRPr kumimoji="1" lang="en-US" altLang="ja-JP" sz="1200" dirty="0">
                        <a:solidFill>
                          <a:srgbClr val="000000"/>
                        </a:solidFill>
                      </a:endParaRPr>
                    </a:p>
                    <a:p>
                      <a:r>
                        <a:rPr kumimoji="1" lang="en-US" altLang="ja-JP" sz="1200" dirty="0"/>
                        <a:t>【MF</a:t>
                      </a:r>
                      <a:r>
                        <a:rPr kumimoji="1" lang="ja-JP" altLang="en-US" sz="1200" dirty="0"/>
                        <a:t>口座</a:t>
                      </a:r>
                      <a:r>
                        <a:rPr kumimoji="1" lang="en-US" altLang="ja-JP" sz="1200" dirty="0"/>
                        <a:t>】</a:t>
                      </a:r>
                    </a:p>
                    <a:p>
                      <a:r>
                        <a:rPr kumimoji="1" lang="ja-JP" altLang="en-US" sz="1200" dirty="0"/>
                        <a:t>　非課税口座に関する項目を更新</a:t>
                      </a:r>
                      <a:endParaRPr kumimoji="1" lang="en-US" altLang="ja-JP" sz="1200" dirty="0"/>
                    </a:p>
                    <a:p>
                      <a:r>
                        <a:rPr kumimoji="1" lang="en-US" altLang="ja-JP" sz="1200" dirty="0"/>
                        <a:t>【</a:t>
                      </a:r>
                      <a:r>
                        <a:rPr kumimoji="1" lang="en-US" altLang="zh-TW" sz="1200" dirty="0"/>
                        <a:t>MF</a:t>
                      </a:r>
                      <a:r>
                        <a:rPr kumimoji="1" lang="zh-TW" altLang="en-US" sz="1200" dirty="0"/>
                        <a:t>非課税口座利用情報</a:t>
                      </a:r>
                      <a:r>
                        <a:rPr kumimoji="1" lang="en-US" altLang="ja-JP" sz="1200" dirty="0"/>
                        <a:t>】</a:t>
                      </a:r>
                    </a:p>
                    <a:p>
                      <a:r>
                        <a:rPr kumimoji="1" lang="en-US" altLang="ja-JP" sz="1200" dirty="0"/>
                        <a:t>【</a:t>
                      </a:r>
                      <a:r>
                        <a:rPr kumimoji="1" lang="en-US" altLang="zh-TW" sz="1200" dirty="0"/>
                        <a:t>MF</a:t>
                      </a:r>
                      <a:r>
                        <a:rPr kumimoji="1" lang="zh-TW" altLang="en-US" sz="1200" dirty="0"/>
                        <a:t>非課税口座簡易開設</a:t>
                      </a:r>
                      <a:r>
                        <a:rPr kumimoji="1" lang="en-US" altLang="ja-JP" sz="1200" dirty="0"/>
                        <a:t>】</a:t>
                      </a:r>
                    </a:p>
                    <a:p>
                      <a:r>
                        <a:rPr kumimoji="1" lang="ja-JP" altLang="en-US" sz="1200" dirty="0"/>
                        <a:t>　簡易開設中として新規レコード作成</a:t>
                      </a:r>
                      <a:endParaRPr kumimoji="1" lang="en-US" altLang="ja-JP" sz="1200" dirty="0"/>
                    </a:p>
                    <a:p>
                      <a:r>
                        <a:rPr kumimoji="1" lang="ja-JP" altLang="en-US" sz="1200" dirty="0"/>
                        <a:t>　</a:t>
                      </a:r>
                      <a:r>
                        <a:rPr kumimoji="1" lang="en-US" altLang="ja-JP" sz="1200" dirty="0"/>
                        <a:t>※</a:t>
                      </a:r>
                      <a:r>
                        <a:rPr kumimoji="1" lang="ja-JP" altLang="en-US" sz="1200" dirty="0"/>
                        <a:t>非課税口座簡易開設の登録状態を管理するため項目を追加する</a:t>
                      </a:r>
                      <a:endParaRPr kumimoji="1" lang="en-US" altLang="ja-JP" sz="1200" dirty="0"/>
                    </a:p>
                  </a:txBody>
                  <a:tcPr/>
                </a:tc>
                <a:tc>
                  <a:txBody>
                    <a:bodyPr/>
                    <a:lstStyle/>
                    <a:p>
                      <a:r>
                        <a:rPr kumimoji="1" lang="en-US" altLang="ja-JP" sz="1200" dirty="0"/>
                        <a:t>1</a:t>
                      </a:r>
                      <a:endParaRPr kumimoji="1" lang="ja-JP" altLang="en-US" sz="1200" dirty="0"/>
                    </a:p>
                  </a:txBody>
                  <a:tcPr/>
                </a:tc>
                <a:extLst>
                  <a:ext uri="{0D108BD9-81ED-4DB2-BD59-A6C34878D82A}">
                    <a16:rowId xmlns:a16="http://schemas.microsoft.com/office/drawing/2014/main" val="1382433136"/>
                  </a:ext>
                </a:extLst>
              </a:tr>
            </a:tbl>
          </a:graphicData>
        </a:graphic>
      </p:graphicFrame>
      <p:sp>
        <p:nvSpPr>
          <p:cNvPr id="4" name="Text Box 16">
            <a:extLst>
              <a:ext uri="{FF2B5EF4-FFF2-40B4-BE49-F238E27FC236}">
                <a16:creationId xmlns:a16="http://schemas.microsoft.com/office/drawing/2014/main" id="{C8DE51C7-E028-AC9B-9EE3-7EA8D081019C}"/>
              </a:ext>
            </a:extLst>
          </p:cNvPr>
          <p:cNvSpPr txBox="1">
            <a:spLocks noChangeArrowheads="1"/>
          </p:cNvSpPr>
          <p:nvPr/>
        </p:nvSpPr>
        <p:spPr bwMode="auto">
          <a:xfrm>
            <a:off x="56456" y="692696"/>
            <a:ext cx="9645650" cy="174579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＜システム機能概要一覧＞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1</a:t>
            </a:r>
            <a:r>
              <a:rPr lang="ja-JP" altLang="en-US" sz="1100" b="0" dirty="0">
                <a:solidFill>
                  <a:srgbClr val="000000"/>
                </a:solidFill>
                <a:latin typeface="ＭＳ ゴシック" panose="020B0609070205080204" pitchFamily="49" charset="-128"/>
                <a:ea typeface="ＭＳ ゴシック" panose="020B0609070205080204" pitchFamily="49" charset="-128"/>
              </a:rPr>
              <a:t>）本システムの機能と処理仕様概要を説明する。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2</a:t>
            </a:r>
            <a:r>
              <a:rPr lang="ja-JP" altLang="en-US" sz="1100" b="0" dirty="0">
                <a:solidFill>
                  <a:srgbClr val="000000"/>
                </a:solidFill>
                <a:latin typeface="ＭＳ ゴシック" panose="020B0609070205080204" pitchFamily="49" charset="-128"/>
                <a:ea typeface="ＭＳ ゴシック" panose="020B0609070205080204" pitchFamily="49" charset="-128"/>
              </a:rPr>
              <a:t>）どのシステムにどのような機能を持たせるのかを記述する。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3</a:t>
            </a:r>
            <a:r>
              <a:rPr lang="ja-JP" altLang="en-US" sz="1100" b="0" dirty="0">
                <a:solidFill>
                  <a:srgbClr val="000000"/>
                </a:solidFill>
                <a:latin typeface="ＭＳ ゴシック" panose="020B0609070205080204" pitchFamily="49" charset="-128"/>
                <a:ea typeface="ＭＳ ゴシック" panose="020B0609070205080204" pitchFamily="49" charset="-128"/>
              </a:rPr>
              <a:t>）入力情報、出力情報、出力先を記述する。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4</a:t>
            </a:r>
            <a:r>
              <a:rPr lang="ja-JP" altLang="en-US" sz="1100" b="0" dirty="0">
                <a:solidFill>
                  <a:srgbClr val="000000"/>
                </a:solidFill>
                <a:latin typeface="ＭＳ ゴシック" panose="020B0609070205080204" pitchFamily="49" charset="-128"/>
                <a:ea typeface="ＭＳ ゴシック" panose="020B0609070205080204" pitchFamily="49" charset="-128"/>
              </a:rPr>
              <a:t>）更新情報を記載する。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5</a:t>
            </a:r>
            <a:r>
              <a:rPr lang="ja-JP" altLang="en-US" sz="1100" b="0" dirty="0">
                <a:solidFill>
                  <a:srgbClr val="000000"/>
                </a:solidFill>
                <a:latin typeface="ＭＳ ゴシック" panose="020B0609070205080204" pitchFamily="49" charset="-128"/>
                <a:ea typeface="ＭＳ ゴシック" panose="020B0609070205080204" pitchFamily="49" charset="-128"/>
              </a:rPr>
              <a:t>）どういった機能を、何のために、どうするのかを記述する。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6</a:t>
            </a:r>
            <a:r>
              <a:rPr lang="ja-JP" altLang="en-US" sz="1100" b="0" dirty="0">
                <a:solidFill>
                  <a:srgbClr val="000000"/>
                </a:solidFill>
                <a:latin typeface="ＭＳ ゴシック" panose="020B0609070205080204" pitchFamily="49" charset="-128"/>
                <a:ea typeface="ＭＳ ゴシック" panose="020B0609070205080204" pitchFamily="49" charset="-128"/>
              </a:rPr>
              <a:t>）機能概要には「何ができるのか」もしっかり記述する。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7</a:t>
            </a:r>
            <a:r>
              <a:rPr lang="ja-JP" altLang="en-US" sz="1100" b="0" dirty="0">
                <a:solidFill>
                  <a:srgbClr val="000000"/>
                </a:solidFill>
                <a:latin typeface="ＭＳ ゴシック" panose="020B0609070205080204" pitchFamily="49" charset="-128"/>
                <a:ea typeface="ＭＳ ゴシック" panose="020B0609070205080204" pitchFamily="49" charset="-128"/>
              </a:rPr>
              <a:t>）基本設計のインプット情報となるよう変更があった場合も含め漏れなく記述する。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310714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14927-FAEF-04DB-A071-F9E3199769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5DDD76-B5CE-EE13-4088-8347CB83FF36}"/>
              </a:ext>
            </a:extLst>
          </p:cNvPr>
          <p:cNvSpPr>
            <a:spLocks noGrp="1"/>
          </p:cNvSpPr>
          <p:nvPr>
            <p:ph type="title"/>
          </p:nvPr>
        </p:nvSpPr>
        <p:spPr/>
        <p:txBody>
          <a:bodyPr/>
          <a:lstStyle/>
          <a:p>
            <a:r>
              <a:rPr kumimoji="1" lang="ja-JP" altLang="en-US" dirty="0"/>
              <a:t>２．システム機能概要</a:t>
            </a:r>
          </a:p>
        </p:txBody>
      </p:sp>
      <p:graphicFrame>
        <p:nvGraphicFramePr>
          <p:cNvPr id="3" name="表 2">
            <a:extLst>
              <a:ext uri="{FF2B5EF4-FFF2-40B4-BE49-F238E27FC236}">
                <a16:creationId xmlns:a16="http://schemas.microsoft.com/office/drawing/2014/main" id="{3D336FE5-3BD6-13C2-3B27-8FA493A0EFF2}"/>
              </a:ext>
            </a:extLst>
          </p:cNvPr>
          <p:cNvGraphicFramePr>
            <a:graphicFrameLocks noGrp="1"/>
          </p:cNvGraphicFramePr>
          <p:nvPr>
            <p:extLst>
              <p:ext uri="{D42A27DB-BD31-4B8C-83A1-F6EECF244321}">
                <p14:modId xmlns:p14="http://schemas.microsoft.com/office/powerpoint/2010/main" val="36134115"/>
              </p:ext>
            </p:extLst>
          </p:nvPr>
        </p:nvGraphicFramePr>
        <p:xfrm>
          <a:off x="307976" y="692696"/>
          <a:ext cx="9183687" cy="5760720"/>
        </p:xfrm>
        <a:graphic>
          <a:graphicData uri="http://schemas.openxmlformats.org/drawingml/2006/table">
            <a:tbl>
              <a:tblPr firstRow="1" bandRow="1">
                <a:tableStyleId>{93296810-A885-4BE3-A3E7-6D5BEEA58F35}</a:tableStyleId>
              </a:tblPr>
              <a:tblGrid>
                <a:gridCol w="412981">
                  <a:extLst>
                    <a:ext uri="{9D8B030D-6E8A-4147-A177-3AD203B41FA5}">
                      <a16:colId xmlns:a16="http://schemas.microsoft.com/office/drawing/2014/main" val="1777742977"/>
                    </a:ext>
                  </a:extLst>
                </a:gridCol>
                <a:gridCol w="550142">
                  <a:extLst>
                    <a:ext uri="{9D8B030D-6E8A-4147-A177-3AD203B41FA5}">
                      <a16:colId xmlns:a16="http://schemas.microsoft.com/office/drawing/2014/main" val="3295760834"/>
                    </a:ext>
                  </a:extLst>
                </a:gridCol>
                <a:gridCol w="577874">
                  <a:extLst>
                    <a:ext uri="{9D8B030D-6E8A-4147-A177-3AD203B41FA5}">
                      <a16:colId xmlns:a16="http://schemas.microsoft.com/office/drawing/2014/main" val="81306546"/>
                    </a:ext>
                  </a:extLst>
                </a:gridCol>
                <a:gridCol w="809464">
                  <a:extLst>
                    <a:ext uri="{9D8B030D-6E8A-4147-A177-3AD203B41FA5}">
                      <a16:colId xmlns:a16="http://schemas.microsoft.com/office/drawing/2014/main" val="2996124008"/>
                    </a:ext>
                  </a:extLst>
                </a:gridCol>
                <a:gridCol w="1469038">
                  <a:extLst>
                    <a:ext uri="{9D8B030D-6E8A-4147-A177-3AD203B41FA5}">
                      <a16:colId xmlns:a16="http://schemas.microsoft.com/office/drawing/2014/main" val="2154433068"/>
                    </a:ext>
                  </a:extLst>
                </a:gridCol>
                <a:gridCol w="4527559">
                  <a:extLst>
                    <a:ext uri="{9D8B030D-6E8A-4147-A177-3AD203B41FA5}">
                      <a16:colId xmlns:a16="http://schemas.microsoft.com/office/drawing/2014/main" val="3092326056"/>
                    </a:ext>
                  </a:extLst>
                </a:gridCol>
                <a:gridCol w="836629">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a:t>
                      </a:r>
                      <a:endParaRPr kumimoji="1" lang="en-US" altLang="ja-JP" sz="1200" dirty="0"/>
                    </a:p>
                    <a:p>
                      <a:r>
                        <a:rPr kumimoji="1" lang="ja-JP" altLang="en-US" sz="1200" dirty="0"/>
                        <a:t>テム</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オン</a:t>
                      </a:r>
                      <a:r>
                        <a:rPr kumimoji="1" lang="en-US" altLang="ja-JP" sz="1200" dirty="0"/>
                        <a:t>/</a:t>
                      </a:r>
                      <a:r>
                        <a:rPr kumimoji="1" lang="ja-JP" altLang="en-US" sz="1200" dirty="0"/>
                        <a:t>バッチ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新規</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変更</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廃止</a:t>
                      </a:r>
                    </a:p>
                  </a:txBody>
                  <a:tcPr/>
                </a:tc>
                <a:tc>
                  <a:txBody>
                    <a:bodyPr/>
                    <a:lstStyle/>
                    <a:p>
                      <a:r>
                        <a:rPr kumimoji="1" lang="ja-JP" altLang="en-US" sz="1200" dirty="0"/>
                        <a:t>機能名</a:t>
                      </a:r>
                    </a:p>
                  </a:txBody>
                  <a:tcPr/>
                </a:tc>
                <a:tc>
                  <a:txBody>
                    <a:bodyPr/>
                    <a:lstStyle/>
                    <a:p>
                      <a:r>
                        <a:rPr kumimoji="1" lang="ja-JP" altLang="en-US" sz="1200" dirty="0"/>
                        <a:t>機能概要</a:t>
                      </a:r>
                    </a:p>
                  </a:txBody>
                  <a:tcPr/>
                </a:tc>
                <a:tc>
                  <a:txBody>
                    <a:bodyPr/>
                    <a:lstStyle/>
                    <a:p>
                      <a:r>
                        <a:rPr kumimoji="1" lang="ja-JP" altLang="en-US" sz="1200" dirty="0"/>
                        <a:t>該当要件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t>2</a:t>
                      </a:r>
                      <a:endParaRPr kumimoji="1" lang="ja-JP" altLang="en-US" sz="1200" dirty="0"/>
                    </a:p>
                  </a:txBody>
                  <a:tcPr/>
                </a:tc>
                <a:tc>
                  <a:txBody>
                    <a:bodyPr/>
                    <a:lstStyle/>
                    <a:p>
                      <a:r>
                        <a:rPr kumimoji="1" lang="en-US" altLang="ja-JP" sz="1200" dirty="0"/>
                        <a:t>FF</a:t>
                      </a:r>
                    </a:p>
                    <a:p>
                      <a:r>
                        <a:rPr kumimoji="1" lang="en-US" altLang="ja-JP" sz="1200" dirty="0"/>
                        <a:t>FR</a:t>
                      </a:r>
                      <a:endParaRPr kumimoji="1" lang="ja-JP" altLang="en-US" sz="1200" dirty="0"/>
                    </a:p>
                  </a:txBody>
                  <a:tcPr/>
                </a:tc>
                <a:tc>
                  <a:txBody>
                    <a:bodyPr/>
                    <a:lstStyle/>
                    <a:p>
                      <a:r>
                        <a:rPr kumimoji="1" lang="ja-JP" altLang="en-US" sz="1200" dirty="0"/>
                        <a:t>オンライン</a:t>
                      </a:r>
                    </a:p>
                  </a:txBody>
                  <a:tcPr/>
                </a:tc>
                <a:tc>
                  <a:txBody>
                    <a:bodyPr/>
                    <a:lstStyle/>
                    <a:p>
                      <a:r>
                        <a:rPr kumimoji="1" lang="ja-JP" altLang="en-US" sz="1200" dirty="0"/>
                        <a:t>変更</a:t>
                      </a:r>
                    </a:p>
                  </a:txBody>
                  <a:tcPr/>
                </a:tc>
                <a:tc>
                  <a:txBody>
                    <a:bodyPr/>
                    <a:lstStyle/>
                    <a:p>
                      <a:r>
                        <a:rPr kumimoji="1" lang="ja-JP" altLang="en-US" sz="1200" dirty="0">
                          <a:solidFill>
                            <a:srgbClr val="000000"/>
                          </a:solidFill>
                        </a:rPr>
                        <a:t>応募、購入、定時定額（新規）、定時定額</a:t>
                      </a:r>
                      <a:r>
                        <a:rPr kumimoji="1" lang="en-US" altLang="ja-JP" sz="1200" dirty="0">
                          <a:solidFill>
                            <a:srgbClr val="000000"/>
                          </a:solidFill>
                        </a:rPr>
                        <a:t>(</a:t>
                      </a:r>
                      <a:r>
                        <a:rPr kumimoji="1" lang="ja-JP" altLang="en-US" sz="1200" dirty="0">
                          <a:solidFill>
                            <a:srgbClr val="000000"/>
                          </a:solidFill>
                        </a:rPr>
                        <a:t>変更</a:t>
                      </a:r>
                      <a:r>
                        <a:rPr kumimoji="1" lang="en-US" altLang="ja-JP" sz="1200" dirty="0">
                          <a:solidFill>
                            <a:srgbClr val="000000"/>
                          </a:solidFill>
                        </a:rPr>
                        <a:t>)</a:t>
                      </a:r>
                      <a:endParaRPr kumimoji="1" lang="ja-JP" altLang="en-US" sz="1200" dirty="0">
                        <a:solidFill>
                          <a:srgbClr val="000000"/>
                        </a:solidFill>
                      </a:endParaRPr>
                    </a:p>
                  </a:txBody>
                  <a:tcPr/>
                </a:tc>
                <a:tc>
                  <a:txBody>
                    <a:bodyPr/>
                    <a:lstStyle/>
                    <a:p>
                      <a:r>
                        <a:rPr kumimoji="1" lang="ja-JP" altLang="en-US" sz="1200" dirty="0">
                          <a:solidFill>
                            <a:srgbClr val="000000"/>
                          </a:solidFill>
                        </a:rPr>
                        <a:t>非課税口座開設により作られたデータの場合、</a:t>
                      </a:r>
                      <a:r>
                        <a:rPr kumimoji="1" lang="en-US" altLang="ja-JP" sz="1200" dirty="0">
                          <a:solidFill>
                            <a:srgbClr val="000000"/>
                          </a:solidFill>
                        </a:rPr>
                        <a:t>NISA</a:t>
                      </a:r>
                      <a:r>
                        <a:rPr kumimoji="1" lang="ja-JP" altLang="en-US" sz="1200" dirty="0">
                          <a:solidFill>
                            <a:srgbClr val="000000"/>
                          </a:solidFill>
                        </a:rPr>
                        <a:t>買付は先日付注文以外エラーとする制御を追加する（当日の</a:t>
                      </a:r>
                      <a:r>
                        <a:rPr kumimoji="1" lang="en-US" altLang="ja-JP" sz="1200" dirty="0">
                          <a:solidFill>
                            <a:srgbClr val="000000"/>
                          </a:solidFill>
                        </a:rPr>
                        <a:t>NISA</a:t>
                      </a:r>
                      <a:r>
                        <a:rPr kumimoji="1" lang="ja-JP" altLang="en-US" sz="1200" dirty="0">
                          <a:solidFill>
                            <a:srgbClr val="000000"/>
                          </a:solidFill>
                        </a:rPr>
                        <a:t>買付は受け付けられない）</a:t>
                      </a:r>
                      <a:endParaRPr kumimoji="1" lang="en-US" altLang="ja-JP" sz="1200" dirty="0">
                        <a:solidFill>
                          <a:srgbClr val="000000"/>
                        </a:solidFill>
                      </a:endParaRPr>
                    </a:p>
                    <a:p>
                      <a:r>
                        <a:rPr kumimoji="1" lang="en-US" altLang="ja-JP" sz="1200" dirty="0">
                          <a:solidFill>
                            <a:srgbClr val="000000"/>
                          </a:solidFill>
                        </a:rPr>
                        <a:t>※</a:t>
                      </a:r>
                      <a:r>
                        <a:rPr kumimoji="1" lang="ja-JP" altLang="en-US" sz="1200" dirty="0">
                          <a:solidFill>
                            <a:srgbClr val="000000"/>
                          </a:solidFill>
                        </a:rPr>
                        <a:t>先日付注文が可能な条件は以下の項目で制御している</a:t>
                      </a:r>
                      <a:endParaRPr kumimoji="1" lang="en-US" altLang="ja-JP" sz="1200" dirty="0">
                        <a:solidFill>
                          <a:srgbClr val="000000"/>
                        </a:solidFill>
                      </a:endParaRPr>
                    </a:p>
                    <a:p>
                      <a:r>
                        <a:rPr kumimoji="1" lang="ja-JP" altLang="en-US" sz="1200" dirty="0">
                          <a:solidFill>
                            <a:srgbClr val="000000"/>
                          </a:solidFill>
                        </a:rPr>
                        <a:t>応募、購入機能：</a:t>
                      </a:r>
                      <a:r>
                        <a:rPr kumimoji="1" lang="en-US" altLang="ja-JP" sz="1200" dirty="0">
                          <a:solidFill>
                            <a:srgbClr val="000000"/>
                          </a:solidFill>
                        </a:rPr>
                        <a:t>MF</a:t>
                      </a:r>
                      <a:r>
                        <a:rPr kumimoji="1" lang="ja-JP" altLang="en-US" sz="1200" dirty="0">
                          <a:solidFill>
                            <a:srgbClr val="000000"/>
                          </a:solidFill>
                        </a:rPr>
                        <a:t>会社条件の先日付注文可能営業日数</a:t>
                      </a:r>
                      <a:r>
                        <a:rPr kumimoji="1" lang="en-US" altLang="ja-JP" sz="1200" dirty="0">
                          <a:solidFill>
                            <a:srgbClr val="000000"/>
                          </a:solidFill>
                        </a:rPr>
                        <a:t>(NISA)</a:t>
                      </a:r>
                      <a:r>
                        <a:rPr kumimoji="1" lang="ja-JP" altLang="en-US" sz="1200" dirty="0">
                          <a:solidFill>
                            <a:srgbClr val="000000"/>
                          </a:solidFill>
                        </a:rPr>
                        <a:t>が</a:t>
                      </a:r>
                      <a:r>
                        <a:rPr kumimoji="1" lang="en-US" altLang="ja-JP" sz="1200" dirty="0">
                          <a:solidFill>
                            <a:srgbClr val="000000"/>
                          </a:solidFill>
                        </a:rPr>
                        <a:t>0</a:t>
                      </a:r>
                      <a:r>
                        <a:rPr kumimoji="1" lang="ja-JP" altLang="en-US" sz="1200" dirty="0">
                          <a:solidFill>
                            <a:srgbClr val="000000"/>
                          </a:solidFill>
                        </a:rPr>
                        <a:t>より大きい</a:t>
                      </a:r>
                      <a:endParaRPr kumimoji="1" lang="en-US" altLang="ja-JP" sz="1200" dirty="0">
                        <a:solidFill>
                          <a:srgbClr val="000000"/>
                        </a:solidFill>
                      </a:endParaRPr>
                    </a:p>
                    <a:p>
                      <a:r>
                        <a:rPr kumimoji="1" lang="ja-JP" altLang="en-US" sz="1200" dirty="0">
                          <a:solidFill>
                            <a:srgbClr val="000000"/>
                          </a:solidFill>
                        </a:rPr>
                        <a:t>定時定額</a:t>
                      </a:r>
                      <a:r>
                        <a:rPr kumimoji="1" lang="en-US" altLang="ja-JP" sz="1200" dirty="0">
                          <a:solidFill>
                            <a:srgbClr val="000000"/>
                          </a:solidFill>
                        </a:rPr>
                        <a:t>(</a:t>
                      </a:r>
                      <a:r>
                        <a:rPr kumimoji="1" lang="ja-JP" altLang="en-US" sz="1200" dirty="0">
                          <a:solidFill>
                            <a:srgbClr val="000000"/>
                          </a:solidFill>
                        </a:rPr>
                        <a:t>新規</a:t>
                      </a:r>
                      <a:r>
                        <a:rPr kumimoji="1" lang="en-US" altLang="ja-JP" sz="1200" dirty="0">
                          <a:solidFill>
                            <a:srgbClr val="000000"/>
                          </a:solidFill>
                        </a:rPr>
                        <a:t>)</a:t>
                      </a:r>
                      <a:r>
                        <a:rPr kumimoji="1" lang="ja-JP" altLang="en-US" sz="1200" dirty="0">
                          <a:solidFill>
                            <a:srgbClr val="000000"/>
                          </a:solidFill>
                        </a:rPr>
                        <a:t>、定時定額</a:t>
                      </a:r>
                      <a:r>
                        <a:rPr kumimoji="1" lang="en-US" altLang="ja-JP" sz="1200" dirty="0">
                          <a:solidFill>
                            <a:srgbClr val="000000"/>
                          </a:solidFill>
                        </a:rPr>
                        <a:t>(</a:t>
                      </a:r>
                      <a:r>
                        <a:rPr kumimoji="1" lang="ja-JP" altLang="en-US" sz="1200" dirty="0">
                          <a:solidFill>
                            <a:srgbClr val="000000"/>
                          </a:solidFill>
                        </a:rPr>
                        <a:t>変更</a:t>
                      </a:r>
                      <a:r>
                        <a:rPr kumimoji="1" lang="en-US" altLang="ja-JP" sz="1200" dirty="0">
                          <a:solidFill>
                            <a:srgbClr val="000000"/>
                          </a:solidFill>
                        </a:rPr>
                        <a:t>)</a:t>
                      </a:r>
                      <a:r>
                        <a:rPr kumimoji="1" lang="ja-JP" altLang="en-US" sz="1200" dirty="0">
                          <a:solidFill>
                            <a:srgbClr val="000000"/>
                          </a:solidFill>
                        </a:rPr>
                        <a:t>機能：</a:t>
                      </a:r>
                      <a:r>
                        <a:rPr kumimoji="1" lang="en-US" altLang="ja-JP" sz="1200" dirty="0">
                          <a:solidFill>
                            <a:srgbClr val="000000"/>
                          </a:solidFill>
                        </a:rPr>
                        <a:t>MF</a:t>
                      </a:r>
                      <a:r>
                        <a:rPr kumimoji="1" lang="ja-JP" altLang="en-US" sz="1200" dirty="0">
                          <a:solidFill>
                            <a:srgbClr val="000000"/>
                          </a:solidFill>
                        </a:rPr>
                        <a:t>会社条件の定時定額翌営業日申込選択可能フラグが</a:t>
                      </a:r>
                      <a:r>
                        <a:rPr kumimoji="1" lang="en-US" altLang="ja-JP" sz="1200" dirty="0">
                          <a:solidFill>
                            <a:srgbClr val="000000"/>
                          </a:solidFill>
                        </a:rPr>
                        <a:t>1</a:t>
                      </a:r>
                    </a:p>
                  </a:txBody>
                  <a:tcPr/>
                </a:tc>
                <a:tc>
                  <a:txBody>
                    <a:bodyPr/>
                    <a:lstStyle/>
                    <a:p>
                      <a:r>
                        <a:rPr kumimoji="1" lang="en-US" altLang="ja-JP" sz="1200" dirty="0"/>
                        <a:t>1</a:t>
                      </a:r>
                      <a:endParaRPr kumimoji="1" lang="ja-JP" altLang="en-US" sz="1200" dirty="0"/>
                    </a:p>
                  </a:txBody>
                  <a:tcPr/>
                </a:tc>
                <a:extLst>
                  <a:ext uri="{0D108BD9-81ED-4DB2-BD59-A6C34878D82A}">
                    <a16:rowId xmlns:a16="http://schemas.microsoft.com/office/drawing/2014/main" val="574149731"/>
                  </a:ext>
                </a:extLst>
              </a:tr>
              <a:tr h="448050">
                <a:tc>
                  <a:txBody>
                    <a:bodyPr/>
                    <a:lstStyle/>
                    <a:p>
                      <a:r>
                        <a:rPr kumimoji="1" lang="en-US" altLang="ja-JP" sz="1200" dirty="0">
                          <a:solidFill>
                            <a:schemeClr val="tx1"/>
                          </a:solidFill>
                        </a:rPr>
                        <a:t>3</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取引シミュレーション（応募、購入、定時定額）</a:t>
                      </a:r>
                    </a:p>
                  </a:txBody>
                  <a:tcPr/>
                </a:tc>
                <a:tc>
                  <a:txBody>
                    <a:bodyPr/>
                    <a:lstStyle/>
                    <a:p>
                      <a:r>
                        <a:rPr kumimoji="1" lang="ja-JP" altLang="en-US" sz="1200" dirty="0">
                          <a:solidFill>
                            <a:schemeClr val="tx1"/>
                          </a:solidFill>
                        </a:rPr>
                        <a:t>非課税口座開設により作られたデータの場合、</a:t>
                      </a:r>
                      <a:r>
                        <a:rPr kumimoji="1" lang="en-US" altLang="ja-JP" sz="1200" dirty="0">
                          <a:solidFill>
                            <a:schemeClr val="tx1"/>
                          </a:solidFill>
                        </a:rPr>
                        <a:t>NISA</a:t>
                      </a:r>
                      <a:r>
                        <a:rPr kumimoji="1" lang="ja-JP" altLang="en-US" sz="1200" dirty="0">
                          <a:solidFill>
                            <a:schemeClr val="tx1"/>
                          </a:solidFill>
                        </a:rPr>
                        <a:t>買付は先日付注文以外エラーとする制御を追加する（当日の</a:t>
                      </a:r>
                      <a:r>
                        <a:rPr kumimoji="1" lang="en-US" altLang="ja-JP" sz="1200" dirty="0">
                          <a:solidFill>
                            <a:schemeClr val="tx1"/>
                          </a:solidFill>
                        </a:rPr>
                        <a:t>NISA</a:t>
                      </a:r>
                      <a:r>
                        <a:rPr kumimoji="1" lang="ja-JP" altLang="en-US" sz="1200" dirty="0">
                          <a:solidFill>
                            <a:schemeClr val="tx1"/>
                          </a:solidFill>
                        </a:rPr>
                        <a:t>買付は受け付けられない）</a:t>
                      </a:r>
                      <a:endParaRPr kumimoji="1" lang="en-US" altLang="ja-JP" sz="1200" dirty="0">
                        <a:solidFill>
                          <a:schemeClr val="tx1"/>
                        </a:solidFill>
                      </a:endParaRPr>
                    </a:p>
                    <a:p>
                      <a:r>
                        <a:rPr kumimoji="1" lang="en-US" altLang="ja-JP" sz="1200" dirty="0">
                          <a:solidFill>
                            <a:schemeClr val="tx1"/>
                          </a:solidFill>
                        </a:rPr>
                        <a:t>※</a:t>
                      </a:r>
                      <a:r>
                        <a:rPr kumimoji="1" lang="ja-JP" altLang="en-US" sz="1200" dirty="0">
                          <a:solidFill>
                            <a:schemeClr val="tx1"/>
                          </a:solidFill>
                        </a:rPr>
                        <a:t>先日付注文が可能な条件は以下の項目で制御している</a:t>
                      </a:r>
                      <a:endParaRPr kumimoji="1" lang="en-US" altLang="ja-JP" sz="1200" dirty="0">
                        <a:solidFill>
                          <a:schemeClr val="tx1"/>
                        </a:solidFill>
                      </a:endParaRPr>
                    </a:p>
                    <a:p>
                      <a:r>
                        <a:rPr kumimoji="1" lang="ja-JP" altLang="en-US" sz="1200" dirty="0">
                          <a:solidFill>
                            <a:schemeClr val="tx1"/>
                          </a:solidFill>
                        </a:rPr>
                        <a:t>応募、購入機能：</a:t>
                      </a:r>
                      <a:r>
                        <a:rPr kumimoji="1" lang="en-US" altLang="ja-JP" sz="1200" dirty="0">
                          <a:solidFill>
                            <a:schemeClr val="tx1"/>
                          </a:solidFill>
                        </a:rPr>
                        <a:t>MF</a:t>
                      </a:r>
                      <a:r>
                        <a:rPr kumimoji="1" lang="ja-JP" altLang="en-US" sz="1200" dirty="0">
                          <a:solidFill>
                            <a:schemeClr val="tx1"/>
                          </a:solidFill>
                        </a:rPr>
                        <a:t>会社条件の先日付注文可能営業日数</a:t>
                      </a:r>
                      <a:r>
                        <a:rPr kumimoji="1" lang="en-US" altLang="ja-JP" sz="1200" dirty="0">
                          <a:solidFill>
                            <a:schemeClr val="tx1"/>
                          </a:solidFill>
                        </a:rPr>
                        <a:t>(NISA)</a:t>
                      </a:r>
                      <a:r>
                        <a:rPr kumimoji="1" lang="ja-JP" altLang="en-US" sz="1200" dirty="0">
                          <a:solidFill>
                            <a:schemeClr val="tx1"/>
                          </a:solidFill>
                        </a:rPr>
                        <a:t>が</a:t>
                      </a:r>
                      <a:r>
                        <a:rPr kumimoji="1" lang="en-US" altLang="ja-JP" sz="1200" dirty="0">
                          <a:solidFill>
                            <a:schemeClr val="tx1"/>
                          </a:solidFill>
                        </a:rPr>
                        <a:t>0</a:t>
                      </a:r>
                      <a:r>
                        <a:rPr kumimoji="1" lang="ja-JP" altLang="en-US" sz="1200" dirty="0">
                          <a:solidFill>
                            <a:schemeClr val="tx1"/>
                          </a:solidFill>
                        </a:rPr>
                        <a:t>より大きい</a:t>
                      </a:r>
                      <a:endParaRPr kumimoji="1" lang="en-US" altLang="ja-JP" sz="1200" dirty="0">
                        <a:solidFill>
                          <a:schemeClr val="tx1"/>
                        </a:solidFill>
                      </a:endParaRPr>
                    </a:p>
                    <a:p>
                      <a:r>
                        <a:rPr kumimoji="1" lang="ja-JP" altLang="en-US" sz="1200" dirty="0">
                          <a:solidFill>
                            <a:schemeClr val="tx1"/>
                          </a:solidFill>
                        </a:rPr>
                        <a:t>定時定額機能：</a:t>
                      </a:r>
                      <a:r>
                        <a:rPr kumimoji="1" lang="en-US" altLang="ja-JP" sz="1200" dirty="0">
                          <a:solidFill>
                            <a:schemeClr val="tx1"/>
                          </a:solidFill>
                        </a:rPr>
                        <a:t>MF</a:t>
                      </a:r>
                      <a:r>
                        <a:rPr kumimoji="1" lang="ja-JP" altLang="en-US" sz="1200" dirty="0">
                          <a:solidFill>
                            <a:schemeClr val="tx1"/>
                          </a:solidFill>
                        </a:rPr>
                        <a:t>会社条件の定時定額翌営業日申込選択可能フラグが</a:t>
                      </a:r>
                      <a:r>
                        <a:rPr kumimoji="1" lang="en-US" altLang="ja-JP" sz="1200" dirty="0">
                          <a:solidFill>
                            <a:schemeClr val="tx1"/>
                          </a:solidFill>
                        </a:rPr>
                        <a:t>1</a:t>
                      </a:r>
                    </a:p>
                  </a:txBody>
                  <a:tcPr/>
                </a:tc>
                <a:tc>
                  <a:txBody>
                    <a:bodyPr/>
                    <a:lstStyle/>
                    <a:p>
                      <a:r>
                        <a:rPr kumimoji="1" lang="en-US" altLang="ja-JP" sz="1200" dirty="0">
                          <a:solidFill>
                            <a:schemeClr val="tx1"/>
                          </a:solidFill>
                        </a:rPr>
                        <a:t>1</a:t>
                      </a:r>
                      <a:endParaRPr kumimoji="1" lang="ja-JP" altLang="en-US" sz="1200" dirty="0">
                        <a:solidFill>
                          <a:schemeClr val="tx1"/>
                        </a:solidFill>
                      </a:endParaRPr>
                    </a:p>
                  </a:txBody>
                  <a:tcPr/>
                </a:tc>
                <a:extLst>
                  <a:ext uri="{0D108BD9-81ED-4DB2-BD59-A6C34878D82A}">
                    <a16:rowId xmlns:a16="http://schemas.microsoft.com/office/drawing/2014/main" val="2249538855"/>
                  </a:ext>
                </a:extLst>
              </a:tr>
              <a:tr h="448050">
                <a:tc>
                  <a:txBody>
                    <a:bodyPr/>
                    <a:lstStyle/>
                    <a:p>
                      <a:r>
                        <a:rPr kumimoji="1" lang="en-US" altLang="ja-JP" sz="1200" dirty="0">
                          <a:solidFill>
                            <a:schemeClr val="tx1"/>
                          </a:solidFill>
                        </a:rPr>
                        <a:t>4</a:t>
                      </a: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軽技</a:t>
                      </a:r>
                    </a:p>
                  </a:txBody>
                  <a:tcPr/>
                </a:tc>
                <a:tc>
                  <a:txBody>
                    <a:bodyPr/>
                    <a:lstStyle/>
                    <a:p>
                      <a:r>
                        <a:rPr kumimoji="1" lang="ja-JP" altLang="en-US" sz="1200" dirty="0">
                          <a:solidFill>
                            <a:srgbClr val="FF0000"/>
                          </a:solidFill>
                        </a:rPr>
                        <a:t>伝票管理に追加した項目を軽技で参照できるようにする</a:t>
                      </a:r>
                      <a:endParaRPr kumimoji="1" lang="en-US" altLang="zh-TW" sz="1200" dirty="0">
                        <a:solidFill>
                          <a:srgbClr val="FF0000"/>
                        </a:solidFill>
                      </a:endParaRPr>
                    </a:p>
                  </a:txBody>
                  <a:tcPr/>
                </a:tc>
                <a:tc>
                  <a:txBody>
                    <a:bodyPr/>
                    <a:lstStyle/>
                    <a:p>
                      <a:r>
                        <a:rPr kumimoji="1" lang="en-US" altLang="ja-JP" sz="1200" dirty="0">
                          <a:solidFill>
                            <a:schemeClr val="tx1"/>
                          </a:solidFill>
                        </a:rPr>
                        <a:t>6</a:t>
                      </a:r>
                      <a:endParaRPr kumimoji="1" lang="ja-JP" altLang="en-US" sz="1200" dirty="0">
                        <a:solidFill>
                          <a:schemeClr val="tx1"/>
                        </a:solidFill>
                      </a:endParaRPr>
                    </a:p>
                  </a:txBody>
                  <a:tcPr/>
                </a:tc>
                <a:extLst>
                  <a:ext uri="{0D108BD9-81ED-4DB2-BD59-A6C34878D82A}">
                    <a16:rowId xmlns:a16="http://schemas.microsoft.com/office/drawing/2014/main" val="378375026"/>
                  </a:ext>
                </a:extLst>
              </a:tr>
              <a:tr h="448050">
                <a:tc>
                  <a:txBody>
                    <a:bodyPr/>
                    <a:lstStyle/>
                    <a:p>
                      <a:r>
                        <a:rPr kumimoji="1" lang="en-US" altLang="ja-JP" sz="1200" dirty="0">
                          <a:solidFill>
                            <a:schemeClr val="tx1"/>
                          </a:solidFill>
                        </a:rPr>
                        <a:t>5</a:t>
                      </a:r>
                      <a:endParaRPr kumimoji="1" lang="ja-JP" altLang="en-US" sz="1200" dirty="0">
                        <a:solidFill>
                          <a:schemeClr val="tx1"/>
                        </a:solidFill>
                      </a:endParaRPr>
                    </a:p>
                  </a:txBody>
                  <a:tcPr/>
                </a:tc>
                <a:tc>
                  <a:txBody>
                    <a:bodyPr/>
                    <a:lstStyle/>
                    <a:p>
                      <a:r>
                        <a:rPr kumimoji="1" lang="en-US" altLang="ja-JP" sz="1200" dirty="0">
                          <a:solidFill>
                            <a:schemeClr val="tx1"/>
                          </a:solidFill>
                        </a:rPr>
                        <a:t>FF</a:t>
                      </a:r>
                    </a:p>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a:t>
                      </a:r>
                    </a:p>
                  </a:txBody>
                  <a:tcPr/>
                </a:tc>
                <a:tc>
                  <a:txBody>
                    <a:bodyPr/>
                    <a:lstStyle/>
                    <a:p>
                      <a:r>
                        <a:rPr kumimoji="1" lang="en-US" altLang="ja-JP" sz="1200" dirty="0">
                          <a:solidFill>
                            <a:schemeClr val="tx1"/>
                          </a:solidFill>
                        </a:rPr>
                        <a:t>NISA</a:t>
                      </a:r>
                      <a:r>
                        <a:rPr kumimoji="1" lang="ja-JP" altLang="en-US" sz="1200" dirty="0">
                          <a:solidFill>
                            <a:schemeClr val="tx1"/>
                          </a:solidFill>
                        </a:rPr>
                        <a:t>状況照会</a:t>
                      </a:r>
                    </a:p>
                  </a:txBody>
                  <a:tcPr/>
                </a:tc>
                <a:tc>
                  <a:txBody>
                    <a:bodyPr/>
                    <a:lstStyle/>
                    <a:p>
                      <a:r>
                        <a:rPr kumimoji="1" lang="ja-JP" altLang="en-US" sz="1200" dirty="0">
                          <a:solidFill>
                            <a:schemeClr val="tx1"/>
                          </a:solidFill>
                        </a:rPr>
                        <a:t>画面上に非課税口座開設当日であることがわかるようにする</a:t>
                      </a:r>
                      <a:endParaRPr kumimoji="1" lang="en-US" altLang="ja-JP" sz="1200" dirty="0">
                        <a:solidFill>
                          <a:schemeClr val="tx1"/>
                        </a:solidFill>
                      </a:endParaRPr>
                    </a:p>
                    <a:p>
                      <a:r>
                        <a:rPr kumimoji="1" lang="en-US" altLang="ja-JP" sz="1200" dirty="0">
                          <a:solidFill>
                            <a:schemeClr val="tx1"/>
                          </a:solidFill>
                        </a:rPr>
                        <a:t>※</a:t>
                      </a:r>
                      <a:r>
                        <a:rPr kumimoji="1" lang="ja-JP" altLang="en-US" sz="1200" dirty="0">
                          <a:solidFill>
                            <a:schemeClr val="tx1"/>
                          </a:solidFill>
                        </a:rPr>
                        <a:t>既存処理で要件の通り表示できるため修正不要、テストのみ実施</a:t>
                      </a:r>
                      <a:endParaRPr kumimoji="1" lang="en-US" altLang="ja-JP" sz="1200" dirty="0">
                        <a:solidFill>
                          <a:schemeClr val="tx1"/>
                        </a:solidFill>
                      </a:endParaRPr>
                    </a:p>
                  </a:txBody>
                  <a:tcPr/>
                </a:tc>
                <a:tc>
                  <a:txBody>
                    <a:bodyPr/>
                    <a:lstStyle/>
                    <a:p>
                      <a:r>
                        <a:rPr kumimoji="1" lang="en-US" altLang="ja-JP" sz="1200" dirty="0">
                          <a:solidFill>
                            <a:schemeClr val="tx1"/>
                          </a:solidFill>
                        </a:rPr>
                        <a:t>2</a:t>
                      </a:r>
                      <a:endParaRPr kumimoji="1" lang="ja-JP" altLang="en-US" sz="1200" dirty="0">
                        <a:solidFill>
                          <a:schemeClr val="tx1"/>
                        </a:solidFill>
                      </a:endParaRPr>
                    </a:p>
                  </a:txBody>
                  <a:tcPr/>
                </a:tc>
                <a:extLst>
                  <a:ext uri="{0D108BD9-81ED-4DB2-BD59-A6C34878D82A}">
                    <a16:rowId xmlns:a16="http://schemas.microsoft.com/office/drawing/2014/main" val="1871727349"/>
                  </a:ext>
                </a:extLst>
              </a:tr>
              <a:tr h="448050">
                <a:tc>
                  <a:txBody>
                    <a:bodyPr/>
                    <a:lstStyle/>
                    <a:p>
                      <a:r>
                        <a:rPr kumimoji="1" lang="en-US" altLang="ja-JP" sz="1200" dirty="0">
                          <a:solidFill>
                            <a:schemeClr val="tx1"/>
                          </a:solidFill>
                        </a:rPr>
                        <a:t>6</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バッチ</a:t>
                      </a:r>
                    </a:p>
                  </a:txBody>
                  <a:tcPr/>
                </a:tc>
                <a:tc>
                  <a:txBody>
                    <a:bodyPr/>
                    <a:lstStyle/>
                    <a:p>
                      <a:r>
                        <a:rPr kumimoji="1" lang="ja-JP" altLang="en-US" sz="1200" dirty="0">
                          <a:solidFill>
                            <a:schemeClr val="tx1"/>
                          </a:solidFill>
                        </a:rPr>
                        <a:t>新規</a:t>
                      </a:r>
                    </a:p>
                  </a:txBody>
                  <a:tcPr/>
                </a:tc>
                <a:tc>
                  <a:txBody>
                    <a:bodyPr/>
                    <a:lstStyle/>
                    <a:p>
                      <a:r>
                        <a:rPr kumimoji="1" lang="ja-JP" altLang="en-US" sz="1200" dirty="0">
                          <a:solidFill>
                            <a:schemeClr val="tx1"/>
                          </a:solidFill>
                        </a:rPr>
                        <a:t>注文整合性チェック</a:t>
                      </a:r>
                    </a:p>
                  </a:txBody>
                  <a:tcPr/>
                </a:tc>
                <a:tc>
                  <a:txBody>
                    <a:bodyPr/>
                    <a:lstStyle/>
                    <a:p>
                      <a:r>
                        <a:rPr kumimoji="1" lang="ja-JP" altLang="en-US" sz="1200" dirty="0">
                          <a:solidFill>
                            <a:schemeClr val="tx1"/>
                          </a:solidFill>
                        </a:rPr>
                        <a:t>夜間バッチの</a:t>
                      </a:r>
                      <a:r>
                        <a:rPr kumimoji="1" lang="en-US" altLang="ja-JP" sz="1200" dirty="0">
                          <a:solidFill>
                            <a:schemeClr val="tx1"/>
                          </a:solidFill>
                        </a:rPr>
                        <a:t>FRONT</a:t>
                      </a:r>
                      <a:r>
                        <a:rPr kumimoji="1" lang="ja-JP" altLang="en-US" sz="1200" dirty="0">
                          <a:solidFill>
                            <a:schemeClr val="tx1"/>
                          </a:solidFill>
                        </a:rPr>
                        <a:t>更新後、非課税口座開設が見込開設のままの場合、事務失効として非課税口座関連のマスタ情報を非課税口座未開設の状態に戻し、紐づく</a:t>
                      </a:r>
                      <a:r>
                        <a:rPr kumimoji="1" lang="en-US" altLang="ja-JP" sz="1200" dirty="0">
                          <a:solidFill>
                            <a:schemeClr val="tx1"/>
                          </a:solidFill>
                        </a:rPr>
                        <a:t>NISA</a:t>
                      </a:r>
                      <a:r>
                        <a:rPr kumimoji="1" lang="ja-JP" altLang="en-US" sz="1200" dirty="0">
                          <a:solidFill>
                            <a:schemeClr val="tx1"/>
                          </a:solidFill>
                        </a:rPr>
                        <a:t>先日付注文の取り消しを行う</a:t>
                      </a:r>
                      <a:endParaRPr kumimoji="1" lang="en-US" altLang="ja-JP" sz="1200" dirty="0">
                        <a:solidFill>
                          <a:schemeClr val="tx1"/>
                        </a:solidFill>
                      </a:endParaRPr>
                    </a:p>
                  </a:txBody>
                  <a:tcPr/>
                </a:tc>
                <a:tc>
                  <a:txBody>
                    <a:bodyPr/>
                    <a:lstStyle/>
                    <a:p>
                      <a:r>
                        <a:rPr kumimoji="1" lang="en-US" altLang="ja-JP" sz="1200" dirty="0">
                          <a:solidFill>
                            <a:schemeClr val="tx1"/>
                          </a:solidFill>
                        </a:rPr>
                        <a:t>3</a:t>
                      </a:r>
                      <a:endParaRPr kumimoji="1" lang="ja-JP" altLang="en-US" sz="1200" dirty="0">
                        <a:solidFill>
                          <a:schemeClr val="tx1"/>
                        </a:solidFill>
                      </a:endParaRPr>
                    </a:p>
                  </a:txBody>
                  <a:tcPr/>
                </a:tc>
                <a:extLst>
                  <a:ext uri="{0D108BD9-81ED-4DB2-BD59-A6C34878D82A}">
                    <a16:rowId xmlns:a16="http://schemas.microsoft.com/office/drawing/2014/main" val="3238628889"/>
                  </a:ext>
                </a:extLst>
              </a:tr>
              <a:tr h="448050">
                <a:tc>
                  <a:txBody>
                    <a:bodyPr/>
                    <a:lstStyle/>
                    <a:p>
                      <a:r>
                        <a:rPr kumimoji="1" lang="en-US" altLang="ja-JP" sz="1200" dirty="0">
                          <a:solidFill>
                            <a:schemeClr val="tx1"/>
                          </a:solidFill>
                        </a:rPr>
                        <a:t>7</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営業店検印一覧</a:t>
                      </a:r>
                      <a:endParaRPr kumimoji="1" lang="en-US" altLang="ja-JP" sz="1200" dirty="0">
                        <a:solidFill>
                          <a:schemeClr val="tx1"/>
                        </a:solidFill>
                      </a:endParaRPr>
                    </a:p>
                    <a:p>
                      <a:r>
                        <a:rPr kumimoji="1" lang="ja-JP" altLang="en-US" sz="1200" dirty="0">
                          <a:solidFill>
                            <a:schemeClr val="tx1"/>
                          </a:solidFill>
                        </a:rPr>
                        <a:t>本部検印一覧</a:t>
                      </a:r>
                    </a:p>
                  </a:txBody>
                  <a:tcPr/>
                </a:tc>
                <a:tc>
                  <a:txBody>
                    <a:bodyPr/>
                    <a:lstStyle/>
                    <a:p>
                      <a:r>
                        <a:rPr kumimoji="1" lang="ja-JP" altLang="en-US" sz="1200" dirty="0">
                          <a:solidFill>
                            <a:schemeClr val="tx1"/>
                          </a:solidFill>
                        </a:rPr>
                        <a:t>非課税口座開設が却下された場合、非課税口座関連のマスタ情報を非課税口座未開設の状態に戻す</a:t>
                      </a:r>
                    </a:p>
                  </a:txBody>
                  <a:tcPr/>
                </a:tc>
                <a:tc>
                  <a:txBody>
                    <a:bodyPr/>
                    <a:lstStyle/>
                    <a:p>
                      <a:r>
                        <a:rPr kumimoji="1" lang="en-US" altLang="ja-JP" sz="1200" dirty="0">
                          <a:solidFill>
                            <a:schemeClr val="tx1"/>
                          </a:solidFill>
                        </a:rPr>
                        <a:t>4</a:t>
                      </a:r>
                      <a:endParaRPr kumimoji="1" lang="ja-JP" altLang="en-US" sz="1200" dirty="0">
                        <a:solidFill>
                          <a:schemeClr val="tx1"/>
                        </a:solidFill>
                      </a:endParaRPr>
                    </a:p>
                  </a:txBody>
                  <a:tcPr/>
                </a:tc>
                <a:extLst>
                  <a:ext uri="{0D108BD9-81ED-4DB2-BD59-A6C34878D82A}">
                    <a16:rowId xmlns:a16="http://schemas.microsoft.com/office/drawing/2014/main" val="1669330432"/>
                  </a:ext>
                </a:extLst>
              </a:tr>
            </a:tbl>
          </a:graphicData>
        </a:graphic>
      </p:graphicFrame>
    </p:spTree>
    <p:extLst>
      <p:ext uri="{BB962C8B-B14F-4D97-AF65-F5344CB8AC3E}">
        <p14:creationId xmlns:p14="http://schemas.microsoft.com/office/powerpoint/2010/main" val="804410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2C33F-9EB0-514A-6B80-D7DB89230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32AF62-6499-3EAD-4746-76E06200524A}"/>
              </a:ext>
            </a:extLst>
          </p:cNvPr>
          <p:cNvSpPr>
            <a:spLocks noGrp="1"/>
          </p:cNvSpPr>
          <p:nvPr>
            <p:ph type="title"/>
          </p:nvPr>
        </p:nvSpPr>
        <p:spPr/>
        <p:txBody>
          <a:bodyPr/>
          <a:lstStyle/>
          <a:p>
            <a:r>
              <a:rPr kumimoji="1" lang="ja-JP" altLang="en-US" dirty="0"/>
              <a:t>２．システム機能概要</a:t>
            </a:r>
          </a:p>
        </p:txBody>
      </p:sp>
      <p:graphicFrame>
        <p:nvGraphicFramePr>
          <p:cNvPr id="3" name="表 2">
            <a:extLst>
              <a:ext uri="{FF2B5EF4-FFF2-40B4-BE49-F238E27FC236}">
                <a16:creationId xmlns:a16="http://schemas.microsoft.com/office/drawing/2014/main" id="{9865D0EA-BDE1-B4D2-E734-5F4B07B2FFE2}"/>
              </a:ext>
            </a:extLst>
          </p:cNvPr>
          <p:cNvGraphicFramePr>
            <a:graphicFrameLocks noGrp="1"/>
          </p:cNvGraphicFramePr>
          <p:nvPr>
            <p:extLst>
              <p:ext uri="{D42A27DB-BD31-4B8C-83A1-F6EECF244321}">
                <p14:modId xmlns:p14="http://schemas.microsoft.com/office/powerpoint/2010/main" val="3099005110"/>
              </p:ext>
            </p:extLst>
          </p:nvPr>
        </p:nvGraphicFramePr>
        <p:xfrm>
          <a:off x="307976" y="692696"/>
          <a:ext cx="9183687" cy="2011680"/>
        </p:xfrm>
        <a:graphic>
          <a:graphicData uri="http://schemas.openxmlformats.org/drawingml/2006/table">
            <a:tbl>
              <a:tblPr firstRow="1" bandRow="1">
                <a:tableStyleId>{93296810-A885-4BE3-A3E7-6D5BEEA58F35}</a:tableStyleId>
              </a:tblPr>
              <a:tblGrid>
                <a:gridCol w="412981">
                  <a:extLst>
                    <a:ext uri="{9D8B030D-6E8A-4147-A177-3AD203B41FA5}">
                      <a16:colId xmlns:a16="http://schemas.microsoft.com/office/drawing/2014/main" val="1777742977"/>
                    </a:ext>
                  </a:extLst>
                </a:gridCol>
                <a:gridCol w="550142">
                  <a:extLst>
                    <a:ext uri="{9D8B030D-6E8A-4147-A177-3AD203B41FA5}">
                      <a16:colId xmlns:a16="http://schemas.microsoft.com/office/drawing/2014/main" val="3295760834"/>
                    </a:ext>
                  </a:extLst>
                </a:gridCol>
                <a:gridCol w="577874">
                  <a:extLst>
                    <a:ext uri="{9D8B030D-6E8A-4147-A177-3AD203B41FA5}">
                      <a16:colId xmlns:a16="http://schemas.microsoft.com/office/drawing/2014/main" val="81306546"/>
                    </a:ext>
                  </a:extLst>
                </a:gridCol>
                <a:gridCol w="809464">
                  <a:extLst>
                    <a:ext uri="{9D8B030D-6E8A-4147-A177-3AD203B41FA5}">
                      <a16:colId xmlns:a16="http://schemas.microsoft.com/office/drawing/2014/main" val="2996124008"/>
                    </a:ext>
                  </a:extLst>
                </a:gridCol>
                <a:gridCol w="1469038">
                  <a:extLst>
                    <a:ext uri="{9D8B030D-6E8A-4147-A177-3AD203B41FA5}">
                      <a16:colId xmlns:a16="http://schemas.microsoft.com/office/drawing/2014/main" val="2154433068"/>
                    </a:ext>
                  </a:extLst>
                </a:gridCol>
                <a:gridCol w="4527559">
                  <a:extLst>
                    <a:ext uri="{9D8B030D-6E8A-4147-A177-3AD203B41FA5}">
                      <a16:colId xmlns:a16="http://schemas.microsoft.com/office/drawing/2014/main" val="3092326056"/>
                    </a:ext>
                  </a:extLst>
                </a:gridCol>
                <a:gridCol w="836629">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a:t>
                      </a:r>
                      <a:endParaRPr kumimoji="1" lang="en-US" altLang="ja-JP" sz="1200" dirty="0"/>
                    </a:p>
                    <a:p>
                      <a:r>
                        <a:rPr kumimoji="1" lang="ja-JP" altLang="en-US" sz="1200" dirty="0"/>
                        <a:t>テム</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オン</a:t>
                      </a:r>
                      <a:r>
                        <a:rPr kumimoji="1" lang="en-US" altLang="ja-JP" sz="1200" dirty="0"/>
                        <a:t>/</a:t>
                      </a:r>
                      <a:r>
                        <a:rPr kumimoji="1" lang="ja-JP" altLang="en-US" sz="1200" dirty="0"/>
                        <a:t>バッチ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新規</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変更</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廃止</a:t>
                      </a:r>
                    </a:p>
                  </a:txBody>
                  <a:tcPr/>
                </a:tc>
                <a:tc>
                  <a:txBody>
                    <a:bodyPr/>
                    <a:lstStyle/>
                    <a:p>
                      <a:r>
                        <a:rPr kumimoji="1" lang="ja-JP" altLang="en-US" sz="1200" dirty="0"/>
                        <a:t>機能名</a:t>
                      </a:r>
                    </a:p>
                  </a:txBody>
                  <a:tcPr/>
                </a:tc>
                <a:tc>
                  <a:txBody>
                    <a:bodyPr/>
                    <a:lstStyle/>
                    <a:p>
                      <a:r>
                        <a:rPr kumimoji="1" lang="ja-JP" altLang="en-US" sz="1200" dirty="0"/>
                        <a:t>機能概要</a:t>
                      </a:r>
                    </a:p>
                  </a:txBody>
                  <a:tcPr/>
                </a:tc>
                <a:tc>
                  <a:txBody>
                    <a:bodyPr/>
                    <a:lstStyle/>
                    <a:p>
                      <a:r>
                        <a:rPr kumimoji="1" lang="ja-JP" altLang="en-US" sz="1200" dirty="0"/>
                        <a:t>該当要件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solidFill>
                            <a:schemeClr val="tx1"/>
                          </a:solidFill>
                        </a:rPr>
                        <a:t>8</a:t>
                      </a:r>
                      <a:endParaRPr kumimoji="1" lang="ja-JP" altLang="en-US" sz="1200" dirty="0">
                        <a:solidFill>
                          <a:schemeClr val="tx1"/>
                        </a:solidFill>
                      </a:endParaRPr>
                    </a:p>
                  </a:txBody>
                  <a:tcPr/>
                </a:tc>
                <a:tc>
                  <a:txBody>
                    <a:bodyPr/>
                    <a:lstStyle/>
                    <a:p>
                      <a:r>
                        <a:rPr kumimoji="1" lang="en-US" altLang="ja-JP" sz="1200" dirty="0">
                          <a:solidFill>
                            <a:schemeClr val="tx1"/>
                          </a:solidFill>
                        </a:rPr>
                        <a:t>FF</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zh-CN" altLang="en-US" sz="1200" dirty="0">
                          <a:solidFill>
                            <a:schemeClr val="tx1"/>
                          </a:solidFill>
                        </a:rPr>
                        <a:t>注文状況照会</a:t>
                      </a:r>
                      <a:endParaRPr kumimoji="1" lang="ja-JP" altLang="en-US" sz="1200" dirty="0">
                        <a:solidFill>
                          <a:schemeClr val="tx1"/>
                        </a:solidFill>
                      </a:endParaRPr>
                    </a:p>
                  </a:txBody>
                  <a:tcPr/>
                </a:tc>
                <a:tc>
                  <a:txBody>
                    <a:bodyPr/>
                    <a:lstStyle/>
                    <a:p>
                      <a:r>
                        <a:rPr kumimoji="1" lang="ja-JP" altLang="en-US" sz="1200" dirty="0">
                          <a:solidFill>
                            <a:schemeClr val="tx1"/>
                          </a:solidFill>
                        </a:rPr>
                        <a:t>取引状況に「失効」、取消受付日時に「ー」と表示し、事務失効により取消された</a:t>
                      </a:r>
                      <a:r>
                        <a:rPr kumimoji="1" lang="en-US" altLang="ja-JP" sz="1200" dirty="0">
                          <a:solidFill>
                            <a:schemeClr val="tx1"/>
                          </a:solidFill>
                        </a:rPr>
                        <a:t>NISA</a:t>
                      </a:r>
                      <a:r>
                        <a:rPr kumimoji="1" lang="ja-JP" altLang="en-US" sz="1200" dirty="0">
                          <a:solidFill>
                            <a:schemeClr val="tx1"/>
                          </a:solidFill>
                        </a:rPr>
                        <a:t>先日付注文とわかるようにする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endParaRPr kumimoji="1" lang="ja-JP" altLang="en-US" sz="1200" dirty="0">
                        <a:solidFill>
                          <a:schemeClr val="tx1"/>
                        </a:solidFill>
                      </a:endParaRPr>
                    </a:p>
                  </a:txBody>
                  <a:tcPr/>
                </a:tc>
                <a:extLst>
                  <a:ext uri="{0D108BD9-81ED-4DB2-BD59-A6C34878D82A}">
                    <a16:rowId xmlns:a16="http://schemas.microsoft.com/office/drawing/2014/main" val="574149731"/>
                  </a:ext>
                </a:extLst>
              </a:tr>
              <a:tr h="448050">
                <a:tc>
                  <a:txBody>
                    <a:bodyPr/>
                    <a:lstStyle/>
                    <a:p>
                      <a:r>
                        <a:rPr kumimoji="1" lang="en-US" altLang="ja-JP" sz="1200" dirty="0">
                          <a:solidFill>
                            <a:schemeClr val="tx1"/>
                          </a:solidFill>
                        </a:rPr>
                        <a:t>9</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zh-TW" altLang="en-US" sz="1200" dirty="0">
                          <a:solidFill>
                            <a:schemeClr val="tx1"/>
                          </a:solidFill>
                        </a:rPr>
                        <a:t>証券口座選択</a:t>
                      </a:r>
                      <a:endParaRPr kumimoji="1" lang="ja-JP" altLang="en-US" sz="1200" dirty="0">
                        <a:solidFill>
                          <a:schemeClr val="tx1"/>
                        </a:solidFill>
                      </a:endParaRPr>
                    </a:p>
                  </a:txBody>
                  <a:tcPr/>
                </a:tc>
                <a:tc>
                  <a:txBody>
                    <a:bodyPr/>
                    <a:lstStyle/>
                    <a:p>
                      <a:r>
                        <a:rPr kumimoji="1" lang="ja-JP" altLang="en-US" sz="1200" dirty="0">
                          <a:solidFill>
                            <a:schemeClr val="tx1"/>
                          </a:solidFill>
                        </a:rPr>
                        <a:t>取引状況に「失効」と表示し、事務失効により取消された</a:t>
                      </a:r>
                      <a:r>
                        <a:rPr kumimoji="1" lang="en-US" altLang="ja-JP" sz="1200" dirty="0">
                          <a:solidFill>
                            <a:schemeClr val="tx1"/>
                          </a:solidFill>
                        </a:rPr>
                        <a:t>NISA</a:t>
                      </a:r>
                      <a:r>
                        <a:rPr kumimoji="1" lang="ja-JP" altLang="en-US" sz="1200" dirty="0">
                          <a:solidFill>
                            <a:schemeClr val="tx1"/>
                          </a:solidFill>
                        </a:rPr>
                        <a:t>先日付注文とわかるようにする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p>
                  </a:txBody>
                  <a:tcPr/>
                </a:tc>
                <a:extLst>
                  <a:ext uri="{0D108BD9-81ED-4DB2-BD59-A6C34878D82A}">
                    <a16:rowId xmlns:a16="http://schemas.microsoft.com/office/drawing/2014/main" val="1433696575"/>
                  </a:ext>
                </a:extLst>
              </a:tr>
              <a:tr h="448050">
                <a:tc>
                  <a:txBody>
                    <a:bodyPr/>
                    <a:lstStyle/>
                    <a:p>
                      <a:r>
                        <a:rPr kumimoji="1" lang="en-US" altLang="ja-JP" sz="1200" dirty="0">
                          <a:solidFill>
                            <a:schemeClr val="tx1"/>
                          </a:solidFill>
                        </a:rPr>
                        <a:t>10</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オンライン</a:t>
                      </a:r>
                    </a:p>
                  </a:txBody>
                  <a:tcPr/>
                </a:tc>
                <a:tc>
                  <a:txBody>
                    <a:bodyPr/>
                    <a:lstStyle/>
                    <a:p>
                      <a:r>
                        <a:rPr kumimoji="1" lang="ja-JP" altLang="en-US" sz="1200" dirty="0">
                          <a:solidFill>
                            <a:schemeClr val="tx1"/>
                          </a:solidFill>
                        </a:rPr>
                        <a:t>変更</a:t>
                      </a:r>
                    </a:p>
                  </a:txBody>
                  <a:tcPr/>
                </a:tc>
                <a:tc>
                  <a:txBody>
                    <a:bodyPr/>
                    <a:lstStyle/>
                    <a:p>
                      <a:r>
                        <a:rPr kumimoji="1" lang="zh-TW" altLang="en-US" sz="1200" dirty="0">
                          <a:solidFill>
                            <a:schemeClr val="tx1"/>
                          </a:solidFill>
                        </a:rPr>
                        <a:t>投信伝票確認</a:t>
                      </a:r>
                      <a:endParaRPr kumimoji="1" lang="ja-JP" altLang="en-US" sz="1200" dirty="0">
                        <a:solidFill>
                          <a:schemeClr val="tx1"/>
                        </a:solidFill>
                      </a:endParaRPr>
                    </a:p>
                  </a:txBody>
                  <a:tcPr/>
                </a:tc>
                <a:tc>
                  <a:txBody>
                    <a:bodyPr/>
                    <a:lstStyle/>
                    <a:p>
                      <a:r>
                        <a:rPr kumimoji="1" lang="ja-JP" altLang="en-US" sz="1200" dirty="0">
                          <a:solidFill>
                            <a:schemeClr val="tx1"/>
                          </a:solidFill>
                        </a:rPr>
                        <a:t>取引状況に「失効」と表示し、事務失効により取消された</a:t>
                      </a:r>
                      <a:r>
                        <a:rPr kumimoji="1" lang="en-US" altLang="ja-JP" sz="1200" dirty="0">
                          <a:solidFill>
                            <a:schemeClr val="tx1"/>
                          </a:solidFill>
                        </a:rPr>
                        <a:t>NISA</a:t>
                      </a:r>
                      <a:r>
                        <a:rPr kumimoji="1" lang="ja-JP" altLang="en-US" sz="1200" dirty="0">
                          <a:solidFill>
                            <a:schemeClr val="tx1"/>
                          </a:solidFill>
                        </a:rPr>
                        <a:t>先日付注文とわかるようにする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p>
                  </a:txBody>
                  <a:tcPr/>
                </a:tc>
                <a:extLst>
                  <a:ext uri="{0D108BD9-81ED-4DB2-BD59-A6C34878D82A}">
                    <a16:rowId xmlns:a16="http://schemas.microsoft.com/office/drawing/2014/main" val="1654929577"/>
                  </a:ext>
                </a:extLst>
              </a:tr>
            </a:tbl>
          </a:graphicData>
        </a:graphic>
      </p:graphicFrame>
    </p:spTree>
    <p:extLst>
      <p:ext uri="{BB962C8B-B14F-4D97-AF65-F5344CB8AC3E}">
        <p14:creationId xmlns:p14="http://schemas.microsoft.com/office/powerpoint/2010/main" val="4163242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EC61C-BDBB-9B12-6926-997DC96C55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3A7207-7956-5E86-0FAA-6F6ADD598810}"/>
              </a:ext>
            </a:extLst>
          </p:cNvPr>
          <p:cNvSpPr>
            <a:spLocks noGrp="1"/>
          </p:cNvSpPr>
          <p:nvPr>
            <p:ph type="title"/>
          </p:nvPr>
        </p:nvSpPr>
        <p:spPr/>
        <p:txBody>
          <a:bodyPr/>
          <a:lstStyle/>
          <a:p>
            <a:r>
              <a:rPr kumimoji="1" lang="ja-JP" altLang="en-US" dirty="0"/>
              <a:t>２．システム機能概要</a:t>
            </a:r>
          </a:p>
        </p:txBody>
      </p:sp>
      <p:sp>
        <p:nvSpPr>
          <p:cNvPr id="4" name="Text Box 16">
            <a:extLst>
              <a:ext uri="{FF2B5EF4-FFF2-40B4-BE49-F238E27FC236}">
                <a16:creationId xmlns:a16="http://schemas.microsoft.com/office/drawing/2014/main" id="{5A7B7BCF-F5C6-0AA1-957C-07E5123329FC}"/>
              </a:ext>
            </a:extLst>
          </p:cNvPr>
          <p:cNvSpPr txBox="1">
            <a:spLocks noChangeArrowheads="1"/>
          </p:cNvSpPr>
          <p:nvPr/>
        </p:nvSpPr>
        <p:spPr bwMode="auto">
          <a:xfrm>
            <a:off x="56456" y="692696"/>
            <a:ext cx="9645650" cy="93326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＜システムフロー＞</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1</a:t>
            </a:r>
            <a:r>
              <a:rPr lang="ja-JP" altLang="en-US" sz="1100" b="0" dirty="0">
                <a:solidFill>
                  <a:srgbClr val="000000"/>
                </a:solidFill>
                <a:latin typeface="ＭＳ ゴシック" panose="020B0609070205080204" pitchFamily="49" charset="-128"/>
                <a:ea typeface="ＭＳ ゴシック" panose="020B0609070205080204" pitchFamily="49" charset="-128"/>
              </a:rPr>
              <a:t>）システムの流れを図示する。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2</a:t>
            </a:r>
            <a:r>
              <a:rPr lang="ja-JP" altLang="en-US" sz="1100" b="0" dirty="0">
                <a:solidFill>
                  <a:srgbClr val="000000"/>
                </a:solidFill>
                <a:latin typeface="ＭＳ ゴシック" panose="020B0609070205080204" pitchFamily="49" charset="-128"/>
                <a:ea typeface="ＭＳ ゴシック" panose="020B0609070205080204" pitchFamily="49" charset="-128"/>
              </a:rPr>
              <a:t>）スタートからエンドまでを記述する。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3</a:t>
            </a:r>
            <a:r>
              <a:rPr lang="ja-JP" altLang="en-US" sz="1100" b="0" dirty="0">
                <a:solidFill>
                  <a:srgbClr val="000000"/>
                </a:solidFill>
                <a:latin typeface="ＭＳ ゴシック" panose="020B0609070205080204" pitchFamily="49" charset="-128"/>
                <a:ea typeface="ＭＳ ゴシック" panose="020B0609070205080204" pitchFamily="49" charset="-128"/>
              </a:rPr>
              <a:t>）処理の大まかな流れを記載し、対応イメージが持てるようにすることを意識する。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pic>
        <p:nvPicPr>
          <p:cNvPr id="5" name="Picture 33" descr="MCj04339420000[1]">
            <a:extLst>
              <a:ext uri="{FF2B5EF4-FFF2-40B4-BE49-F238E27FC236}">
                <a16:creationId xmlns:a16="http://schemas.microsoft.com/office/drawing/2014/main" id="{DE2D1A72-D4AB-C328-469E-2C022B5402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584" y="2204864"/>
            <a:ext cx="520673" cy="52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グループ化 5">
            <a:extLst>
              <a:ext uri="{FF2B5EF4-FFF2-40B4-BE49-F238E27FC236}">
                <a16:creationId xmlns:a16="http://schemas.microsoft.com/office/drawing/2014/main" id="{6BFCDE8C-B8F9-D0E0-AE5A-CF93F81EA9D1}"/>
              </a:ext>
            </a:extLst>
          </p:cNvPr>
          <p:cNvGrpSpPr/>
          <p:nvPr/>
        </p:nvGrpSpPr>
        <p:grpSpPr>
          <a:xfrm>
            <a:off x="2415919" y="2208969"/>
            <a:ext cx="792088" cy="528065"/>
            <a:chOff x="1424608" y="1289201"/>
            <a:chExt cx="792088" cy="528065"/>
          </a:xfrm>
          <a:solidFill>
            <a:schemeClr val="accent3">
              <a:lumMod val="20000"/>
              <a:lumOff val="80000"/>
            </a:schemeClr>
          </a:solidFill>
        </p:grpSpPr>
        <p:sp>
          <p:nvSpPr>
            <p:cNvPr id="8" name="正方形/長方形 7">
              <a:extLst>
                <a:ext uri="{FF2B5EF4-FFF2-40B4-BE49-F238E27FC236}">
                  <a16:creationId xmlns:a16="http://schemas.microsoft.com/office/drawing/2014/main" id="{F9BB2F4C-658B-8F4F-5D2B-96DFB3AACFF3}"/>
                </a:ext>
              </a:extLst>
            </p:cNvPr>
            <p:cNvSpPr/>
            <p:nvPr/>
          </p:nvSpPr>
          <p:spPr bwMode="auto">
            <a:xfrm>
              <a:off x="1424608" y="1289201"/>
              <a:ext cx="792088" cy="528065"/>
            </a:xfrm>
            <a:prstGeom prst="rect">
              <a:avLst/>
            </a:prstGeom>
            <a:grpFill/>
            <a:ln w="9525" algn="ctr">
              <a:solidFill>
                <a:schemeClr val="tx1"/>
              </a:solidFill>
              <a:round/>
              <a:headEnd type="oval"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t" anchorCtr="0" forceAA="0" compatLnSpc="1">
              <a:prstTxWarp prst="textNoShape">
                <a:avLst/>
              </a:prstTxWarp>
              <a:noAutofit/>
            </a:bodyPr>
            <a:lstStyle/>
            <a:p>
              <a:pPr algn="l">
                <a:lnSpc>
                  <a:spcPct val="100000"/>
                </a:lnSpc>
                <a:spcBef>
                  <a:spcPct val="20000"/>
                </a:spcBef>
              </a:pPr>
              <a:r>
                <a:rPr kumimoji="1" lang="ja-JP" altLang="en-US" sz="800" dirty="0">
                  <a:solidFill>
                    <a:schemeClr val="tx1"/>
                  </a:solidFill>
                  <a:latin typeface="Verdana" panose="020B0604030504040204" pitchFamily="34" charset="0"/>
                  <a:ea typeface="Meiryo UI" pitchFamily="50" charset="-128"/>
                  <a:cs typeface="Meiryo UI" pitchFamily="50" charset="-128"/>
                </a:rPr>
                <a:t>非課税口座開設</a:t>
              </a:r>
            </a:p>
          </p:txBody>
        </p:sp>
        <p:sp>
          <p:nvSpPr>
            <p:cNvPr id="9" name="正方形/長方形 8">
              <a:extLst>
                <a:ext uri="{FF2B5EF4-FFF2-40B4-BE49-F238E27FC236}">
                  <a16:creationId xmlns:a16="http://schemas.microsoft.com/office/drawing/2014/main" id="{EDC03FF2-A964-5BA3-4816-DE99A3AB6F2F}"/>
                </a:ext>
              </a:extLst>
            </p:cNvPr>
            <p:cNvSpPr/>
            <p:nvPr/>
          </p:nvSpPr>
          <p:spPr bwMode="auto">
            <a:xfrm>
              <a:off x="1549576" y="1501635"/>
              <a:ext cx="544282" cy="72641"/>
            </a:xfrm>
            <a:prstGeom prst="rect">
              <a:avLst/>
            </a:prstGeom>
            <a:solidFill>
              <a:schemeClr val="bg1"/>
            </a:solidFill>
            <a:ln w="9525" algn="ctr">
              <a:solidFill>
                <a:schemeClr val="tx1"/>
              </a:solidFill>
              <a:round/>
              <a:headEnd type="oval"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endParaRPr kumimoji="1" lang="ja-JP" altLang="en-US" sz="1200" dirty="0">
                <a:solidFill>
                  <a:schemeClr val="tx1"/>
                </a:solidFill>
                <a:latin typeface="Verdana" panose="020B0604030504040204" pitchFamily="34" charset="0"/>
                <a:ea typeface="Meiryo UI" pitchFamily="50" charset="-128"/>
                <a:cs typeface="Meiryo UI" pitchFamily="50" charset="-128"/>
              </a:endParaRPr>
            </a:p>
          </p:txBody>
        </p:sp>
        <p:sp>
          <p:nvSpPr>
            <p:cNvPr id="10" name="正方形/長方形 9">
              <a:extLst>
                <a:ext uri="{FF2B5EF4-FFF2-40B4-BE49-F238E27FC236}">
                  <a16:creationId xmlns:a16="http://schemas.microsoft.com/office/drawing/2014/main" id="{33F1F2EB-9E5D-B2AA-3F4F-8772ED461D36}"/>
                </a:ext>
              </a:extLst>
            </p:cNvPr>
            <p:cNvSpPr/>
            <p:nvPr/>
          </p:nvSpPr>
          <p:spPr bwMode="auto">
            <a:xfrm>
              <a:off x="1549576" y="1672870"/>
              <a:ext cx="544282" cy="72641"/>
            </a:xfrm>
            <a:prstGeom prst="rect">
              <a:avLst/>
            </a:prstGeom>
            <a:solidFill>
              <a:schemeClr val="bg1"/>
            </a:solidFill>
            <a:ln w="9525" algn="ctr">
              <a:solidFill>
                <a:schemeClr val="tx1"/>
              </a:solidFill>
              <a:round/>
              <a:headEnd type="oval"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endParaRPr kumimoji="1" lang="ja-JP" altLang="en-US" sz="1200" dirty="0">
                <a:solidFill>
                  <a:schemeClr val="tx1"/>
                </a:solidFill>
                <a:latin typeface="Verdana" panose="020B0604030504040204" pitchFamily="34" charset="0"/>
                <a:ea typeface="Meiryo UI" pitchFamily="50" charset="-128"/>
                <a:cs typeface="Meiryo UI" pitchFamily="50" charset="-128"/>
              </a:endParaRPr>
            </a:p>
          </p:txBody>
        </p:sp>
      </p:grpSp>
      <p:grpSp>
        <p:nvGrpSpPr>
          <p:cNvPr id="88" name="グループ化 87">
            <a:extLst>
              <a:ext uri="{FF2B5EF4-FFF2-40B4-BE49-F238E27FC236}">
                <a16:creationId xmlns:a16="http://schemas.microsoft.com/office/drawing/2014/main" id="{E7C4B5C1-1229-28BF-DB3D-70BC2406B7DD}"/>
              </a:ext>
            </a:extLst>
          </p:cNvPr>
          <p:cNvGrpSpPr/>
          <p:nvPr/>
        </p:nvGrpSpPr>
        <p:grpSpPr>
          <a:xfrm>
            <a:off x="4042133" y="2208969"/>
            <a:ext cx="792088" cy="528065"/>
            <a:chOff x="1424608" y="1289201"/>
            <a:chExt cx="792088" cy="528065"/>
          </a:xfrm>
          <a:solidFill>
            <a:schemeClr val="accent3">
              <a:lumMod val="20000"/>
              <a:lumOff val="80000"/>
            </a:schemeClr>
          </a:solidFill>
        </p:grpSpPr>
        <p:sp>
          <p:nvSpPr>
            <p:cNvPr id="89" name="正方形/長方形 88">
              <a:extLst>
                <a:ext uri="{FF2B5EF4-FFF2-40B4-BE49-F238E27FC236}">
                  <a16:creationId xmlns:a16="http://schemas.microsoft.com/office/drawing/2014/main" id="{2A0C43A6-4586-AE35-C9F3-0686017CB1E2}"/>
                </a:ext>
              </a:extLst>
            </p:cNvPr>
            <p:cNvSpPr/>
            <p:nvPr/>
          </p:nvSpPr>
          <p:spPr bwMode="auto">
            <a:xfrm>
              <a:off x="1424608" y="1289201"/>
              <a:ext cx="792088" cy="528065"/>
            </a:xfrm>
            <a:prstGeom prst="rect">
              <a:avLst/>
            </a:prstGeom>
            <a:grpFill/>
            <a:ln w="9525" algn="ctr">
              <a:solidFill>
                <a:schemeClr val="tx1"/>
              </a:solidFill>
              <a:round/>
              <a:headEnd type="oval"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t" anchorCtr="0" forceAA="0" compatLnSpc="1">
              <a:prstTxWarp prst="textNoShape">
                <a:avLst/>
              </a:prstTxWarp>
              <a:noAutofit/>
            </a:bodyPr>
            <a:lstStyle/>
            <a:p>
              <a:pPr algn="ctr">
                <a:lnSpc>
                  <a:spcPct val="100000"/>
                </a:lnSpc>
                <a:spcBef>
                  <a:spcPct val="20000"/>
                </a:spcBef>
              </a:pPr>
              <a:r>
                <a:rPr kumimoji="1" lang="ja-JP" altLang="en-US" sz="800" dirty="0">
                  <a:solidFill>
                    <a:schemeClr val="tx1"/>
                  </a:solidFill>
                  <a:latin typeface="Verdana" panose="020B0604030504040204" pitchFamily="34" charset="0"/>
                  <a:ea typeface="Meiryo UI" pitchFamily="50" charset="-128"/>
                  <a:cs typeface="Meiryo UI" pitchFamily="50" charset="-128"/>
                </a:rPr>
                <a:t>応募、購入、</a:t>
              </a:r>
              <a:endParaRPr kumimoji="1" lang="en-US" altLang="ja-JP" sz="800" dirty="0">
                <a:solidFill>
                  <a:schemeClr val="tx1"/>
                </a:solidFill>
                <a:latin typeface="Verdana" panose="020B0604030504040204" pitchFamily="34" charset="0"/>
                <a:ea typeface="Meiryo UI" pitchFamily="50" charset="-128"/>
                <a:cs typeface="Meiryo UI" pitchFamily="50" charset="-128"/>
              </a:endParaRPr>
            </a:p>
            <a:p>
              <a:pPr algn="ctr">
                <a:lnSpc>
                  <a:spcPct val="100000"/>
                </a:lnSpc>
                <a:spcBef>
                  <a:spcPct val="20000"/>
                </a:spcBef>
              </a:pPr>
              <a:r>
                <a:rPr kumimoji="1" lang="ja-JP" altLang="en-US" sz="800" dirty="0">
                  <a:solidFill>
                    <a:schemeClr val="tx1"/>
                  </a:solidFill>
                  <a:latin typeface="Verdana" panose="020B0604030504040204" pitchFamily="34" charset="0"/>
                  <a:ea typeface="Meiryo UI" pitchFamily="50" charset="-128"/>
                  <a:cs typeface="Meiryo UI" pitchFamily="50" charset="-128"/>
                </a:rPr>
                <a:t>定時定額</a:t>
              </a:r>
            </a:p>
          </p:txBody>
        </p:sp>
        <p:sp>
          <p:nvSpPr>
            <p:cNvPr id="91" name="正方形/長方形 90">
              <a:extLst>
                <a:ext uri="{FF2B5EF4-FFF2-40B4-BE49-F238E27FC236}">
                  <a16:creationId xmlns:a16="http://schemas.microsoft.com/office/drawing/2014/main" id="{BC457D14-64D5-11D9-A8C0-5FA35B8B5DC4}"/>
                </a:ext>
              </a:extLst>
            </p:cNvPr>
            <p:cNvSpPr/>
            <p:nvPr/>
          </p:nvSpPr>
          <p:spPr bwMode="auto">
            <a:xfrm>
              <a:off x="1549576" y="1672870"/>
              <a:ext cx="544282" cy="72641"/>
            </a:xfrm>
            <a:prstGeom prst="rect">
              <a:avLst/>
            </a:prstGeom>
            <a:solidFill>
              <a:schemeClr val="bg1"/>
            </a:solidFill>
            <a:ln w="9525" algn="ctr">
              <a:solidFill>
                <a:schemeClr val="tx1"/>
              </a:solidFill>
              <a:round/>
              <a:headEnd type="oval"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endParaRPr kumimoji="1" lang="ja-JP" altLang="en-US" sz="1200" dirty="0">
                <a:solidFill>
                  <a:schemeClr val="tx1"/>
                </a:solidFill>
                <a:latin typeface="Verdana" panose="020B0604030504040204" pitchFamily="34" charset="0"/>
                <a:ea typeface="Meiryo UI" pitchFamily="50" charset="-128"/>
                <a:cs typeface="Meiryo UI" pitchFamily="50" charset="-128"/>
              </a:endParaRPr>
            </a:p>
          </p:txBody>
        </p:sp>
      </p:grpSp>
      <p:sp>
        <p:nvSpPr>
          <p:cNvPr id="7" name="四角形: 角を丸くする 6">
            <a:extLst>
              <a:ext uri="{FF2B5EF4-FFF2-40B4-BE49-F238E27FC236}">
                <a16:creationId xmlns:a16="http://schemas.microsoft.com/office/drawing/2014/main" id="{935BFCA1-E17E-73F1-0EE3-40FBF26F6FD4}"/>
              </a:ext>
            </a:extLst>
          </p:cNvPr>
          <p:cNvSpPr/>
          <p:nvPr/>
        </p:nvSpPr>
        <p:spPr bwMode="auto">
          <a:xfrm>
            <a:off x="4193899" y="2852936"/>
            <a:ext cx="615085" cy="146127"/>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lang="ja-JP" altLang="en-US" sz="800" dirty="0">
                <a:solidFill>
                  <a:srgbClr val="FF0000"/>
                </a:solidFill>
                <a:latin typeface="Verdana" panose="020B0604030504040204" pitchFamily="34" charset="0"/>
                <a:ea typeface="Meiryo UI" pitchFamily="50" charset="-128"/>
                <a:cs typeface="Meiryo UI" pitchFamily="50" charset="-128"/>
              </a:rPr>
              <a:t>非課税口座開設同日の</a:t>
            </a:r>
            <a:endParaRPr lang="en-US" altLang="ja-JP" sz="800" dirty="0">
              <a:solidFill>
                <a:srgbClr val="FF0000"/>
              </a:solidFill>
              <a:latin typeface="Verdana" panose="020B0604030504040204" pitchFamily="34" charset="0"/>
              <a:ea typeface="Meiryo UI" pitchFamily="50" charset="-128"/>
              <a:cs typeface="Meiryo UI" pitchFamily="50" charset="-128"/>
            </a:endParaRPr>
          </a:p>
          <a:p>
            <a:pPr algn="ctr">
              <a:lnSpc>
                <a:spcPct val="100000"/>
              </a:lnSpc>
              <a:spcBef>
                <a:spcPct val="20000"/>
              </a:spcBef>
            </a:pPr>
            <a:r>
              <a:rPr lang="en-US" altLang="ja-JP" sz="800" dirty="0">
                <a:solidFill>
                  <a:srgbClr val="FF0000"/>
                </a:solidFill>
                <a:latin typeface="Verdana" panose="020B0604030504040204" pitchFamily="34" charset="0"/>
                <a:ea typeface="Meiryo UI" pitchFamily="50" charset="-128"/>
                <a:cs typeface="Meiryo UI" pitchFamily="50" charset="-128"/>
              </a:rPr>
              <a:t>NISA</a:t>
            </a:r>
            <a:r>
              <a:rPr lang="ja-JP" altLang="en-US" sz="800" dirty="0">
                <a:solidFill>
                  <a:srgbClr val="FF0000"/>
                </a:solidFill>
                <a:latin typeface="Verdana" panose="020B0604030504040204" pitchFamily="34" charset="0"/>
                <a:ea typeface="Meiryo UI" pitchFamily="50" charset="-128"/>
                <a:cs typeface="Meiryo UI" pitchFamily="50" charset="-128"/>
              </a:rPr>
              <a:t>先日付注文を可能とする</a:t>
            </a:r>
            <a:endParaRPr kumimoji="1" lang="ja-JP" altLang="en-US" sz="800" dirty="0">
              <a:solidFill>
                <a:srgbClr val="FF0000"/>
              </a:solidFill>
              <a:latin typeface="Verdana" panose="020B0604030504040204" pitchFamily="34" charset="0"/>
              <a:ea typeface="Meiryo UI" pitchFamily="50" charset="-128"/>
              <a:cs typeface="Meiryo UI" pitchFamily="50" charset="-128"/>
            </a:endParaRPr>
          </a:p>
        </p:txBody>
      </p:sp>
      <p:cxnSp>
        <p:nvCxnSpPr>
          <p:cNvPr id="20" name="直線矢印コネクタ 19">
            <a:extLst>
              <a:ext uri="{FF2B5EF4-FFF2-40B4-BE49-F238E27FC236}">
                <a16:creationId xmlns:a16="http://schemas.microsoft.com/office/drawing/2014/main" id="{8FAE4AC5-7898-18AB-A792-C94F42A758FE}"/>
              </a:ext>
            </a:extLst>
          </p:cNvPr>
          <p:cNvCxnSpPr>
            <a:cxnSpLocks/>
            <a:stCxn id="8" idx="3"/>
            <a:endCxn id="89" idx="1"/>
          </p:cNvCxnSpPr>
          <p:nvPr/>
        </p:nvCxnSpPr>
        <p:spPr bwMode="auto">
          <a:xfrm>
            <a:off x="3208007" y="2473002"/>
            <a:ext cx="834126" cy="0"/>
          </a:xfrm>
          <a:prstGeom prst="straightConnector1">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四角形: 角を丸くする 25">
            <a:extLst>
              <a:ext uri="{FF2B5EF4-FFF2-40B4-BE49-F238E27FC236}">
                <a16:creationId xmlns:a16="http://schemas.microsoft.com/office/drawing/2014/main" id="{333684FD-22F1-141B-393C-2A37B77E3C40}"/>
              </a:ext>
            </a:extLst>
          </p:cNvPr>
          <p:cNvSpPr/>
          <p:nvPr/>
        </p:nvSpPr>
        <p:spPr bwMode="auto">
          <a:xfrm>
            <a:off x="3008784" y="4894703"/>
            <a:ext cx="1742162" cy="385620"/>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lang="ja-JP" altLang="en-US" sz="800" dirty="0">
                <a:solidFill>
                  <a:srgbClr val="FF0000"/>
                </a:solidFill>
                <a:latin typeface="Verdana" panose="020B0604030504040204" pitchFamily="34" charset="0"/>
                <a:ea typeface="Meiryo UI" pitchFamily="50" charset="-128"/>
                <a:cs typeface="Meiryo UI" pitchFamily="50" charset="-128"/>
              </a:rPr>
              <a:t>事務失効（</a:t>
            </a:r>
            <a:r>
              <a:rPr lang="en-US" altLang="ja-JP" sz="800" dirty="0">
                <a:solidFill>
                  <a:srgbClr val="FF0000"/>
                </a:solidFill>
                <a:latin typeface="Verdana" panose="020B0604030504040204" pitchFamily="34" charset="0"/>
                <a:ea typeface="Meiryo UI" pitchFamily="50" charset="-128"/>
                <a:cs typeface="Meiryo UI" pitchFamily="50" charset="-128"/>
              </a:rPr>
              <a:t>LISA</a:t>
            </a:r>
            <a:r>
              <a:rPr lang="ja-JP" altLang="en-US" sz="800" dirty="0">
                <a:solidFill>
                  <a:srgbClr val="FF0000"/>
                </a:solidFill>
                <a:latin typeface="Verdana" panose="020B0604030504040204" pitchFamily="34" charset="0"/>
                <a:ea typeface="Meiryo UI" pitchFamily="50" charset="-128"/>
                <a:cs typeface="Meiryo UI" pitchFamily="50" charset="-128"/>
              </a:rPr>
              <a:t>連携できなかった）場合、</a:t>
            </a:r>
            <a:endParaRPr lang="en-US" altLang="ja-JP" sz="800" dirty="0">
              <a:solidFill>
                <a:srgbClr val="FF0000"/>
              </a:solidFill>
              <a:latin typeface="Verdana" panose="020B0604030504040204" pitchFamily="34" charset="0"/>
              <a:ea typeface="Meiryo UI" pitchFamily="50" charset="-128"/>
              <a:cs typeface="Meiryo UI" pitchFamily="50" charset="-128"/>
            </a:endParaRPr>
          </a:p>
          <a:p>
            <a:pPr algn="ctr">
              <a:lnSpc>
                <a:spcPct val="100000"/>
              </a:lnSpc>
              <a:spcBef>
                <a:spcPct val="20000"/>
              </a:spcBef>
            </a:pPr>
            <a:r>
              <a:rPr kumimoji="1" lang="ja-JP" altLang="en-US" sz="800" dirty="0">
                <a:solidFill>
                  <a:srgbClr val="FF0000"/>
                </a:solidFill>
                <a:latin typeface="Verdana" panose="020B0604030504040204" pitchFamily="34" charset="0"/>
                <a:ea typeface="Meiryo UI" pitchFamily="50" charset="-128"/>
                <a:cs typeface="Meiryo UI" pitchFamily="50" charset="-128"/>
              </a:rPr>
              <a:t>紐づく</a:t>
            </a:r>
            <a:r>
              <a:rPr kumimoji="1" lang="en-US" altLang="ja-JP" sz="800" dirty="0">
                <a:solidFill>
                  <a:srgbClr val="FF0000"/>
                </a:solidFill>
                <a:latin typeface="Verdana" panose="020B0604030504040204" pitchFamily="34" charset="0"/>
                <a:ea typeface="Meiryo UI" pitchFamily="50" charset="-128"/>
                <a:cs typeface="Meiryo UI" pitchFamily="50" charset="-128"/>
              </a:rPr>
              <a:t>NISA</a:t>
            </a:r>
            <a:r>
              <a:rPr kumimoji="1" lang="ja-JP" altLang="en-US" sz="800" dirty="0">
                <a:solidFill>
                  <a:srgbClr val="FF0000"/>
                </a:solidFill>
                <a:latin typeface="Verdana" panose="020B0604030504040204" pitchFamily="34" charset="0"/>
                <a:ea typeface="Meiryo UI" pitchFamily="50" charset="-128"/>
                <a:cs typeface="Meiryo UI" pitchFamily="50" charset="-128"/>
              </a:rPr>
              <a:t>先日付注文を取り消す</a:t>
            </a:r>
            <a:endParaRPr kumimoji="1" lang="en-US" altLang="ja-JP" sz="800" dirty="0">
              <a:solidFill>
                <a:srgbClr val="FF0000"/>
              </a:solidFill>
              <a:latin typeface="Verdana" panose="020B0604030504040204" pitchFamily="34" charset="0"/>
              <a:ea typeface="Meiryo UI" pitchFamily="50" charset="-128"/>
              <a:cs typeface="Meiryo UI" pitchFamily="50" charset="-128"/>
            </a:endParaRPr>
          </a:p>
        </p:txBody>
      </p:sp>
      <p:sp>
        <p:nvSpPr>
          <p:cNvPr id="31" name="四角形: 角を丸くする 30">
            <a:extLst>
              <a:ext uri="{FF2B5EF4-FFF2-40B4-BE49-F238E27FC236}">
                <a16:creationId xmlns:a16="http://schemas.microsoft.com/office/drawing/2014/main" id="{679BD754-340C-8A43-903C-93FF0A14EC19}"/>
              </a:ext>
            </a:extLst>
          </p:cNvPr>
          <p:cNvSpPr/>
          <p:nvPr/>
        </p:nvSpPr>
        <p:spPr bwMode="auto">
          <a:xfrm>
            <a:off x="2576736" y="2855459"/>
            <a:ext cx="615085" cy="146127"/>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lang="ja-JP" altLang="en-US" sz="800" dirty="0">
                <a:solidFill>
                  <a:srgbClr val="FF0000"/>
                </a:solidFill>
                <a:latin typeface="Verdana" panose="020B0604030504040204" pitchFamily="34" charset="0"/>
                <a:ea typeface="Meiryo UI" pitchFamily="50" charset="-128"/>
                <a:cs typeface="Meiryo UI" pitchFamily="50" charset="-128"/>
              </a:rPr>
              <a:t>非課税口座簡易開設</a:t>
            </a:r>
            <a:endParaRPr lang="en-US" altLang="ja-JP" sz="800" dirty="0">
              <a:solidFill>
                <a:srgbClr val="FF0000"/>
              </a:solidFill>
              <a:latin typeface="Verdana" panose="020B0604030504040204" pitchFamily="34" charset="0"/>
              <a:ea typeface="Meiryo UI" pitchFamily="50" charset="-128"/>
              <a:cs typeface="Meiryo UI" pitchFamily="50" charset="-128"/>
            </a:endParaRPr>
          </a:p>
          <a:p>
            <a:pPr algn="ctr">
              <a:lnSpc>
                <a:spcPct val="100000"/>
              </a:lnSpc>
              <a:spcBef>
                <a:spcPct val="20000"/>
              </a:spcBef>
            </a:pPr>
            <a:r>
              <a:rPr kumimoji="1" lang="ja-JP" altLang="en-US" sz="800" dirty="0">
                <a:solidFill>
                  <a:srgbClr val="FF0000"/>
                </a:solidFill>
                <a:latin typeface="Verdana" panose="020B0604030504040204" pitchFamily="34" charset="0"/>
                <a:ea typeface="Meiryo UI" pitchFamily="50" charset="-128"/>
                <a:cs typeface="Meiryo UI" pitchFamily="50" charset="-128"/>
              </a:rPr>
              <a:t>状態として登録する</a:t>
            </a:r>
          </a:p>
        </p:txBody>
      </p:sp>
      <p:sp>
        <p:nvSpPr>
          <p:cNvPr id="32" name="楕円 31">
            <a:extLst>
              <a:ext uri="{FF2B5EF4-FFF2-40B4-BE49-F238E27FC236}">
                <a16:creationId xmlns:a16="http://schemas.microsoft.com/office/drawing/2014/main" id="{B0919886-47C0-4D8E-3233-9262F257BD7B}"/>
              </a:ext>
            </a:extLst>
          </p:cNvPr>
          <p:cNvSpPr/>
          <p:nvPr/>
        </p:nvSpPr>
        <p:spPr>
          <a:xfrm>
            <a:off x="2183714" y="2661785"/>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bg1"/>
                </a:solidFill>
              </a:rPr>
              <a:t>新</a:t>
            </a:r>
            <a:endParaRPr kumimoji="1" lang="ja-JP" altLang="en-US" sz="900" dirty="0">
              <a:solidFill>
                <a:schemeClr val="bg1"/>
              </a:solidFill>
            </a:endParaRPr>
          </a:p>
        </p:txBody>
      </p:sp>
      <p:sp>
        <p:nvSpPr>
          <p:cNvPr id="33" name="楕円 32">
            <a:extLst>
              <a:ext uri="{FF2B5EF4-FFF2-40B4-BE49-F238E27FC236}">
                <a16:creationId xmlns:a16="http://schemas.microsoft.com/office/drawing/2014/main" id="{B53D0878-D696-495F-F671-42565455AC18}"/>
              </a:ext>
            </a:extLst>
          </p:cNvPr>
          <p:cNvSpPr/>
          <p:nvPr/>
        </p:nvSpPr>
        <p:spPr>
          <a:xfrm>
            <a:off x="3800872" y="2626805"/>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bg1"/>
                </a:solidFill>
              </a:rPr>
              <a:t>新</a:t>
            </a:r>
            <a:endParaRPr kumimoji="1" lang="ja-JP" altLang="en-US" sz="900" dirty="0">
              <a:solidFill>
                <a:schemeClr val="bg1"/>
              </a:solidFill>
            </a:endParaRPr>
          </a:p>
        </p:txBody>
      </p:sp>
      <p:sp>
        <p:nvSpPr>
          <p:cNvPr id="37" name="正方形/長方形 36">
            <a:extLst>
              <a:ext uri="{FF2B5EF4-FFF2-40B4-BE49-F238E27FC236}">
                <a16:creationId xmlns:a16="http://schemas.microsoft.com/office/drawing/2014/main" id="{13F325C5-7A24-2E2F-3D2B-CA09C033795F}"/>
              </a:ext>
            </a:extLst>
          </p:cNvPr>
          <p:cNvSpPr/>
          <p:nvPr/>
        </p:nvSpPr>
        <p:spPr bwMode="auto">
          <a:xfrm>
            <a:off x="7229506" y="3808091"/>
            <a:ext cx="797135" cy="385619"/>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normAutofit lnSpcReduction="10000"/>
          </a:bodyPr>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【LISA】</a:t>
            </a:r>
          </a:p>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a:t>
            </a:r>
            <a:r>
              <a:rPr kumimoji="0" lang="ja-JP" altLang="en-US"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取込</a:t>
            </a:r>
            <a:endPar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正方形/長方形 37">
            <a:extLst>
              <a:ext uri="{FF2B5EF4-FFF2-40B4-BE49-F238E27FC236}">
                <a16:creationId xmlns:a16="http://schemas.microsoft.com/office/drawing/2014/main" id="{A56E02EE-42B2-7770-616C-1A3F9C76BFD2}"/>
              </a:ext>
            </a:extLst>
          </p:cNvPr>
          <p:cNvSpPr/>
          <p:nvPr/>
        </p:nvSpPr>
        <p:spPr bwMode="auto">
          <a:xfrm>
            <a:off x="8557890" y="3805122"/>
            <a:ext cx="797135" cy="388588"/>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【MF】</a:t>
            </a:r>
          </a:p>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a:t>
            </a:r>
            <a:r>
              <a:rPr kumimoji="0" lang="ja-JP" altLang="en-US"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取込</a:t>
            </a:r>
            <a:endPar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楕円 41">
            <a:extLst>
              <a:ext uri="{FF2B5EF4-FFF2-40B4-BE49-F238E27FC236}">
                <a16:creationId xmlns:a16="http://schemas.microsoft.com/office/drawing/2014/main" id="{54502CDA-8BAA-641F-1B34-2D79290E72CE}"/>
              </a:ext>
            </a:extLst>
          </p:cNvPr>
          <p:cNvSpPr/>
          <p:nvPr/>
        </p:nvSpPr>
        <p:spPr>
          <a:xfrm>
            <a:off x="2648744" y="4796617"/>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bg1"/>
                </a:solidFill>
              </a:rPr>
              <a:t>新</a:t>
            </a:r>
            <a:endParaRPr kumimoji="1" lang="ja-JP" altLang="en-US" sz="900" dirty="0">
              <a:solidFill>
                <a:schemeClr val="bg1"/>
              </a:solidFill>
            </a:endParaRPr>
          </a:p>
        </p:txBody>
      </p:sp>
      <p:sp>
        <p:nvSpPr>
          <p:cNvPr id="11" name="四角形: 角を丸くする 10">
            <a:extLst>
              <a:ext uri="{FF2B5EF4-FFF2-40B4-BE49-F238E27FC236}">
                <a16:creationId xmlns:a16="http://schemas.microsoft.com/office/drawing/2014/main" id="{E9CDDC58-9D4E-CC5C-2962-5FC07DE4B75A}"/>
              </a:ext>
            </a:extLst>
          </p:cNvPr>
          <p:cNvSpPr/>
          <p:nvPr/>
        </p:nvSpPr>
        <p:spPr bwMode="auto">
          <a:xfrm>
            <a:off x="2089974" y="1683663"/>
            <a:ext cx="3018250" cy="309309"/>
          </a:xfrm>
          <a:prstGeom prst="roundRect">
            <a:avLst/>
          </a:prstGeom>
          <a:solidFill>
            <a:schemeClr val="accent6">
              <a:lumMod val="60000"/>
              <a:lumOff val="40000"/>
            </a:schemeClr>
          </a:solidFill>
          <a:ln w="9525" algn="ctr">
            <a:solidFill>
              <a:schemeClr val="tx1"/>
            </a:solid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en-US" altLang="ja-JP" sz="1200" b="1" dirty="0">
                <a:latin typeface="Meiryo UI" panose="020B0604030504040204" pitchFamily="50" charset="-128"/>
                <a:ea typeface="Meiryo UI" pitchFamily="50" charset="-128"/>
                <a:cs typeface="Meiryo UI" pitchFamily="50" charset="-128"/>
              </a:rPr>
              <a:t>FR/</a:t>
            </a:r>
            <a:r>
              <a:rPr kumimoji="1" lang="ja-JP" altLang="en-US" sz="1200" b="1" dirty="0">
                <a:latin typeface="Meiryo UI" panose="020B0604030504040204" pitchFamily="50" charset="-128"/>
                <a:ea typeface="Meiryo UI" pitchFamily="50" charset="-128"/>
                <a:cs typeface="Meiryo UI" pitchFamily="50" charset="-128"/>
              </a:rPr>
              <a:t>タブレット</a:t>
            </a:r>
          </a:p>
        </p:txBody>
      </p:sp>
      <p:sp>
        <p:nvSpPr>
          <p:cNvPr id="16" name="四角形: 角を丸くする 15">
            <a:extLst>
              <a:ext uri="{FF2B5EF4-FFF2-40B4-BE49-F238E27FC236}">
                <a16:creationId xmlns:a16="http://schemas.microsoft.com/office/drawing/2014/main" id="{368C8CDA-ECEA-7981-8B83-B964E3F213FB}"/>
              </a:ext>
            </a:extLst>
          </p:cNvPr>
          <p:cNvSpPr/>
          <p:nvPr/>
        </p:nvSpPr>
        <p:spPr bwMode="auto">
          <a:xfrm>
            <a:off x="7117991" y="1684482"/>
            <a:ext cx="2371513" cy="309309"/>
          </a:xfrm>
          <a:prstGeom prst="roundRect">
            <a:avLst/>
          </a:prstGeom>
          <a:solidFill>
            <a:schemeClr val="accent4">
              <a:lumMod val="40000"/>
              <a:lumOff val="60000"/>
            </a:schemeClr>
          </a:solidFill>
          <a:ln w="9525" algn="ctr">
            <a:solidFill>
              <a:schemeClr val="tx1"/>
            </a:solid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200" b="1" dirty="0">
                <a:latin typeface="Meiryo UI" panose="020B0604030504040204" pitchFamily="50" charset="-128"/>
                <a:ea typeface="Meiryo UI" pitchFamily="50" charset="-128"/>
                <a:cs typeface="Meiryo UI" pitchFamily="50" charset="-128"/>
              </a:rPr>
              <a:t>外部システム（</a:t>
            </a:r>
            <a:r>
              <a:rPr kumimoji="1" lang="en-US" altLang="ja-JP" sz="1200" b="1" dirty="0">
                <a:latin typeface="Meiryo UI" panose="020B0604030504040204" pitchFamily="50" charset="-128"/>
                <a:ea typeface="Meiryo UI" pitchFamily="50" charset="-128"/>
                <a:cs typeface="Meiryo UI" pitchFamily="50" charset="-128"/>
              </a:rPr>
              <a:t>LISA/MF</a:t>
            </a:r>
            <a:r>
              <a:rPr kumimoji="1" lang="ja-JP" altLang="en-US" sz="1200" b="1" dirty="0">
                <a:latin typeface="Meiryo UI" panose="020B0604030504040204" pitchFamily="50" charset="-128"/>
                <a:ea typeface="Meiryo UI" pitchFamily="50" charset="-128"/>
                <a:cs typeface="Meiryo UI" pitchFamily="50" charset="-128"/>
              </a:rPr>
              <a:t>）</a:t>
            </a:r>
          </a:p>
        </p:txBody>
      </p:sp>
      <p:sp>
        <p:nvSpPr>
          <p:cNvPr id="36" name="四角形: 角を丸くする 35">
            <a:extLst>
              <a:ext uri="{FF2B5EF4-FFF2-40B4-BE49-F238E27FC236}">
                <a16:creationId xmlns:a16="http://schemas.microsoft.com/office/drawing/2014/main" id="{131AAEA7-EA2E-4696-62EE-CDDFBBC3330E}"/>
              </a:ext>
            </a:extLst>
          </p:cNvPr>
          <p:cNvSpPr/>
          <p:nvPr/>
        </p:nvSpPr>
        <p:spPr bwMode="auto">
          <a:xfrm>
            <a:off x="5213842" y="1689867"/>
            <a:ext cx="1798531" cy="309309"/>
          </a:xfrm>
          <a:prstGeom prst="roundRect">
            <a:avLst/>
          </a:prstGeom>
          <a:solidFill>
            <a:schemeClr val="tx2">
              <a:lumMod val="40000"/>
              <a:lumOff val="60000"/>
            </a:schemeClr>
          </a:solidFill>
          <a:ln w="9525" algn="ctr">
            <a:solidFill>
              <a:schemeClr val="tx1"/>
            </a:solid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200" b="1" dirty="0">
                <a:latin typeface="Meiryo UI" panose="020B0604030504040204" pitchFamily="50" charset="-128"/>
                <a:ea typeface="Meiryo UI" pitchFamily="50" charset="-128"/>
                <a:cs typeface="Meiryo UI" pitchFamily="50" charset="-128"/>
              </a:rPr>
              <a:t>軽技</a:t>
            </a:r>
            <a:r>
              <a:rPr kumimoji="1" lang="en-US" altLang="ja-JP" sz="1200" b="1" dirty="0">
                <a:latin typeface="Meiryo UI" panose="020B0604030504040204" pitchFamily="50" charset="-128"/>
                <a:ea typeface="Meiryo UI" pitchFamily="50" charset="-128"/>
                <a:cs typeface="Meiryo UI" pitchFamily="50" charset="-128"/>
              </a:rPr>
              <a:t>/</a:t>
            </a:r>
            <a:r>
              <a:rPr kumimoji="1" lang="en-US" altLang="ja-JP" sz="1200" b="1" dirty="0" err="1">
                <a:latin typeface="Meiryo UI" panose="020B0604030504040204" pitchFamily="50" charset="-128"/>
                <a:ea typeface="Meiryo UI" pitchFamily="50" charset="-128"/>
                <a:cs typeface="Meiryo UI" pitchFamily="50" charset="-128"/>
              </a:rPr>
              <a:t>MarkAuto</a:t>
            </a:r>
            <a:endParaRPr kumimoji="1" lang="ja-JP" altLang="en-US" sz="1200" b="1" dirty="0">
              <a:latin typeface="Meiryo UI" panose="020B0604030504040204" pitchFamily="50" charset="-128"/>
              <a:ea typeface="Meiryo UI" pitchFamily="50" charset="-128"/>
              <a:cs typeface="Meiryo UI" pitchFamily="50" charset="-128"/>
            </a:endParaRPr>
          </a:p>
        </p:txBody>
      </p:sp>
      <p:sp>
        <p:nvSpPr>
          <p:cNvPr id="43" name="四角形: 角を丸くする 42">
            <a:extLst>
              <a:ext uri="{FF2B5EF4-FFF2-40B4-BE49-F238E27FC236}">
                <a16:creationId xmlns:a16="http://schemas.microsoft.com/office/drawing/2014/main" id="{344DE4BD-54C7-5F44-DD88-763B50F26243}"/>
              </a:ext>
            </a:extLst>
          </p:cNvPr>
          <p:cNvSpPr/>
          <p:nvPr/>
        </p:nvSpPr>
        <p:spPr bwMode="auto">
          <a:xfrm>
            <a:off x="416496" y="1680151"/>
            <a:ext cx="1567860" cy="309309"/>
          </a:xfrm>
          <a:prstGeom prst="roundRect">
            <a:avLst/>
          </a:prstGeom>
          <a:solidFill>
            <a:srgbClr val="FFC000"/>
          </a:solidFill>
          <a:ln w="9525" algn="ctr">
            <a:solidFill>
              <a:schemeClr val="tx1"/>
            </a:solid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200" b="1" dirty="0">
                <a:latin typeface="Meiryo UI" panose="020B0604030504040204" pitchFamily="50" charset="-128"/>
                <a:ea typeface="Meiryo UI" pitchFamily="50" charset="-128"/>
                <a:cs typeface="Meiryo UI" pitchFamily="50" charset="-128"/>
              </a:rPr>
              <a:t>担当者</a:t>
            </a:r>
          </a:p>
        </p:txBody>
      </p:sp>
      <p:cxnSp>
        <p:nvCxnSpPr>
          <p:cNvPr id="47" name="直線矢印コネクタ 46">
            <a:extLst>
              <a:ext uri="{FF2B5EF4-FFF2-40B4-BE49-F238E27FC236}">
                <a16:creationId xmlns:a16="http://schemas.microsoft.com/office/drawing/2014/main" id="{2B5DD5D4-4889-425F-2C40-56B35A26CADA}"/>
              </a:ext>
            </a:extLst>
          </p:cNvPr>
          <p:cNvCxnSpPr>
            <a:cxnSpLocks/>
            <a:stCxn id="5" idx="3"/>
            <a:endCxn id="8" idx="1"/>
          </p:cNvCxnSpPr>
          <p:nvPr/>
        </p:nvCxnSpPr>
        <p:spPr bwMode="auto">
          <a:xfrm>
            <a:off x="1185257" y="2465201"/>
            <a:ext cx="1230662" cy="7801"/>
          </a:xfrm>
          <a:prstGeom prst="straightConnector1">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0" name="Picture 33" descr="MCj04339420000[1]">
            <a:extLst>
              <a:ext uri="{FF2B5EF4-FFF2-40B4-BE49-F238E27FC236}">
                <a16:creationId xmlns:a16="http://schemas.microsoft.com/office/drawing/2014/main" id="{0F65DECB-393F-57A3-BF28-31F22DA00D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6457" y="3284449"/>
            <a:ext cx="520673" cy="52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正方形/長方形 50">
            <a:extLst>
              <a:ext uri="{FF2B5EF4-FFF2-40B4-BE49-F238E27FC236}">
                <a16:creationId xmlns:a16="http://schemas.microsoft.com/office/drawing/2014/main" id="{89608631-B129-87D2-3EBC-D944987759D2}"/>
              </a:ext>
            </a:extLst>
          </p:cNvPr>
          <p:cNvSpPr/>
          <p:nvPr/>
        </p:nvSpPr>
        <p:spPr bwMode="auto">
          <a:xfrm>
            <a:off x="5332083" y="3363237"/>
            <a:ext cx="1155619" cy="425803"/>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LISA</a:t>
            </a: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連携</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データ抽出</a:t>
            </a:r>
          </a:p>
        </p:txBody>
      </p:sp>
      <p:cxnSp>
        <p:nvCxnSpPr>
          <p:cNvPr id="52" name="直線矢印コネクタ 51">
            <a:extLst>
              <a:ext uri="{FF2B5EF4-FFF2-40B4-BE49-F238E27FC236}">
                <a16:creationId xmlns:a16="http://schemas.microsoft.com/office/drawing/2014/main" id="{109340D4-5A75-305E-6BB8-0F00FDB48B4A}"/>
              </a:ext>
            </a:extLst>
          </p:cNvPr>
          <p:cNvCxnSpPr>
            <a:cxnSpLocks/>
            <a:stCxn id="50" idx="3"/>
            <a:endCxn id="51" idx="1"/>
          </p:cNvCxnSpPr>
          <p:nvPr/>
        </p:nvCxnSpPr>
        <p:spPr bwMode="auto">
          <a:xfrm>
            <a:off x="1187130" y="3544786"/>
            <a:ext cx="4144953" cy="31353"/>
          </a:xfrm>
          <a:prstGeom prst="straightConnector1">
            <a:avLst/>
          </a:prstGeom>
          <a:noFill/>
          <a:ln w="9525" cap="flat" cmpd="sng" algn="ctr">
            <a:solidFill>
              <a:schemeClr val="tx1"/>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コネクタ: カギ線 58">
            <a:extLst>
              <a:ext uri="{FF2B5EF4-FFF2-40B4-BE49-F238E27FC236}">
                <a16:creationId xmlns:a16="http://schemas.microsoft.com/office/drawing/2014/main" id="{E082FC81-CC92-4360-B4AF-B2E918A75F45}"/>
              </a:ext>
            </a:extLst>
          </p:cNvPr>
          <p:cNvCxnSpPr>
            <a:cxnSpLocks/>
            <a:stCxn id="50" idx="2"/>
            <a:endCxn id="37" idx="1"/>
          </p:cNvCxnSpPr>
          <p:nvPr/>
        </p:nvCxnSpPr>
        <p:spPr bwMode="auto">
          <a:xfrm rot="16200000" flipH="1">
            <a:off x="3980261" y="751655"/>
            <a:ext cx="195779" cy="6302712"/>
          </a:xfrm>
          <a:prstGeom prst="bentConnector2">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線矢印コネクタ 61">
            <a:extLst>
              <a:ext uri="{FF2B5EF4-FFF2-40B4-BE49-F238E27FC236}">
                <a16:creationId xmlns:a16="http://schemas.microsoft.com/office/drawing/2014/main" id="{D48F2579-E2F2-74AE-44E6-BE2C9E164658}"/>
              </a:ext>
            </a:extLst>
          </p:cNvPr>
          <p:cNvCxnSpPr>
            <a:cxnSpLocks/>
            <a:stCxn id="37" idx="3"/>
            <a:endCxn id="38" idx="1"/>
          </p:cNvCxnSpPr>
          <p:nvPr/>
        </p:nvCxnSpPr>
        <p:spPr bwMode="auto">
          <a:xfrm flipV="1">
            <a:off x="8026641" y="3999416"/>
            <a:ext cx="531249" cy="1485"/>
          </a:xfrm>
          <a:prstGeom prst="straightConnector1">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コネクタ: カギ線 64">
            <a:extLst>
              <a:ext uri="{FF2B5EF4-FFF2-40B4-BE49-F238E27FC236}">
                <a16:creationId xmlns:a16="http://schemas.microsoft.com/office/drawing/2014/main" id="{C1141022-036E-2BDF-AA4B-0AD9FAF98DBA}"/>
              </a:ext>
            </a:extLst>
          </p:cNvPr>
          <p:cNvCxnSpPr>
            <a:cxnSpLocks/>
            <a:stCxn id="38" idx="2"/>
            <a:endCxn id="68" idx="3"/>
          </p:cNvCxnSpPr>
          <p:nvPr/>
        </p:nvCxnSpPr>
        <p:spPr bwMode="auto">
          <a:xfrm rot="5400000">
            <a:off x="6138995" y="1889613"/>
            <a:ext cx="513366" cy="5121560"/>
          </a:xfrm>
          <a:prstGeom prst="bentConnector2">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正方形/長方形 67">
            <a:extLst>
              <a:ext uri="{FF2B5EF4-FFF2-40B4-BE49-F238E27FC236}">
                <a16:creationId xmlns:a16="http://schemas.microsoft.com/office/drawing/2014/main" id="{1B5CB019-FA3D-6668-6F37-9971D09B4E6C}"/>
              </a:ext>
            </a:extLst>
          </p:cNvPr>
          <p:cNvSpPr/>
          <p:nvPr/>
        </p:nvSpPr>
        <p:spPr bwMode="auto">
          <a:xfrm>
            <a:off x="2936776" y="4514265"/>
            <a:ext cx="898122" cy="385621"/>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normAutofit/>
          </a:bodyPr>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lvl="0" defTabSz="914400" fontAlgn="auto">
              <a:spcBef>
                <a:spcPts val="0"/>
              </a:spcBef>
              <a:spcAft>
                <a:spcPts val="0"/>
              </a:spcAft>
              <a:buClr>
                <a:srgbClr val="000000"/>
              </a:buClr>
              <a:tabLst>
                <a:tab pos="179388" algn="l"/>
              </a:tabLst>
              <a:defRPr/>
            </a:pPr>
            <a:r>
              <a:rPr kumimoji="0" lang="en-US" altLang="ja-JP"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MF</a:t>
            </a:r>
            <a:r>
              <a:rPr kumimoji="0" lang="ja-JP" altLang="en-US"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データ取込</a:t>
            </a:r>
          </a:p>
        </p:txBody>
      </p:sp>
      <p:sp>
        <p:nvSpPr>
          <p:cNvPr id="72" name="四角形: 角を丸くする 71">
            <a:extLst>
              <a:ext uri="{FF2B5EF4-FFF2-40B4-BE49-F238E27FC236}">
                <a16:creationId xmlns:a16="http://schemas.microsoft.com/office/drawing/2014/main" id="{048A82C2-832F-0CCA-4A1C-E04F2B9AB7F7}"/>
              </a:ext>
            </a:extLst>
          </p:cNvPr>
          <p:cNvSpPr/>
          <p:nvPr/>
        </p:nvSpPr>
        <p:spPr bwMode="auto">
          <a:xfrm>
            <a:off x="2255178" y="3563178"/>
            <a:ext cx="1868965" cy="225862"/>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en-US" altLang="ja-JP" sz="800" dirty="0">
                <a:latin typeface="Verdana" panose="020B0604030504040204" pitchFamily="34" charset="0"/>
                <a:ea typeface="Meiryo UI" pitchFamily="50" charset="-128"/>
                <a:cs typeface="Meiryo UI" pitchFamily="50" charset="-128"/>
              </a:rPr>
              <a:t>LISA</a:t>
            </a:r>
            <a:r>
              <a:rPr kumimoji="1" lang="ja-JP" altLang="en-US" sz="800" dirty="0">
                <a:latin typeface="Verdana" panose="020B0604030504040204" pitchFamily="34" charset="0"/>
                <a:ea typeface="Meiryo UI" pitchFamily="50" charset="-128"/>
                <a:cs typeface="Meiryo UI" pitchFamily="50" charset="-128"/>
              </a:rPr>
              <a:t>システムへ連携するデータを軽技より抽出する</a:t>
            </a:r>
          </a:p>
        </p:txBody>
      </p:sp>
      <p:sp>
        <p:nvSpPr>
          <p:cNvPr id="73" name="四角形: 角を丸くする 72">
            <a:extLst>
              <a:ext uri="{FF2B5EF4-FFF2-40B4-BE49-F238E27FC236}">
                <a16:creationId xmlns:a16="http://schemas.microsoft.com/office/drawing/2014/main" id="{44C0559D-6CFF-A020-0BB1-6BDA31A48B44}"/>
              </a:ext>
            </a:extLst>
          </p:cNvPr>
          <p:cNvSpPr/>
          <p:nvPr/>
        </p:nvSpPr>
        <p:spPr bwMode="auto">
          <a:xfrm>
            <a:off x="2183714" y="4011936"/>
            <a:ext cx="1868965" cy="225862"/>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nSpc>
                <a:spcPct val="100000"/>
              </a:lnSpc>
              <a:spcBef>
                <a:spcPct val="20000"/>
              </a:spcBef>
            </a:pPr>
            <a:r>
              <a:rPr kumimoji="1" lang="ja-JP" altLang="en-US" sz="800" dirty="0">
                <a:latin typeface="Verdana" panose="020B0604030504040204" pitchFamily="34" charset="0"/>
                <a:ea typeface="Meiryo UI" pitchFamily="50" charset="-128"/>
                <a:cs typeface="Meiryo UI" pitchFamily="50" charset="-128"/>
              </a:rPr>
              <a:t>抽出したデータを</a:t>
            </a:r>
            <a:r>
              <a:rPr kumimoji="1" lang="en-US" altLang="ja-JP" sz="800" dirty="0">
                <a:latin typeface="Verdana" panose="020B0604030504040204" pitchFamily="34" charset="0"/>
                <a:ea typeface="Meiryo UI" pitchFamily="50" charset="-128"/>
                <a:cs typeface="Meiryo UI" pitchFamily="50" charset="-128"/>
              </a:rPr>
              <a:t>LISA</a:t>
            </a:r>
            <a:r>
              <a:rPr kumimoji="1" lang="ja-JP" altLang="en-US" sz="800" dirty="0">
                <a:latin typeface="Verdana" panose="020B0604030504040204" pitchFamily="34" charset="0"/>
                <a:ea typeface="Meiryo UI" pitchFamily="50" charset="-128"/>
                <a:cs typeface="Meiryo UI" pitchFamily="50" charset="-128"/>
              </a:rPr>
              <a:t>システムへ連携する</a:t>
            </a:r>
          </a:p>
        </p:txBody>
      </p:sp>
      <p:sp>
        <p:nvSpPr>
          <p:cNvPr id="81" name="四角形: 角を丸くする 80">
            <a:extLst>
              <a:ext uri="{FF2B5EF4-FFF2-40B4-BE49-F238E27FC236}">
                <a16:creationId xmlns:a16="http://schemas.microsoft.com/office/drawing/2014/main" id="{EB3A7D20-A4F8-E69F-47DC-B68E3FDE0991}"/>
              </a:ext>
            </a:extLst>
          </p:cNvPr>
          <p:cNvSpPr/>
          <p:nvPr/>
        </p:nvSpPr>
        <p:spPr bwMode="auto">
          <a:xfrm>
            <a:off x="687379" y="2026190"/>
            <a:ext cx="1868965" cy="225862"/>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nSpc>
                <a:spcPct val="100000"/>
              </a:lnSpc>
              <a:spcBef>
                <a:spcPct val="20000"/>
              </a:spcBef>
            </a:pPr>
            <a:r>
              <a:rPr kumimoji="1" lang="ja-JP" altLang="en-US" sz="800" dirty="0">
                <a:latin typeface="Verdana" panose="020B0604030504040204" pitchFamily="34" charset="0"/>
                <a:ea typeface="Meiryo UI" pitchFamily="50" charset="-128"/>
                <a:cs typeface="Meiryo UI" pitchFamily="50" charset="-128"/>
              </a:rPr>
              <a:t>■非課税口座開設、注文</a:t>
            </a:r>
          </a:p>
        </p:txBody>
      </p:sp>
      <p:sp>
        <p:nvSpPr>
          <p:cNvPr id="82" name="四角形: 角を丸くする 81">
            <a:extLst>
              <a:ext uri="{FF2B5EF4-FFF2-40B4-BE49-F238E27FC236}">
                <a16:creationId xmlns:a16="http://schemas.microsoft.com/office/drawing/2014/main" id="{093997F5-9BD9-E54D-B689-107960805B03}"/>
              </a:ext>
            </a:extLst>
          </p:cNvPr>
          <p:cNvSpPr/>
          <p:nvPr/>
        </p:nvSpPr>
        <p:spPr bwMode="auto">
          <a:xfrm>
            <a:off x="666457" y="3086853"/>
            <a:ext cx="1155620" cy="225862"/>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nSpc>
                <a:spcPct val="100000"/>
              </a:lnSpc>
              <a:spcBef>
                <a:spcPct val="20000"/>
              </a:spcBef>
            </a:pPr>
            <a:r>
              <a:rPr kumimoji="1" lang="ja-JP" altLang="en-US" sz="800" dirty="0">
                <a:latin typeface="Verdana" panose="020B0604030504040204" pitchFamily="34" charset="0"/>
                <a:ea typeface="Meiryo UI" pitchFamily="50" charset="-128"/>
                <a:cs typeface="Meiryo UI" pitchFamily="50" charset="-128"/>
              </a:rPr>
              <a:t>■外部システム連携</a:t>
            </a:r>
          </a:p>
        </p:txBody>
      </p:sp>
      <p:pic>
        <p:nvPicPr>
          <p:cNvPr id="83" name="Picture 33" descr="MCj04339420000[1]">
            <a:extLst>
              <a:ext uri="{FF2B5EF4-FFF2-40B4-BE49-F238E27FC236}">
                <a16:creationId xmlns:a16="http://schemas.microsoft.com/office/drawing/2014/main" id="{2B47520E-430D-7D77-E745-31AF195186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583" y="5301208"/>
            <a:ext cx="520673" cy="520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正方形/長方形 92">
            <a:extLst>
              <a:ext uri="{FF2B5EF4-FFF2-40B4-BE49-F238E27FC236}">
                <a16:creationId xmlns:a16="http://schemas.microsoft.com/office/drawing/2014/main" id="{7EE95669-0BA2-0F62-3619-B6667D2BE507}"/>
              </a:ext>
            </a:extLst>
          </p:cNvPr>
          <p:cNvSpPr/>
          <p:nvPr/>
        </p:nvSpPr>
        <p:spPr bwMode="auto">
          <a:xfrm>
            <a:off x="2936777" y="5358523"/>
            <a:ext cx="1008111" cy="423186"/>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ja-JP" altLang="en-US"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進捗状況一覧</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94" name="直線矢印コネクタ 93">
            <a:extLst>
              <a:ext uri="{FF2B5EF4-FFF2-40B4-BE49-F238E27FC236}">
                <a16:creationId xmlns:a16="http://schemas.microsoft.com/office/drawing/2014/main" id="{7521763B-E80A-0010-3D98-E17369B12DAE}"/>
              </a:ext>
            </a:extLst>
          </p:cNvPr>
          <p:cNvCxnSpPr>
            <a:cxnSpLocks/>
            <a:stCxn id="83" idx="3"/>
            <a:endCxn id="93" idx="1"/>
          </p:cNvCxnSpPr>
          <p:nvPr/>
        </p:nvCxnSpPr>
        <p:spPr bwMode="auto">
          <a:xfrm>
            <a:off x="1185256" y="5561545"/>
            <a:ext cx="1751521" cy="8571"/>
          </a:xfrm>
          <a:prstGeom prst="straightConnector1">
            <a:avLst/>
          </a:prstGeom>
          <a:noFill/>
          <a:ln w="9525" cap="flat" cmpd="sng" algn="ctr">
            <a:solidFill>
              <a:schemeClr val="tx1"/>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7" name="四角形: 角を丸くする 96">
            <a:extLst>
              <a:ext uri="{FF2B5EF4-FFF2-40B4-BE49-F238E27FC236}">
                <a16:creationId xmlns:a16="http://schemas.microsoft.com/office/drawing/2014/main" id="{739D5AA3-837A-3E06-E723-1CF45DF3982B}"/>
              </a:ext>
            </a:extLst>
          </p:cNvPr>
          <p:cNvSpPr/>
          <p:nvPr/>
        </p:nvSpPr>
        <p:spPr bwMode="auto">
          <a:xfrm>
            <a:off x="2074891" y="5860474"/>
            <a:ext cx="2734093" cy="160814"/>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en-US" altLang="ja-JP" sz="800" dirty="0">
                <a:solidFill>
                  <a:srgbClr val="FF0000"/>
                </a:solidFill>
                <a:latin typeface="Verdana" panose="020B0604030504040204" pitchFamily="34" charset="0"/>
                <a:ea typeface="Meiryo UI" pitchFamily="50" charset="-128"/>
                <a:cs typeface="Meiryo UI" pitchFamily="50" charset="-128"/>
              </a:rPr>
              <a:t>MF</a:t>
            </a:r>
            <a:r>
              <a:rPr kumimoji="1" lang="ja-JP" altLang="en-US" sz="800" dirty="0">
                <a:solidFill>
                  <a:srgbClr val="FF0000"/>
                </a:solidFill>
                <a:latin typeface="Verdana" panose="020B0604030504040204" pitchFamily="34" charset="0"/>
                <a:ea typeface="Meiryo UI" pitchFamily="50" charset="-128"/>
                <a:cs typeface="Meiryo UI" pitchFamily="50" charset="-128"/>
              </a:rPr>
              <a:t>データ取込後のデータを取得し、注文状況を確認する</a:t>
            </a:r>
            <a:endParaRPr kumimoji="1" lang="en-US" altLang="ja-JP" sz="800" dirty="0">
              <a:solidFill>
                <a:srgbClr val="FF0000"/>
              </a:solidFill>
              <a:latin typeface="Verdana" panose="020B0604030504040204" pitchFamily="34" charset="0"/>
              <a:ea typeface="Meiryo UI" pitchFamily="50" charset="-128"/>
              <a:cs typeface="Meiryo UI" pitchFamily="50" charset="-128"/>
            </a:endParaRPr>
          </a:p>
        </p:txBody>
      </p:sp>
      <p:sp>
        <p:nvSpPr>
          <p:cNvPr id="98" name="楕円 97">
            <a:extLst>
              <a:ext uri="{FF2B5EF4-FFF2-40B4-BE49-F238E27FC236}">
                <a16:creationId xmlns:a16="http://schemas.microsoft.com/office/drawing/2014/main" id="{E16A42AB-DD03-60C5-7DEA-0A5C1D721376}"/>
              </a:ext>
            </a:extLst>
          </p:cNvPr>
          <p:cNvSpPr/>
          <p:nvPr/>
        </p:nvSpPr>
        <p:spPr>
          <a:xfrm>
            <a:off x="2145732" y="5656815"/>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99" name="正方形/長方形 98">
            <a:extLst>
              <a:ext uri="{FF2B5EF4-FFF2-40B4-BE49-F238E27FC236}">
                <a16:creationId xmlns:a16="http://schemas.microsoft.com/office/drawing/2014/main" id="{02739A2D-A197-E264-BCD4-79444FE759BB}"/>
              </a:ext>
            </a:extLst>
          </p:cNvPr>
          <p:cNvSpPr/>
          <p:nvPr/>
        </p:nvSpPr>
        <p:spPr bwMode="auto">
          <a:xfrm>
            <a:off x="8557890" y="6158461"/>
            <a:ext cx="797135" cy="385619"/>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【MF】</a:t>
            </a:r>
          </a:p>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データ</a:t>
            </a:r>
            <a:r>
              <a:rPr kumimoji="0" lang="ja-JP" altLang="en-US" sz="1000" b="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取込</a:t>
            </a:r>
            <a:endParaRPr kumimoji="0" lang="ja-JP" altLang="en-US"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00" name="コネクタ: カギ線 99">
            <a:extLst>
              <a:ext uri="{FF2B5EF4-FFF2-40B4-BE49-F238E27FC236}">
                <a16:creationId xmlns:a16="http://schemas.microsoft.com/office/drawing/2014/main" id="{C16988D2-0447-3E68-32D1-D691E100940A}"/>
              </a:ext>
            </a:extLst>
          </p:cNvPr>
          <p:cNvCxnSpPr>
            <a:cxnSpLocks/>
            <a:stCxn id="83" idx="2"/>
            <a:endCxn id="113" idx="1"/>
          </p:cNvCxnSpPr>
          <p:nvPr/>
        </p:nvCxnSpPr>
        <p:spPr bwMode="auto">
          <a:xfrm rot="16200000" flipH="1">
            <a:off x="2874886" y="3871914"/>
            <a:ext cx="507231" cy="4407163"/>
          </a:xfrm>
          <a:prstGeom prst="bentConnector2">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正方形/長方形 112">
            <a:extLst>
              <a:ext uri="{FF2B5EF4-FFF2-40B4-BE49-F238E27FC236}">
                <a16:creationId xmlns:a16="http://schemas.microsoft.com/office/drawing/2014/main" id="{BE4FC159-35E9-7A4E-A1DD-24CB8022E3B4}"/>
              </a:ext>
            </a:extLst>
          </p:cNvPr>
          <p:cNvSpPr/>
          <p:nvPr/>
        </p:nvSpPr>
        <p:spPr bwMode="auto">
          <a:xfrm>
            <a:off x="5332083" y="6117519"/>
            <a:ext cx="1155619" cy="423186"/>
          </a:xfrm>
          <a:prstGeom prst="rect">
            <a:avLst/>
          </a:prstGeom>
          <a:solidFill>
            <a:schemeClr val="accent1">
              <a:lumMod val="20000"/>
              <a:lumOff val="80000"/>
            </a:schemeClr>
          </a:solidFill>
          <a:ln w="12700" cap="flat" cmpd="sng" algn="ctr">
            <a:solidFill>
              <a:sysClr val="windowText" lastClr="000000"/>
            </a:solidFill>
            <a:prstDash val="solid"/>
            <a:round/>
            <a:headEnd type="none" w="med" len="med"/>
            <a:tailEnd type="none" w="med" len="med"/>
          </a:ln>
          <a:effectLst>
            <a:outerShdw blurRad="50800" dist="38100" dir="2700000" algn="tl" rotWithShape="0">
              <a:prstClr val="black">
                <a:alpha val="40000"/>
              </a:prstClr>
            </a:outerShdw>
          </a:effectLst>
        </p:spPr>
        <p:txBody>
          <a:bodyPr wrap="none" anchor="ctr" anchorCtr="0"/>
          <a:lstStyle>
            <a:defPPr>
              <a:defRPr lang="ja-JP"/>
            </a:defPPr>
            <a:lvl1pPr algn="l" rtl="0" fontAlgn="base">
              <a:spcBef>
                <a:spcPct val="0"/>
              </a:spcBef>
              <a:spcAft>
                <a:spcPct val="0"/>
              </a:spcAft>
              <a:defRPr kumimoji="1" sz="1100" b="1" kern="1200">
                <a:solidFill>
                  <a:schemeClr val="tx1"/>
                </a:solidFill>
                <a:latin typeface="Arial" charset="0"/>
                <a:ea typeface="ＭＳ Ｐゴシック" pitchFamily="50" charset="-128"/>
                <a:cs typeface="+mn-cs"/>
              </a:defRPr>
            </a:lvl1pPr>
            <a:lvl2pPr marL="456752" algn="l" rtl="0" fontAlgn="base">
              <a:spcBef>
                <a:spcPct val="0"/>
              </a:spcBef>
              <a:spcAft>
                <a:spcPct val="0"/>
              </a:spcAft>
              <a:defRPr kumimoji="1" sz="1100" b="1" kern="1200">
                <a:solidFill>
                  <a:schemeClr val="tx1"/>
                </a:solidFill>
                <a:latin typeface="Arial" charset="0"/>
                <a:ea typeface="ＭＳ Ｐゴシック" pitchFamily="50" charset="-128"/>
                <a:cs typeface="+mn-cs"/>
              </a:defRPr>
            </a:lvl2pPr>
            <a:lvl3pPr marL="913509" algn="l" rtl="0" fontAlgn="base">
              <a:spcBef>
                <a:spcPct val="0"/>
              </a:spcBef>
              <a:spcAft>
                <a:spcPct val="0"/>
              </a:spcAft>
              <a:defRPr kumimoji="1" sz="1100" b="1" kern="1200">
                <a:solidFill>
                  <a:schemeClr val="tx1"/>
                </a:solidFill>
                <a:latin typeface="Arial" charset="0"/>
                <a:ea typeface="ＭＳ Ｐゴシック" pitchFamily="50" charset="-128"/>
                <a:cs typeface="+mn-cs"/>
              </a:defRPr>
            </a:lvl3pPr>
            <a:lvl4pPr marL="1370257" algn="l" rtl="0" fontAlgn="base">
              <a:spcBef>
                <a:spcPct val="0"/>
              </a:spcBef>
              <a:spcAft>
                <a:spcPct val="0"/>
              </a:spcAft>
              <a:defRPr kumimoji="1" sz="1100" b="1" kern="1200">
                <a:solidFill>
                  <a:schemeClr val="tx1"/>
                </a:solidFill>
                <a:latin typeface="Arial" charset="0"/>
                <a:ea typeface="ＭＳ Ｐゴシック" pitchFamily="50" charset="-128"/>
                <a:cs typeface="+mn-cs"/>
              </a:defRPr>
            </a:lvl4pPr>
            <a:lvl5pPr marL="1827010" algn="l" rtl="0" fontAlgn="base">
              <a:spcBef>
                <a:spcPct val="0"/>
              </a:spcBef>
              <a:spcAft>
                <a:spcPct val="0"/>
              </a:spcAft>
              <a:defRPr kumimoji="1" sz="1100" b="1" kern="1200">
                <a:solidFill>
                  <a:schemeClr val="tx1"/>
                </a:solidFill>
                <a:latin typeface="Arial" charset="0"/>
                <a:ea typeface="ＭＳ Ｐゴシック" pitchFamily="50" charset="-128"/>
                <a:cs typeface="+mn-cs"/>
              </a:defRPr>
            </a:lvl5pPr>
            <a:lvl6pPr marL="2283762" algn="l" defTabSz="913509" rtl="0" eaLnBrk="1" latinLnBrk="0" hangingPunct="1">
              <a:defRPr kumimoji="1" sz="1100" b="1" kern="1200">
                <a:solidFill>
                  <a:schemeClr val="tx1"/>
                </a:solidFill>
                <a:latin typeface="Arial" charset="0"/>
                <a:ea typeface="ＭＳ Ｐゴシック" pitchFamily="50" charset="-128"/>
                <a:cs typeface="+mn-cs"/>
              </a:defRPr>
            </a:lvl6pPr>
            <a:lvl7pPr marL="2740513" algn="l" defTabSz="913509" rtl="0" eaLnBrk="1" latinLnBrk="0" hangingPunct="1">
              <a:defRPr kumimoji="1" sz="1100" b="1" kern="1200">
                <a:solidFill>
                  <a:schemeClr val="tx1"/>
                </a:solidFill>
                <a:latin typeface="Arial" charset="0"/>
                <a:ea typeface="ＭＳ Ｐゴシック" pitchFamily="50" charset="-128"/>
                <a:cs typeface="+mn-cs"/>
              </a:defRPr>
            </a:lvl7pPr>
            <a:lvl8pPr marL="3197262" algn="l" defTabSz="913509" rtl="0" eaLnBrk="1" latinLnBrk="0" hangingPunct="1">
              <a:defRPr kumimoji="1" sz="1100" b="1" kern="1200">
                <a:solidFill>
                  <a:schemeClr val="tx1"/>
                </a:solidFill>
                <a:latin typeface="Arial" charset="0"/>
                <a:ea typeface="ＭＳ Ｐゴシック" pitchFamily="50" charset="-128"/>
                <a:cs typeface="+mn-cs"/>
              </a:defRPr>
            </a:lvl8pPr>
            <a:lvl9pPr marL="3654019" algn="l" defTabSz="913509" rtl="0" eaLnBrk="1" latinLnBrk="0" hangingPunct="1">
              <a:defRPr kumimoji="1" sz="1100" b="1" kern="1200">
                <a:solidFill>
                  <a:schemeClr val="tx1"/>
                </a:solidFill>
                <a:latin typeface="Arial" charset="0"/>
                <a:ea typeface="ＭＳ Ｐゴシック" pitchFamily="50" charset="-128"/>
                <a:cs typeface="+mn-cs"/>
              </a:defRPr>
            </a:lvl9p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tab pos="179388" algn="l"/>
              </a:tabLst>
              <a:defRPr/>
            </a:pPr>
            <a:r>
              <a:rPr kumimoji="0" lang="en-US" altLang="ja-JP" sz="1000" b="0" i="0" u="none" strike="noStrike" kern="0" cap="none" spc="0" normalizeH="0" baseline="0" noProof="0" dirty="0" err="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MarkAuto</a:t>
            </a:r>
            <a:endParaRPr kumimoji="0" lang="en-US" altLang="ja-JP" sz="1000" b="0"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5" name="直線矢印コネクタ 114">
            <a:extLst>
              <a:ext uri="{FF2B5EF4-FFF2-40B4-BE49-F238E27FC236}">
                <a16:creationId xmlns:a16="http://schemas.microsoft.com/office/drawing/2014/main" id="{1A89C6B4-AB72-C49D-37A1-6746805B1F32}"/>
              </a:ext>
            </a:extLst>
          </p:cNvPr>
          <p:cNvCxnSpPr>
            <a:cxnSpLocks/>
            <a:stCxn id="113" idx="3"/>
            <a:endCxn id="99" idx="1"/>
          </p:cNvCxnSpPr>
          <p:nvPr/>
        </p:nvCxnSpPr>
        <p:spPr bwMode="auto">
          <a:xfrm>
            <a:off x="6487702" y="6329112"/>
            <a:ext cx="2070188" cy="22159"/>
          </a:xfrm>
          <a:prstGeom prst="straightConnector1">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四角形: 角を丸くする 117">
            <a:extLst>
              <a:ext uri="{FF2B5EF4-FFF2-40B4-BE49-F238E27FC236}">
                <a16:creationId xmlns:a16="http://schemas.microsoft.com/office/drawing/2014/main" id="{815CC9E7-912D-0391-9973-B09EE217F301}"/>
              </a:ext>
            </a:extLst>
          </p:cNvPr>
          <p:cNvSpPr/>
          <p:nvPr/>
        </p:nvSpPr>
        <p:spPr bwMode="auto">
          <a:xfrm>
            <a:off x="1941048" y="6321977"/>
            <a:ext cx="1868965" cy="225862"/>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800" dirty="0">
                <a:latin typeface="Verdana" panose="020B0604030504040204" pitchFamily="34" charset="0"/>
                <a:ea typeface="Meiryo UI" pitchFamily="50" charset="-128"/>
                <a:cs typeface="Meiryo UI" pitchFamily="50" charset="-128"/>
              </a:rPr>
              <a:t>非課税口座開設状態となった口座に紐づく、注文を</a:t>
            </a:r>
            <a:r>
              <a:rPr kumimoji="1" lang="en-US" altLang="ja-JP" sz="800" dirty="0">
                <a:latin typeface="Verdana" panose="020B0604030504040204" pitchFamily="34" charset="0"/>
                <a:ea typeface="Meiryo UI" pitchFamily="50" charset="-128"/>
                <a:cs typeface="Meiryo UI" pitchFamily="50" charset="-128"/>
              </a:rPr>
              <a:t>MF</a:t>
            </a:r>
            <a:r>
              <a:rPr kumimoji="1" lang="ja-JP" altLang="en-US" sz="800" dirty="0">
                <a:latin typeface="Verdana" panose="020B0604030504040204" pitchFamily="34" charset="0"/>
                <a:ea typeface="Meiryo UI" pitchFamily="50" charset="-128"/>
                <a:cs typeface="Meiryo UI" pitchFamily="50" charset="-128"/>
              </a:rPr>
              <a:t>へ連携する</a:t>
            </a:r>
          </a:p>
        </p:txBody>
      </p:sp>
      <p:cxnSp>
        <p:nvCxnSpPr>
          <p:cNvPr id="119" name="コネクタ: カギ線 118">
            <a:extLst>
              <a:ext uri="{FF2B5EF4-FFF2-40B4-BE49-F238E27FC236}">
                <a16:creationId xmlns:a16="http://schemas.microsoft.com/office/drawing/2014/main" id="{7F3F4A7F-6F1C-3B1F-8185-45C73E97862D}"/>
              </a:ext>
            </a:extLst>
          </p:cNvPr>
          <p:cNvCxnSpPr>
            <a:cxnSpLocks/>
            <a:stCxn id="68" idx="1"/>
            <a:endCxn id="83" idx="0"/>
          </p:cNvCxnSpPr>
          <p:nvPr/>
        </p:nvCxnSpPr>
        <p:spPr bwMode="auto">
          <a:xfrm rot="10800000" flipV="1">
            <a:off x="924920" y="4707076"/>
            <a:ext cx="2011856" cy="594132"/>
          </a:xfrm>
          <a:prstGeom prst="bentConnector2">
            <a:avLst/>
          </a:prstGeom>
          <a:noFill/>
          <a:ln w="9525" cap="flat" cmpd="sng" algn="ctr">
            <a:solidFill>
              <a:schemeClr val="tx1"/>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983144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FB36-685F-B8E4-5F01-F1EC4E2CD4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EEE9D6-4B85-8C1A-3F75-2921EDDA51BC}"/>
              </a:ext>
            </a:extLst>
          </p:cNvPr>
          <p:cNvSpPr>
            <a:spLocks noGrp="1"/>
          </p:cNvSpPr>
          <p:nvPr>
            <p:ph type="title"/>
          </p:nvPr>
        </p:nvSpPr>
        <p:spPr/>
        <p:txBody>
          <a:bodyPr/>
          <a:lstStyle/>
          <a:p>
            <a:r>
              <a:rPr lang="ja-JP" altLang="en-US" dirty="0"/>
              <a:t>３</a:t>
            </a:r>
            <a:r>
              <a:rPr kumimoji="1" lang="ja-JP" altLang="en-US" dirty="0"/>
              <a:t>．画面</a:t>
            </a:r>
          </a:p>
        </p:txBody>
      </p:sp>
      <p:graphicFrame>
        <p:nvGraphicFramePr>
          <p:cNvPr id="3" name="表 2">
            <a:extLst>
              <a:ext uri="{FF2B5EF4-FFF2-40B4-BE49-F238E27FC236}">
                <a16:creationId xmlns:a16="http://schemas.microsoft.com/office/drawing/2014/main" id="{A5DAB568-8D8E-6767-8B5B-1A012036F534}"/>
              </a:ext>
            </a:extLst>
          </p:cNvPr>
          <p:cNvGraphicFramePr>
            <a:graphicFrameLocks noGrp="1"/>
          </p:cNvGraphicFramePr>
          <p:nvPr>
            <p:extLst>
              <p:ext uri="{D42A27DB-BD31-4B8C-83A1-F6EECF244321}">
                <p14:modId xmlns:p14="http://schemas.microsoft.com/office/powerpoint/2010/main" val="4159604872"/>
              </p:ext>
            </p:extLst>
          </p:nvPr>
        </p:nvGraphicFramePr>
        <p:xfrm>
          <a:off x="488503" y="1340758"/>
          <a:ext cx="9003159" cy="4727430"/>
        </p:xfrm>
        <a:graphic>
          <a:graphicData uri="http://schemas.openxmlformats.org/drawingml/2006/table">
            <a:tbl>
              <a:tblPr firstRow="1" bandRow="1">
                <a:tableStyleId>{93296810-A885-4BE3-A3E7-6D5BEEA58F35}</a:tableStyleId>
              </a:tblPr>
              <a:tblGrid>
                <a:gridCol w="432049">
                  <a:extLst>
                    <a:ext uri="{9D8B030D-6E8A-4147-A177-3AD203B41FA5}">
                      <a16:colId xmlns:a16="http://schemas.microsoft.com/office/drawing/2014/main" val="1777742977"/>
                    </a:ext>
                  </a:extLst>
                </a:gridCol>
                <a:gridCol w="575543">
                  <a:extLst>
                    <a:ext uri="{9D8B030D-6E8A-4147-A177-3AD203B41FA5}">
                      <a16:colId xmlns:a16="http://schemas.microsoft.com/office/drawing/2014/main" val="3295760834"/>
                    </a:ext>
                  </a:extLst>
                </a:gridCol>
                <a:gridCol w="604555">
                  <a:extLst>
                    <a:ext uri="{9D8B030D-6E8A-4147-A177-3AD203B41FA5}">
                      <a16:colId xmlns:a16="http://schemas.microsoft.com/office/drawing/2014/main" val="81306546"/>
                    </a:ext>
                  </a:extLst>
                </a:gridCol>
                <a:gridCol w="1484198">
                  <a:extLst>
                    <a:ext uri="{9D8B030D-6E8A-4147-A177-3AD203B41FA5}">
                      <a16:colId xmlns:a16="http://schemas.microsoft.com/office/drawing/2014/main" val="2154433068"/>
                    </a:ext>
                  </a:extLst>
                </a:gridCol>
                <a:gridCol w="5031556">
                  <a:extLst>
                    <a:ext uri="{9D8B030D-6E8A-4147-A177-3AD203B41FA5}">
                      <a16:colId xmlns:a16="http://schemas.microsoft.com/office/drawing/2014/main" val="3092326056"/>
                    </a:ext>
                  </a:extLst>
                </a:gridCol>
                <a:gridCol w="875258">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a:t>
                      </a:r>
                      <a:endParaRPr kumimoji="1" lang="en-US" altLang="ja-JP" sz="1200" dirty="0"/>
                    </a:p>
                    <a:p>
                      <a:r>
                        <a:rPr kumimoji="1" lang="ja-JP" altLang="en-US" sz="1200" dirty="0"/>
                        <a:t>テム</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新規</a:t>
                      </a:r>
                      <a:r>
                        <a:rPr kumimoji="1" lang="en-US" altLang="ja-JP" sz="1200" dirty="0"/>
                        <a:t>/</a:t>
                      </a:r>
                      <a:r>
                        <a:rPr kumimoji="1" lang="ja-JP" altLang="en-US" sz="1200" dirty="0"/>
                        <a:t>変更</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廃止</a:t>
                      </a:r>
                    </a:p>
                  </a:txBody>
                  <a:tcPr/>
                </a:tc>
                <a:tc>
                  <a:txBody>
                    <a:bodyPr/>
                    <a:lstStyle/>
                    <a:p>
                      <a:r>
                        <a:rPr kumimoji="1" lang="ja-JP" altLang="en-US" sz="1200" dirty="0"/>
                        <a:t>画面名</a:t>
                      </a:r>
                    </a:p>
                  </a:txBody>
                  <a:tcPr/>
                </a:tc>
                <a:tc>
                  <a:txBody>
                    <a:bodyPr/>
                    <a:lstStyle/>
                    <a:p>
                      <a:r>
                        <a:rPr kumimoji="1" lang="ja-JP" altLang="en-US" sz="1200" dirty="0"/>
                        <a:t>画面要件</a:t>
                      </a:r>
                      <a:endParaRPr kumimoji="1" lang="en-US" altLang="ja-JP" sz="1200" dirty="0"/>
                    </a:p>
                    <a:p>
                      <a:r>
                        <a:rPr kumimoji="1" lang="ja-JP" altLang="en-US" sz="1200" dirty="0"/>
                        <a:t>（表示するべき内容など）</a:t>
                      </a:r>
                    </a:p>
                  </a:txBody>
                  <a:tcPr/>
                </a:tc>
                <a:tc>
                  <a:txBody>
                    <a:bodyPr/>
                    <a:lstStyle/>
                    <a:p>
                      <a:r>
                        <a:rPr kumimoji="1" lang="ja-JP" altLang="en-US" sz="1200" dirty="0"/>
                        <a:t>該当要件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変更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進捗状況一覧</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・検索条件に「</a:t>
                      </a:r>
                      <a:r>
                        <a:rPr kumimoji="1" lang="ja-JP" altLang="en-US" sz="1200" kern="1200" dirty="0">
                          <a:solidFill>
                            <a:sysClr val="windowText" lastClr="000000"/>
                          </a:solidFill>
                        </a:rPr>
                        <a:t>バッチ失効</a:t>
                      </a:r>
                      <a:r>
                        <a:rPr kumimoji="1" lang="ja-JP" altLang="en-US" sz="1200" dirty="0">
                          <a:solidFill>
                            <a:schemeClr val="tx1"/>
                          </a:solidFill>
                        </a:rPr>
                        <a:t>」を追加する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・チェックボックス名は「</a:t>
                      </a:r>
                      <a:r>
                        <a:rPr kumimoji="1" lang="ja-JP" altLang="en-US" sz="1200" kern="1200" dirty="0">
                          <a:solidFill>
                            <a:sysClr val="windowText" lastClr="000000"/>
                          </a:solidFill>
                        </a:rPr>
                        <a:t>失効</a:t>
                      </a:r>
                      <a:r>
                        <a:rPr kumimoji="1" lang="ja-JP" altLang="en-US" sz="1200" dirty="0">
                          <a:solidFill>
                            <a:schemeClr val="tx1"/>
                          </a:solidFill>
                        </a:rPr>
                        <a:t>」とする</a:t>
                      </a:r>
                    </a:p>
                  </a:txBody>
                  <a:tcPr/>
                </a:tc>
                <a:tc>
                  <a:txBody>
                    <a:bodyPr/>
                    <a:lstStyle/>
                    <a:p>
                      <a:r>
                        <a:rPr kumimoji="1" lang="en-US" altLang="ja-JP" sz="1200" dirty="0">
                          <a:solidFill>
                            <a:srgbClr val="000000"/>
                          </a:solidFill>
                        </a:rPr>
                        <a:t>5</a:t>
                      </a:r>
                      <a:endParaRPr kumimoji="1" lang="ja-JP" altLang="en-US" sz="1200" dirty="0">
                        <a:solidFill>
                          <a:srgbClr val="000000"/>
                        </a:solidFill>
                      </a:endParaRPr>
                    </a:p>
                  </a:txBody>
                  <a:tcPr/>
                </a:tc>
                <a:extLst>
                  <a:ext uri="{0D108BD9-81ED-4DB2-BD59-A6C34878D82A}">
                    <a16:rowId xmlns:a16="http://schemas.microsoft.com/office/drawing/2014/main" val="1382433136"/>
                  </a:ext>
                </a:extLst>
              </a:tr>
              <a:tr h="448050">
                <a:tc>
                  <a:txBody>
                    <a:bodyPr/>
                    <a:lstStyle/>
                    <a:p>
                      <a:r>
                        <a:rPr kumimoji="1" lang="en-US" altLang="ja-JP" sz="1200" dirty="0">
                          <a:solidFill>
                            <a:srgbClr val="000000"/>
                          </a:solidFill>
                        </a:rPr>
                        <a:t>2</a:t>
                      </a:r>
                      <a:endParaRPr kumimoji="1" lang="ja-JP" altLang="en-US" sz="1200" dirty="0">
                        <a:solidFill>
                          <a:srgbClr val="000000"/>
                        </a:solidFill>
                      </a:endParaRPr>
                    </a:p>
                  </a:txBody>
                  <a:tcPr/>
                </a:tc>
                <a:tc>
                  <a:txBody>
                    <a:bodyPr/>
                    <a:lstStyle/>
                    <a:p>
                      <a:r>
                        <a:rPr kumimoji="1" lang="en-US" altLang="ja-JP" sz="1200" dirty="0">
                          <a:solidFill>
                            <a:srgbClr val="000000"/>
                          </a:solidFill>
                        </a:rPr>
                        <a:t>FR</a:t>
                      </a:r>
                      <a:endParaRPr kumimoji="1" lang="ja-JP" altLang="en-US" sz="1200" dirty="0">
                        <a:solidFill>
                          <a:srgbClr val="000000"/>
                        </a:solidFill>
                      </a:endParaRPr>
                    </a:p>
                  </a:txBody>
                  <a:tcPr/>
                </a:tc>
                <a:tc>
                  <a:txBody>
                    <a:bodyPr/>
                    <a:lstStyle/>
                    <a:p>
                      <a:r>
                        <a:rPr kumimoji="1" lang="ja-JP" altLang="en-US" sz="1200" dirty="0">
                          <a:solidFill>
                            <a:srgbClr val="000000"/>
                          </a:solidFill>
                        </a:rPr>
                        <a:t>変更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rgbClr val="000000"/>
                          </a:solidFill>
                        </a:rPr>
                        <a:t>本部検印</a:t>
                      </a:r>
                      <a:r>
                        <a:rPr kumimoji="1" lang="en-US" altLang="ja-JP" sz="1200" dirty="0">
                          <a:solidFill>
                            <a:srgbClr val="000000"/>
                          </a:solidFill>
                        </a:rPr>
                        <a:t>/</a:t>
                      </a:r>
                      <a:r>
                        <a:rPr kumimoji="1" lang="ja-JP" altLang="en-US" sz="1200" dirty="0">
                          <a:solidFill>
                            <a:srgbClr val="000000"/>
                          </a:solidFill>
                        </a:rPr>
                        <a:t>営業店検印</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rgbClr val="000000"/>
                          </a:solidFill>
                        </a:rPr>
                        <a:t>・非課税口座開設に紐づく先日付</a:t>
                      </a:r>
                      <a:r>
                        <a:rPr kumimoji="1" lang="en-US" altLang="ja-JP" sz="1200" dirty="0">
                          <a:solidFill>
                            <a:srgbClr val="000000"/>
                          </a:solidFill>
                        </a:rPr>
                        <a:t>NISA</a:t>
                      </a:r>
                      <a:r>
                        <a:rPr kumimoji="1" lang="ja-JP" altLang="en-US" sz="1200" dirty="0">
                          <a:solidFill>
                            <a:srgbClr val="000000"/>
                          </a:solidFill>
                        </a:rPr>
                        <a:t>注文が存在する場合は、メッセージを表示する</a:t>
                      </a:r>
                      <a:endParaRPr kumimoji="1" lang="ja-JP" altLang="en-US" sz="1200" dirty="0">
                        <a:solidFill>
                          <a:srgbClr val="FF0000"/>
                        </a:solidFill>
                      </a:endParaRPr>
                    </a:p>
                  </a:txBody>
                  <a:tcPr/>
                </a:tc>
                <a:tc>
                  <a:txBody>
                    <a:bodyPr/>
                    <a:lstStyle/>
                    <a:p>
                      <a:r>
                        <a:rPr kumimoji="1" lang="en-US" altLang="ja-JP" sz="1200" dirty="0">
                          <a:solidFill>
                            <a:srgbClr val="000000"/>
                          </a:solidFill>
                        </a:rPr>
                        <a:t>1</a:t>
                      </a:r>
                      <a:endParaRPr kumimoji="1" lang="ja-JP" altLang="en-US" sz="1200" dirty="0">
                        <a:solidFill>
                          <a:srgbClr val="000000"/>
                        </a:solidFill>
                      </a:endParaRPr>
                    </a:p>
                  </a:txBody>
                  <a:tcPr/>
                </a:tc>
                <a:extLst>
                  <a:ext uri="{0D108BD9-81ED-4DB2-BD59-A6C34878D82A}">
                    <a16:rowId xmlns:a16="http://schemas.microsoft.com/office/drawing/2014/main" val="2695248803"/>
                  </a:ext>
                </a:extLst>
              </a:tr>
              <a:tr h="448050">
                <a:tc>
                  <a:txBody>
                    <a:bodyPr/>
                    <a:lstStyle/>
                    <a:p>
                      <a:r>
                        <a:rPr kumimoji="1" lang="en-US" altLang="ja-JP" sz="1200" dirty="0">
                          <a:solidFill>
                            <a:schemeClr val="tx1"/>
                          </a:solidFill>
                        </a:rPr>
                        <a:t>3</a:t>
                      </a:r>
                      <a:endParaRPr kumimoji="1" lang="ja-JP" altLang="en-US" sz="1200" dirty="0">
                        <a:solidFill>
                          <a:schemeClr val="tx1"/>
                        </a:solidFill>
                      </a:endParaRPr>
                    </a:p>
                  </a:txBody>
                  <a:tcPr/>
                </a:tc>
                <a:tc>
                  <a:txBody>
                    <a:bodyPr/>
                    <a:lstStyle/>
                    <a:p>
                      <a:r>
                        <a:rPr kumimoji="1" lang="en-US" altLang="ja-JP" sz="1200" dirty="0">
                          <a:solidFill>
                            <a:schemeClr val="tx1"/>
                          </a:solidFill>
                        </a:rPr>
                        <a:t>FF</a:t>
                      </a:r>
                    </a:p>
                  </a:txBody>
                  <a:tcPr/>
                </a:tc>
                <a:tc>
                  <a:txBody>
                    <a:bodyPr/>
                    <a:lstStyle/>
                    <a:p>
                      <a:r>
                        <a:rPr kumimoji="1" lang="ja-JP" altLang="en-US" sz="1200" dirty="0">
                          <a:solidFill>
                            <a:schemeClr val="tx1"/>
                          </a:solidFill>
                        </a:rPr>
                        <a:t>変更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申込状況一覧</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・事務失効により取消された</a:t>
                      </a:r>
                      <a:r>
                        <a:rPr kumimoji="1" lang="en-US" altLang="ja-JP" sz="1200" dirty="0">
                          <a:solidFill>
                            <a:schemeClr val="tx1"/>
                          </a:solidFill>
                        </a:rPr>
                        <a:t>NISA</a:t>
                      </a:r>
                      <a:r>
                        <a:rPr kumimoji="1" lang="ja-JP" altLang="en-US" sz="1200" dirty="0">
                          <a:solidFill>
                            <a:schemeClr val="tx1"/>
                          </a:solidFill>
                        </a:rPr>
                        <a:t>先日付注文の場合、取引状況に「失効」と表示する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endParaRPr kumimoji="1" lang="ja-JP" altLang="en-US" sz="1200" dirty="0">
                        <a:solidFill>
                          <a:schemeClr val="tx1"/>
                        </a:solidFill>
                      </a:endParaRPr>
                    </a:p>
                  </a:txBody>
                  <a:tcPr/>
                </a:tc>
                <a:extLst>
                  <a:ext uri="{0D108BD9-81ED-4DB2-BD59-A6C34878D82A}">
                    <a16:rowId xmlns:a16="http://schemas.microsoft.com/office/drawing/2014/main" val="2042078748"/>
                  </a:ext>
                </a:extLst>
              </a:tr>
              <a:tr h="448050">
                <a:tc>
                  <a:txBody>
                    <a:bodyPr/>
                    <a:lstStyle/>
                    <a:p>
                      <a:r>
                        <a:rPr kumimoji="1" lang="en-US" altLang="ja-JP" sz="1200" dirty="0">
                          <a:solidFill>
                            <a:schemeClr val="tx1"/>
                          </a:solidFill>
                        </a:rPr>
                        <a:t>4</a:t>
                      </a:r>
                      <a:endParaRPr kumimoji="1" lang="ja-JP" altLang="en-US" sz="1200" dirty="0">
                        <a:solidFill>
                          <a:schemeClr val="tx1"/>
                        </a:solidFill>
                      </a:endParaRPr>
                    </a:p>
                  </a:txBody>
                  <a:tcPr/>
                </a:tc>
                <a:tc>
                  <a:txBody>
                    <a:bodyPr/>
                    <a:lstStyle/>
                    <a:p>
                      <a:r>
                        <a:rPr kumimoji="1" lang="en-US" altLang="ja-JP" sz="1200" dirty="0">
                          <a:solidFill>
                            <a:schemeClr val="tx1"/>
                          </a:solidFill>
                        </a:rPr>
                        <a:t>FF</a:t>
                      </a:r>
                    </a:p>
                  </a:txBody>
                  <a:tcPr/>
                </a:tc>
                <a:tc>
                  <a:txBody>
                    <a:bodyPr/>
                    <a:lstStyle/>
                    <a:p>
                      <a:r>
                        <a:rPr kumimoji="1" lang="ja-JP" altLang="en-US" sz="1200" dirty="0">
                          <a:solidFill>
                            <a:schemeClr val="tx1"/>
                          </a:solidFill>
                        </a:rPr>
                        <a:t>変更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申込状況詳細</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・事務失効により取消された</a:t>
                      </a:r>
                      <a:r>
                        <a:rPr kumimoji="1" lang="en-US" altLang="ja-JP" sz="1200" dirty="0">
                          <a:solidFill>
                            <a:schemeClr val="tx1"/>
                          </a:solidFill>
                        </a:rPr>
                        <a:t>NISA</a:t>
                      </a:r>
                      <a:r>
                        <a:rPr kumimoji="1" lang="ja-JP" altLang="en-US" sz="1200" dirty="0">
                          <a:solidFill>
                            <a:schemeClr val="tx1"/>
                          </a:solidFill>
                        </a:rPr>
                        <a:t>先日付注文の場合、取引状況に「失効」、取消受付日時に「ー」と表示する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endParaRPr kumimoji="1" lang="ja-JP" altLang="en-US" sz="1200" dirty="0">
                        <a:solidFill>
                          <a:schemeClr val="tx1"/>
                        </a:solidFill>
                      </a:endParaRPr>
                    </a:p>
                  </a:txBody>
                  <a:tcPr/>
                </a:tc>
                <a:extLst>
                  <a:ext uri="{0D108BD9-81ED-4DB2-BD59-A6C34878D82A}">
                    <a16:rowId xmlns:a16="http://schemas.microsoft.com/office/drawing/2014/main" val="1871727349"/>
                  </a:ext>
                </a:extLst>
              </a:tr>
              <a:tr h="448050">
                <a:tc>
                  <a:txBody>
                    <a:bodyPr/>
                    <a:lstStyle/>
                    <a:p>
                      <a:r>
                        <a:rPr kumimoji="1" lang="en-US" altLang="ja-JP" sz="1200" dirty="0">
                          <a:solidFill>
                            <a:schemeClr val="tx1"/>
                          </a:solidFill>
                        </a:rPr>
                        <a:t>5</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投信残高注文</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・事務失効により取消された</a:t>
                      </a:r>
                      <a:r>
                        <a:rPr kumimoji="1" lang="en-US" altLang="ja-JP" sz="1200" dirty="0">
                          <a:solidFill>
                            <a:schemeClr val="tx1"/>
                          </a:solidFill>
                        </a:rPr>
                        <a:t>NISA</a:t>
                      </a:r>
                      <a:r>
                        <a:rPr kumimoji="1" lang="ja-JP" altLang="en-US" sz="1200" dirty="0">
                          <a:solidFill>
                            <a:schemeClr val="tx1"/>
                          </a:solidFill>
                        </a:rPr>
                        <a:t>先日付注文の場合、取引状況に「失効」と表示する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endParaRPr kumimoji="1" lang="ja-JP" altLang="en-US" sz="1200" dirty="0">
                        <a:solidFill>
                          <a:schemeClr val="tx1"/>
                        </a:solidFill>
                      </a:endParaRPr>
                    </a:p>
                  </a:txBody>
                  <a:tcPr/>
                </a:tc>
                <a:extLst>
                  <a:ext uri="{0D108BD9-81ED-4DB2-BD59-A6C34878D82A}">
                    <a16:rowId xmlns:a16="http://schemas.microsoft.com/office/drawing/2014/main" val="2545511512"/>
                  </a:ext>
                </a:extLst>
              </a:tr>
              <a:tr h="448050">
                <a:tc>
                  <a:txBody>
                    <a:bodyPr/>
                    <a:lstStyle/>
                    <a:p>
                      <a:r>
                        <a:rPr kumimoji="1" lang="en-US" altLang="ja-JP" sz="1200" dirty="0">
                          <a:solidFill>
                            <a:schemeClr val="tx1"/>
                          </a:solidFill>
                        </a:rPr>
                        <a:t>6</a:t>
                      </a:r>
                      <a:endParaRPr kumimoji="1" lang="ja-JP" altLang="en-US" sz="1200" dirty="0">
                        <a:solidFill>
                          <a:schemeClr val="tx1"/>
                        </a:solidFill>
                      </a:endParaRPr>
                    </a:p>
                  </a:txBody>
                  <a:tcPr/>
                </a:tc>
                <a:tc>
                  <a:txBody>
                    <a:bodyPr/>
                    <a:lstStyle/>
                    <a:p>
                      <a:r>
                        <a:rPr kumimoji="1" lang="en-US" altLang="ja-JP" sz="1200" dirty="0">
                          <a:solidFill>
                            <a:schemeClr val="tx1"/>
                          </a:solidFill>
                        </a:rPr>
                        <a:t>FR</a:t>
                      </a:r>
                      <a:endParaRPr kumimoji="1" lang="ja-JP" altLang="en-US" sz="1200" dirty="0">
                        <a:solidFill>
                          <a:schemeClr val="tx1"/>
                        </a:solidFill>
                      </a:endParaRP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投信伝票確認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rPr>
                        <a:t>・事務失効により取消された</a:t>
                      </a:r>
                      <a:r>
                        <a:rPr kumimoji="1" lang="en-US" altLang="ja-JP" sz="1200" dirty="0">
                          <a:solidFill>
                            <a:schemeClr val="tx1"/>
                          </a:solidFill>
                        </a:rPr>
                        <a:t>NISA</a:t>
                      </a:r>
                      <a:r>
                        <a:rPr kumimoji="1" lang="ja-JP" altLang="en-US" sz="1200" dirty="0">
                          <a:solidFill>
                            <a:schemeClr val="tx1"/>
                          </a:solidFill>
                        </a:rPr>
                        <a:t>先日付注文の場合、取引状況に「失効」と表示する</a:t>
                      </a:r>
                      <a:endParaRPr kumimoji="1" lang="en-US" altLang="ja-JP" sz="1200" dirty="0">
                        <a:solidFill>
                          <a:schemeClr val="tx1"/>
                        </a:solidFill>
                      </a:endParaRPr>
                    </a:p>
                  </a:txBody>
                  <a:tcPr/>
                </a:tc>
                <a:tc>
                  <a:txBody>
                    <a:bodyPr/>
                    <a:lstStyle/>
                    <a:p>
                      <a:r>
                        <a:rPr kumimoji="1" lang="en-US" altLang="ja-JP" sz="1200" dirty="0">
                          <a:solidFill>
                            <a:schemeClr val="tx1"/>
                          </a:solidFill>
                        </a:rPr>
                        <a:t>7</a:t>
                      </a:r>
                      <a:endParaRPr kumimoji="1" lang="ja-JP" altLang="en-US" sz="1200" dirty="0">
                        <a:solidFill>
                          <a:schemeClr val="tx1"/>
                        </a:solidFill>
                      </a:endParaRPr>
                    </a:p>
                  </a:txBody>
                  <a:tcPr/>
                </a:tc>
                <a:extLst>
                  <a:ext uri="{0D108BD9-81ED-4DB2-BD59-A6C34878D82A}">
                    <a16:rowId xmlns:a16="http://schemas.microsoft.com/office/drawing/2014/main" val="1152325822"/>
                  </a:ext>
                </a:extLst>
              </a:tr>
              <a:tr h="448050">
                <a:tc>
                  <a:txBody>
                    <a:bodyPr/>
                    <a:lstStyle/>
                    <a:p>
                      <a:r>
                        <a:rPr kumimoji="1" lang="en-US" altLang="ja-JP" sz="1200" dirty="0"/>
                        <a:t>7</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646026994"/>
                  </a:ext>
                </a:extLst>
              </a:tr>
              <a:tr h="448050">
                <a:tc>
                  <a:txBody>
                    <a:bodyPr/>
                    <a:lstStyle/>
                    <a:p>
                      <a:r>
                        <a:rPr kumimoji="1" lang="en-US" altLang="ja-JP" sz="1200" dirty="0"/>
                        <a:t>8</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488984700"/>
                  </a:ext>
                </a:extLst>
              </a:tr>
              <a:tr h="448050">
                <a:tc>
                  <a:txBody>
                    <a:bodyPr/>
                    <a:lstStyle/>
                    <a:p>
                      <a:r>
                        <a:rPr kumimoji="1" lang="en-US" altLang="ja-JP" sz="1200" dirty="0"/>
                        <a:t>9</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166400732"/>
                  </a:ext>
                </a:extLst>
              </a:tr>
            </a:tbl>
          </a:graphicData>
        </a:graphic>
      </p:graphicFrame>
      <p:sp>
        <p:nvSpPr>
          <p:cNvPr id="4" name="Text Box 16">
            <a:extLst>
              <a:ext uri="{FF2B5EF4-FFF2-40B4-BE49-F238E27FC236}">
                <a16:creationId xmlns:a16="http://schemas.microsoft.com/office/drawing/2014/main" id="{FADCCF9E-350F-93A7-0B2D-248E6D97084B}"/>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　画面名称、新規</a:t>
            </a:r>
            <a:r>
              <a:rPr lang="en-US" altLang="ja-JP" sz="1100" b="0" dirty="0">
                <a:solidFill>
                  <a:srgbClr val="000000"/>
                </a:solidFill>
                <a:latin typeface="ＭＳ ゴシック" panose="020B0609070205080204" pitchFamily="49" charset="-128"/>
                <a:ea typeface="ＭＳ ゴシック" panose="020B0609070205080204" pitchFamily="49" charset="-128"/>
              </a:rPr>
              <a:t>/</a:t>
            </a:r>
            <a:r>
              <a:rPr lang="ja-JP" altLang="en-US" sz="1100" b="0" dirty="0">
                <a:solidFill>
                  <a:srgbClr val="000000"/>
                </a:solidFill>
                <a:latin typeface="ＭＳ ゴシック" panose="020B0609070205080204" pitchFamily="49" charset="-128"/>
                <a:ea typeface="ＭＳ ゴシック" panose="020B0609070205080204" pitchFamily="49" charset="-128"/>
              </a:rPr>
              <a:t>変更</a:t>
            </a:r>
            <a:r>
              <a:rPr lang="en-US" altLang="ja-JP" sz="1100" b="0" dirty="0">
                <a:solidFill>
                  <a:srgbClr val="000000"/>
                </a:solidFill>
                <a:latin typeface="ＭＳ ゴシック" panose="020B0609070205080204" pitchFamily="49" charset="-128"/>
                <a:ea typeface="ＭＳ ゴシック" panose="020B0609070205080204" pitchFamily="49" charset="-128"/>
              </a:rPr>
              <a:t>/</a:t>
            </a:r>
            <a:r>
              <a:rPr lang="ja-JP" altLang="en-US" sz="1100" b="0" dirty="0">
                <a:solidFill>
                  <a:srgbClr val="000000"/>
                </a:solidFill>
                <a:latin typeface="ＭＳ ゴシック" panose="020B0609070205080204" pitchFamily="49" charset="-128"/>
                <a:ea typeface="ＭＳ ゴシック" panose="020B0609070205080204" pitchFamily="49" charset="-128"/>
              </a:rPr>
              <a:t>廃止、画面要件を記述する。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102388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8FD36-AFD2-232A-5354-8B48B146E5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5E7934-9432-CA95-402C-B53CEF4A2C89}"/>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2EFE44BA-1196-F980-7C86-EBE7C95F2748}"/>
              </a:ext>
            </a:extLst>
          </p:cNvPr>
          <p:cNvSpPr txBox="1">
            <a:spLocks noChangeArrowheads="1"/>
          </p:cNvSpPr>
          <p:nvPr/>
        </p:nvSpPr>
        <p:spPr bwMode="auto">
          <a:xfrm>
            <a:off x="56456" y="692696"/>
            <a:ext cx="9645650" cy="54303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＜画面遷移＞</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どの画面からどの画面に遷移できるのか、がわかるように記載する。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
        <p:nvSpPr>
          <p:cNvPr id="33" name="テキスト ボックス 32">
            <a:extLst>
              <a:ext uri="{FF2B5EF4-FFF2-40B4-BE49-F238E27FC236}">
                <a16:creationId xmlns:a16="http://schemas.microsoft.com/office/drawing/2014/main" id="{19A455FE-8052-FBD0-DBA9-01D7C9C70895}"/>
              </a:ext>
            </a:extLst>
          </p:cNvPr>
          <p:cNvSpPr txBox="1"/>
          <p:nvPr/>
        </p:nvSpPr>
        <p:spPr>
          <a:xfrm>
            <a:off x="560512" y="1556792"/>
            <a:ext cx="4951562" cy="369332"/>
          </a:xfrm>
          <a:prstGeom prst="rect">
            <a:avLst/>
          </a:prstGeom>
          <a:noFill/>
        </p:spPr>
        <p:txBody>
          <a:bodyPr wrap="square">
            <a:spAutoFit/>
          </a:bodyPr>
          <a:lstStyle/>
          <a:p>
            <a:r>
              <a:rPr lang="ja-JP" altLang="en-US" sz="1800" dirty="0">
                <a:latin typeface="ＭＳ ゴシック" panose="020B0609070205080204" pitchFamily="49" charset="-128"/>
                <a:ea typeface="ＭＳ ゴシック" panose="020B0609070205080204" pitchFamily="49" charset="-128"/>
                <a:cs typeface="Meiryo UI" panose="020B0604030504040204" pitchFamily="50" charset="-128"/>
              </a:rPr>
              <a:t>記載事項なし</a:t>
            </a:r>
            <a:endParaRPr kumimoji="1" lang="ja-JP" altLang="en-US" sz="1800" dirty="0"/>
          </a:p>
        </p:txBody>
      </p:sp>
    </p:spTree>
    <p:extLst>
      <p:ext uri="{BB962C8B-B14F-4D97-AF65-F5344CB8AC3E}">
        <p14:creationId xmlns:p14="http://schemas.microsoft.com/office/powerpoint/2010/main" val="19888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41B4C-E568-8ACC-380B-447648D513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C2CA2-07E0-A409-C8A5-6E4DD44F0CBF}"/>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4A09038F-F190-41F4-D8DA-038590508CF2}"/>
              </a:ext>
            </a:extLst>
          </p:cNvPr>
          <p:cNvSpPr txBox="1">
            <a:spLocks noChangeArrowheads="1"/>
          </p:cNvSpPr>
          <p:nvPr/>
        </p:nvSpPr>
        <p:spPr bwMode="auto">
          <a:xfrm>
            <a:off x="56456" y="692696"/>
            <a:ext cx="9645650" cy="83362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進捗状況一覧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　</a:t>
            </a:r>
            <a:r>
              <a:rPr lang="ja-JP" altLang="en-US" sz="1050" b="0" dirty="0">
                <a:solidFill>
                  <a:srgbClr val="000000"/>
                </a:solidFill>
                <a:latin typeface="ＭＳ ゴシック" panose="020B0609070205080204" pitchFamily="49" charset="-128"/>
                <a:ea typeface="ＭＳ ゴシック" panose="020B0609070205080204" pitchFamily="49" charset="-128"/>
              </a:rPr>
              <a:t>会社条件</a:t>
            </a:r>
            <a:r>
              <a:rPr lang="en-US" altLang="ja-JP" sz="1050" b="0" dirty="0">
                <a:solidFill>
                  <a:srgbClr val="000000"/>
                </a:solidFill>
                <a:latin typeface="ＭＳ ゴシック" panose="020B0609070205080204" pitchFamily="49" charset="-128"/>
                <a:ea typeface="ＭＳ ゴシック" panose="020B0609070205080204" pitchFamily="49" charset="-128"/>
              </a:rPr>
              <a:t>250(</a:t>
            </a:r>
            <a:r>
              <a:rPr lang="en-US" altLang="ja-JP" sz="1050" b="0" dirty="0" err="1">
                <a:solidFill>
                  <a:srgbClr val="000000"/>
                </a:solidFill>
                <a:latin typeface="ＭＳ ゴシック" panose="020B0609070205080204" pitchFamily="49" charset="-128"/>
                <a:ea typeface="ＭＳ ゴシック" panose="020B0609070205080204" pitchFamily="49" charset="-128"/>
              </a:rPr>
              <a:t>MarkAuto</a:t>
            </a:r>
            <a:r>
              <a:rPr lang="ja-JP" altLang="en-US" sz="1050" b="0" dirty="0">
                <a:solidFill>
                  <a:srgbClr val="000000"/>
                </a:solidFill>
                <a:latin typeface="ＭＳ ゴシック" panose="020B0609070205080204" pitchFamily="49" charset="-128"/>
                <a:ea typeface="ＭＳ ゴシック" panose="020B0609070205080204" pitchFamily="49" charset="-128"/>
              </a:rPr>
              <a:t>廃止有無フラグ</a:t>
            </a:r>
            <a:r>
              <a:rPr lang="en-US" altLang="ja-JP" sz="1050" b="0" dirty="0">
                <a:solidFill>
                  <a:srgbClr val="000000"/>
                </a:solidFill>
                <a:latin typeface="ＭＳ ゴシック" panose="020B0609070205080204" pitchFamily="49" charset="-128"/>
                <a:ea typeface="ＭＳ ゴシック" panose="020B0609070205080204" pitchFamily="49" charset="-128"/>
              </a:rPr>
              <a:t>)</a:t>
            </a:r>
            <a:r>
              <a:rPr lang="ja-JP" altLang="en-US" sz="1050" b="0" dirty="0">
                <a:solidFill>
                  <a:srgbClr val="000000"/>
                </a:solidFill>
                <a:latin typeface="ＭＳ ゴシック" panose="020B0609070205080204" pitchFamily="49" charset="-128"/>
                <a:ea typeface="ＭＳ ゴシック" panose="020B0609070205080204" pitchFamily="49" charset="-128"/>
              </a:rPr>
              <a:t>が</a:t>
            </a:r>
            <a:r>
              <a:rPr lang="en-US" altLang="ja-JP" sz="1050" b="0" dirty="0">
                <a:solidFill>
                  <a:srgbClr val="000000"/>
                </a:solidFill>
                <a:latin typeface="ＭＳ ゴシック" panose="020B0609070205080204" pitchFamily="49" charset="-128"/>
                <a:ea typeface="ＭＳ ゴシック" panose="020B0609070205080204" pitchFamily="49" charset="-128"/>
              </a:rPr>
              <a:t>0</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pic>
        <p:nvPicPr>
          <p:cNvPr id="6" name="図 5">
            <a:extLst>
              <a:ext uri="{FF2B5EF4-FFF2-40B4-BE49-F238E27FC236}">
                <a16:creationId xmlns:a16="http://schemas.microsoft.com/office/drawing/2014/main" id="{7198A512-AD37-BFF0-3989-E31EBC75148B}"/>
              </a:ext>
            </a:extLst>
          </p:cNvPr>
          <p:cNvPicPr>
            <a:picLocks noChangeAspect="1"/>
          </p:cNvPicPr>
          <p:nvPr/>
        </p:nvPicPr>
        <p:blipFill>
          <a:blip r:embed="rId2"/>
          <a:stretch>
            <a:fillRect/>
          </a:stretch>
        </p:blipFill>
        <p:spPr>
          <a:xfrm>
            <a:off x="2864768" y="3014554"/>
            <a:ext cx="1058930" cy="209689"/>
          </a:xfrm>
          <a:prstGeom prst="rect">
            <a:avLst/>
          </a:prstGeom>
        </p:spPr>
      </p:pic>
      <p:sp>
        <p:nvSpPr>
          <p:cNvPr id="3" name="Text Box 16">
            <a:extLst>
              <a:ext uri="{FF2B5EF4-FFF2-40B4-BE49-F238E27FC236}">
                <a16:creationId xmlns:a16="http://schemas.microsoft.com/office/drawing/2014/main" id="{251BFA3F-37E3-9E3E-747D-4D8DA9D9FCA4}"/>
              </a:ext>
            </a:extLst>
          </p:cNvPr>
          <p:cNvSpPr txBox="1">
            <a:spLocks noChangeArrowheads="1"/>
          </p:cNvSpPr>
          <p:nvPr/>
        </p:nvSpPr>
        <p:spPr bwMode="auto">
          <a:xfrm>
            <a:off x="4878142" y="1209760"/>
            <a:ext cx="4106167" cy="3165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　</a:t>
            </a:r>
            <a:r>
              <a:rPr lang="ja-JP" altLang="en-US" sz="1050" b="0" dirty="0">
                <a:solidFill>
                  <a:srgbClr val="000000"/>
                </a:solidFill>
                <a:latin typeface="ＭＳ ゴシック" panose="020B0609070205080204" pitchFamily="49" charset="-128"/>
                <a:ea typeface="ＭＳ ゴシック" panose="020B0609070205080204" pitchFamily="49" charset="-128"/>
              </a:rPr>
              <a:t>会社条件</a:t>
            </a:r>
            <a:r>
              <a:rPr lang="en-US" altLang="ja-JP" sz="1050" b="0" dirty="0">
                <a:solidFill>
                  <a:srgbClr val="000000"/>
                </a:solidFill>
                <a:latin typeface="ＭＳ ゴシック" panose="020B0609070205080204" pitchFamily="49" charset="-128"/>
                <a:ea typeface="ＭＳ ゴシック" panose="020B0609070205080204" pitchFamily="49" charset="-128"/>
              </a:rPr>
              <a:t>250(</a:t>
            </a:r>
            <a:r>
              <a:rPr lang="en-US" altLang="ja-JP" sz="1050" b="0" dirty="0" err="1">
                <a:solidFill>
                  <a:srgbClr val="000000"/>
                </a:solidFill>
                <a:latin typeface="ＭＳ ゴシック" panose="020B0609070205080204" pitchFamily="49" charset="-128"/>
                <a:ea typeface="ＭＳ ゴシック" panose="020B0609070205080204" pitchFamily="49" charset="-128"/>
              </a:rPr>
              <a:t>MarkAuto</a:t>
            </a:r>
            <a:r>
              <a:rPr lang="ja-JP" altLang="en-US" sz="1050" b="0" dirty="0">
                <a:solidFill>
                  <a:srgbClr val="000000"/>
                </a:solidFill>
                <a:latin typeface="ＭＳ ゴシック" panose="020B0609070205080204" pitchFamily="49" charset="-128"/>
                <a:ea typeface="ＭＳ ゴシック" panose="020B0609070205080204" pitchFamily="49" charset="-128"/>
              </a:rPr>
              <a:t>廃止有無フラグ</a:t>
            </a:r>
            <a:r>
              <a:rPr lang="en-US" altLang="ja-JP" sz="1050" b="0" dirty="0">
                <a:solidFill>
                  <a:srgbClr val="000000"/>
                </a:solidFill>
                <a:latin typeface="ＭＳ ゴシック" panose="020B0609070205080204" pitchFamily="49" charset="-128"/>
                <a:ea typeface="ＭＳ ゴシック" panose="020B0609070205080204" pitchFamily="49" charset="-128"/>
              </a:rPr>
              <a:t>)</a:t>
            </a:r>
            <a:r>
              <a:rPr lang="ja-JP" altLang="en-US" sz="1050" b="0" dirty="0">
                <a:solidFill>
                  <a:srgbClr val="000000"/>
                </a:solidFill>
                <a:latin typeface="ＭＳ ゴシック" panose="020B0609070205080204" pitchFamily="49" charset="-128"/>
                <a:ea typeface="ＭＳ ゴシック" panose="020B0609070205080204" pitchFamily="49" charset="-128"/>
              </a:rPr>
              <a:t>が</a:t>
            </a:r>
            <a:r>
              <a:rPr lang="en-US" altLang="ja-JP" sz="1050" b="0" dirty="0">
                <a:solidFill>
                  <a:srgbClr val="000000"/>
                </a:solidFill>
                <a:latin typeface="ＭＳ ゴシック" panose="020B0609070205080204" pitchFamily="49" charset="-128"/>
                <a:ea typeface="ＭＳ ゴシック" panose="020B0609070205080204" pitchFamily="49" charset="-128"/>
              </a:rPr>
              <a:t>1</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sp>
        <p:nvSpPr>
          <p:cNvPr id="8" name="四角形: 角を丸くする 7">
            <a:extLst>
              <a:ext uri="{FF2B5EF4-FFF2-40B4-BE49-F238E27FC236}">
                <a16:creationId xmlns:a16="http://schemas.microsoft.com/office/drawing/2014/main" id="{9E081E17-A777-CBAF-A972-7C5D4EFC633D}"/>
              </a:ext>
            </a:extLst>
          </p:cNvPr>
          <p:cNvSpPr/>
          <p:nvPr/>
        </p:nvSpPr>
        <p:spPr bwMode="auto">
          <a:xfrm>
            <a:off x="307975" y="4554883"/>
            <a:ext cx="9075167" cy="2160240"/>
          </a:xfrm>
          <a:prstGeom prst="roundRect">
            <a:avLst/>
          </a:prstGeom>
          <a:no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nSpc>
                <a:spcPct val="100000"/>
              </a:lnSpc>
              <a:spcBef>
                <a:spcPct val="20000"/>
              </a:spcBef>
            </a:pPr>
            <a:r>
              <a:rPr kumimoji="1" lang="ja-JP" altLang="en-US" sz="1400" dirty="0">
                <a:latin typeface="Verdana" panose="020B0604030504040204" pitchFamily="34" charset="0"/>
                <a:ea typeface="Meiryo UI" pitchFamily="50" charset="-128"/>
                <a:cs typeface="Meiryo UI" pitchFamily="50" charset="-128"/>
              </a:rPr>
              <a:t>・検索条件に「バッチ失効」チェックボックスを追加する</a:t>
            </a:r>
            <a:endParaRPr kumimoji="1" lang="en-US" altLang="ja-JP" sz="1400" dirty="0">
              <a:latin typeface="Verdana" panose="020B0604030504040204" pitchFamily="34" charset="0"/>
              <a:ea typeface="Meiryo UI" pitchFamily="50" charset="-128"/>
              <a:cs typeface="Meiryo UI" pitchFamily="50" charset="-128"/>
            </a:endParaRPr>
          </a:p>
          <a:p>
            <a:pPr>
              <a:lnSpc>
                <a:spcPct val="100000"/>
              </a:lnSpc>
              <a:spcBef>
                <a:spcPct val="20000"/>
              </a:spcBef>
            </a:pPr>
            <a:r>
              <a:rPr kumimoji="1" lang="ja-JP" altLang="en-US" sz="1400" dirty="0">
                <a:latin typeface="Verdana" panose="020B0604030504040204" pitchFamily="34" charset="0"/>
                <a:ea typeface="Meiryo UI" pitchFamily="50" charset="-128"/>
                <a:cs typeface="Meiryo UI" pitchFamily="50" charset="-128"/>
              </a:rPr>
              <a:t>・</a:t>
            </a:r>
            <a:r>
              <a:rPr lang="ja-JP" altLang="en-US" sz="1400" dirty="0"/>
              <a:t>現状は取消注文を表示していないが、</a:t>
            </a:r>
            <a:r>
              <a:rPr kumimoji="1" lang="en-US" altLang="ja-JP" sz="1400" dirty="0">
                <a:latin typeface="Verdana" panose="020B0604030504040204" pitchFamily="34" charset="0"/>
                <a:ea typeface="Meiryo UI" pitchFamily="50" charset="-128"/>
                <a:cs typeface="Meiryo UI" pitchFamily="50" charset="-128"/>
              </a:rPr>
              <a:t>LISA</a:t>
            </a:r>
            <a:r>
              <a:rPr kumimoji="1" lang="ja-JP" altLang="en-US" sz="1400" dirty="0">
                <a:latin typeface="Verdana" panose="020B0604030504040204" pitchFamily="34" charset="0"/>
                <a:ea typeface="Meiryo UI" pitchFamily="50" charset="-128"/>
                <a:cs typeface="Meiryo UI" pitchFamily="50" charset="-128"/>
              </a:rPr>
              <a:t>連携されなかった以下の条件のデータも表示する。</a:t>
            </a:r>
            <a:endParaRPr kumimoji="1" lang="en-US" altLang="ja-JP" sz="1400" dirty="0">
              <a:latin typeface="Verdana" panose="020B0604030504040204" pitchFamily="34" charset="0"/>
              <a:ea typeface="Meiryo UI" pitchFamily="50" charset="-128"/>
              <a:cs typeface="Meiryo UI" pitchFamily="50" charset="-128"/>
            </a:endParaRPr>
          </a:p>
          <a:p>
            <a:pPr>
              <a:lnSpc>
                <a:spcPct val="100000"/>
              </a:lnSpc>
              <a:spcBef>
                <a:spcPct val="20000"/>
              </a:spcBef>
            </a:pPr>
            <a:r>
              <a:rPr kumimoji="1" lang="ja-JP" altLang="en-US" sz="1400" dirty="0">
                <a:latin typeface="Verdana" panose="020B0604030504040204" pitchFamily="34" charset="0"/>
                <a:ea typeface="Meiryo UI" pitchFamily="50" charset="-128"/>
                <a:cs typeface="Meiryo UI" pitchFamily="50" charset="-128"/>
              </a:rPr>
              <a:t>　・チェックなしの場合、「ホスト送信状況が</a:t>
            </a:r>
            <a:r>
              <a:rPr kumimoji="1" lang="en-US" altLang="ja-JP" sz="1400" dirty="0">
                <a:latin typeface="Verdana" panose="020B0604030504040204" pitchFamily="34" charset="0"/>
                <a:ea typeface="Meiryo UI" pitchFamily="50" charset="-128"/>
                <a:cs typeface="Meiryo UI" pitchFamily="50" charset="-128"/>
              </a:rPr>
              <a:t>0~2(</a:t>
            </a:r>
            <a:r>
              <a:rPr kumimoji="1" lang="ja-JP" altLang="en-US" sz="1400" dirty="0">
                <a:latin typeface="Verdana" panose="020B0604030504040204" pitchFamily="34" charset="0"/>
                <a:ea typeface="Meiryo UI" pitchFamily="50" charset="-128"/>
                <a:cs typeface="Meiryo UI" pitchFamily="50" charset="-128"/>
              </a:rPr>
              <a:t>未処理、処理中、処理済</a:t>
            </a: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のデータ」　または</a:t>
            </a:r>
            <a:endParaRPr kumimoji="1" lang="en-US" altLang="ja-JP" sz="1400" dirty="0">
              <a:latin typeface="Verdana" panose="020B0604030504040204" pitchFamily="34" charset="0"/>
              <a:ea typeface="Meiryo UI" pitchFamily="50" charset="-128"/>
              <a:cs typeface="Meiryo UI" pitchFamily="50" charset="-128"/>
            </a:endParaRPr>
          </a:p>
          <a:p>
            <a:pPr>
              <a:spcBef>
                <a:spcPct val="20000"/>
              </a:spcBef>
            </a:pPr>
            <a:r>
              <a:rPr kumimoji="1" lang="ja-JP" altLang="en-US" sz="1400" dirty="0">
                <a:latin typeface="Verdana" panose="020B0604030504040204" pitchFamily="34" charset="0"/>
                <a:ea typeface="Meiryo UI" pitchFamily="50" charset="-128"/>
                <a:cs typeface="Meiryo UI" pitchFamily="50" charset="-128"/>
              </a:rPr>
              <a:t>　　「ホスト送信状況が</a:t>
            </a:r>
            <a:r>
              <a:rPr kumimoji="1" lang="en-US" altLang="ja-JP" sz="1400" dirty="0">
                <a:latin typeface="Verdana" panose="020B0604030504040204" pitchFamily="34" charset="0"/>
                <a:ea typeface="Meiryo UI" pitchFamily="50" charset="-128"/>
                <a:cs typeface="Meiryo UI" pitchFamily="50" charset="-128"/>
              </a:rPr>
              <a:t>9(</a:t>
            </a:r>
            <a:r>
              <a:rPr kumimoji="1" lang="ja-JP" altLang="en-US" sz="1400" dirty="0">
                <a:latin typeface="Verdana" panose="020B0604030504040204" pitchFamily="34" charset="0"/>
                <a:ea typeface="Meiryo UI" pitchFamily="50" charset="-128"/>
                <a:cs typeface="Meiryo UI" pitchFamily="50" charset="-128"/>
              </a:rPr>
              <a:t>取消済</a:t>
            </a: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のデータ　かつ　バッチ取消フラグが</a:t>
            </a:r>
            <a:r>
              <a:rPr kumimoji="1" lang="en-US" altLang="ja-JP" sz="1400" dirty="0">
                <a:latin typeface="Verdana" panose="020B0604030504040204" pitchFamily="34" charset="0"/>
                <a:ea typeface="Meiryo UI" pitchFamily="50" charset="-128"/>
                <a:cs typeface="Meiryo UI" pitchFamily="50" charset="-128"/>
              </a:rPr>
              <a:t>1(</a:t>
            </a:r>
            <a:r>
              <a:rPr kumimoji="1" lang="ja-JP" altLang="en-US" sz="1400" dirty="0">
                <a:latin typeface="Verdana" panose="020B0604030504040204" pitchFamily="34" charset="0"/>
                <a:ea typeface="Meiryo UI" pitchFamily="50" charset="-128"/>
                <a:cs typeface="Meiryo UI" pitchFamily="50" charset="-128"/>
              </a:rPr>
              <a:t>取消済</a:t>
            </a: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のデータ」を表示する。</a:t>
            </a:r>
            <a:endParaRPr kumimoji="1" lang="en-US" altLang="ja-JP" sz="1400" dirty="0">
              <a:latin typeface="Verdana" panose="020B0604030504040204" pitchFamily="34" charset="0"/>
              <a:ea typeface="Meiryo UI" pitchFamily="50" charset="-128"/>
              <a:cs typeface="Meiryo UI" pitchFamily="50" charset="-128"/>
            </a:endParaRPr>
          </a:p>
          <a:p>
            <a:pPr>
              <a:spcBef>
                <a:spcPct val="20000"/>
              </a:spcBef>
            </a:pPr>
            <a:r>
              <a:rPr kumimoji="1" lang="ja-JP" altLang="en-US" sz="1400" dirty="0">
                <a:latin typeface="Verdana" panose="020B0604030504040204" pitchFamily="34" charset="0"/>
                <a:ea typeface="Meiryo UI" pitchFamily="50" charset="-128"/>
              </a:rPr>
              <a:t>　・</a:t>
            </a:r>
            <a:r>
              <a:rPr lang="ja-JP" altLang="en-US" sz="1400" dirty="0"/>
              <a:t>チェックありの場合、「</a:t>
            </a:r>
            <a:r>
              <a:rPr kumimoji="1" lang="ja-JP" altLang="en-US" sz="1400" dirty="0">
                <a:latin typeface="Verdana" panose="020B0604030504040204" pitchFamily="34" charset="0"/>
                <a:ea typeface="Meiryo UI" pitchFamily="50" charset="-128"/>
                <a:cs typeface="Meiryo UI" pitchFamily="50" charset="-128"/>
              </a:rPr>
              <a:t>ホスト送信状況が</a:t>
            </a:r>
            <a:r>
              <a:rPr kumimoji="1" lang="en-US" altLang="ja-JP" sz="1400" dirty="0">
                <a:latin typeface="Verdana" panose="020B0604030504040204" pitchFamily="34" charset="0"/>
                <a:ea typeface="Meiryo UI" pitchFamily="50" charset="-128"/>
                <a:cs typeface="Meiryo UI" pitchFamily="50" charset="-128"/>
              </a:rPr>
              <a:t>9(</a:t>
            </a:r>
            <a:r>
              <a:rPr kumimoji="1" lang="ja-JP" altLang="en-US" sz="1400" dirty="0">
                <a:latin typeface="Verdana" panose="020B0604030504040204" pitchFamily="34" charset="0"/>
                <a:ea typeface="Meiryo UI" pitchFamily="50" charset="-128"/>
                <a:cs typeface="Meiryo UI" pitchFamily="50" charset="-128"/>
              </a:rPr>
              <a:t>取消済</a:t>
            </a: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のデータ　かつ　バッチ取消フラグが</a:t>
            </a:r>
            <a:r>
              <a:rPr kumimoji="1" lang="en-US" altLang="ja-JP" sz="1400" dirty="0">
                <a:latin typeface="Verdana" panose="020B0604030504040204" pitchFamily="34" charset="0"/>
                <a:ea typeface="Meiryo UI" pitchFamily="50" charset="-128"/>
                <a:cs typeface="Meiryo UI" pitchFamily="50" charset="-128"/>
              </a:rPr>
              <a:t>1(</a:t>
            </a:r>
            <a:r>
              <a:rPr kumimoji="1" lang="ja-JP" altLang="en-US" sz="1400" dirty="0">
                <a:latin typeface="Verdana" panose="020B0604030504040204" pitchFamily="34" charset="0"/>
                <a:ea typeface="Meiryo UI" pitchFamily="50" charset="-128"/>
                <a:cs typeface="Meiryo UI" pitchFamily="50" charset="-128"/>
              </a:rPr>
              <a:t>取消済</a:t>
            </a: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のデータ」を表示する。</a:t>
            </a:r>
            <a:endParaRPr kumimoji="1" lang="en-US" altLang="ja-JP" sz="1400" dirty="0">
              <a:latin typeface="Verdana" panose="020B0604030504040204" pitchFamily="34" charset="0"/>
              <a:ea typeface="Meiryo UI" pitchFamily="50" charset="-128"/>
              <a:cs typeface="Meiryo UI" pitchFamily="50" charset="-128"/>
            </a:endParaRPr>
          </a:p>
          <a:p>
            <a:pPr>
              <a:lnSpc>
                <a:spcPct val="100000"/>
              </a:lnSpc>
              <a:spcBef>
                <a:spcPct val="20000"/>
              </a:spcBef>
            </a:pPr>
            <a:r>
              <a:rPr kumimoji="1" lang="en-US" altLang="ja-JP" sz="1400" dirty="0">
                <a:latin typeface="Verdana" panose="020B0604030504040204" pitchFamily="34" charset="0"/>
                <a:ea typeface="Meiryo UI" pitchFamily="50" charset="-128"/>
                <a:cs typeface="Meiryo UI" pitchFamily="50" charset="-128"/>
              </a:rPr>
              <a:t>※</a:t>
            </a:r>
            <a:r>
              <a:rPr kumimoji="1" lang="ja-JP" altLang="en-US" sz="1400" dirty="0">
                <a:latin typeface="Verdana" panose="020B0604030504040204" pitchFamily="34" charset="0"/>
                <a:ea typeface="Meiryo UI" pitchFamily="50" charset="-128"/>
                <a:cs typeface="Meiryo UI" pitchFamily="50" charset="-128"/>
              </a:rPr>
              <a:t>一覧では「</a:t>
            </a:r>
            <a:r>
              <a:rPr lang="ja-JP" altLang="en-US" sz="1400" dirty="0"/>
              <a:t>非課税口座開設同日の先日付注文</a:t>
            </a:r>
            <a:r>
              <a:rPr kumimoji="1" lang="ja-JP" altLang="en-US" sz="1400" dirty="0">
                <a:latin typeface="Verdana" panose="020B0604030504040204" pitchFamily="34" charset="0"/>
                <a:ea typeface="Meiryo UI" pitchFamily="50" charset="-128"/>
                <a:cs typeface="Meiryo UI" pitchFamily="50" charset="-128"/>
              </a:rPr>
              <a:t>」を判断する項目は表示しない</a:t>
            </a:r>
            <a:endParaRPr kumimoji="1" lang="en-US" altLang="ja-JP" sz="1400" dirty="0">
              <a:latin typeface="Verdana" panose="020B0604030504040204" pitchFamily="34" charset="0"/>
              <a:ea typeface="Meiryo UI" pitchFamily="50" charset="-128"/>
              <a:cs typeface="Meiryo UI" pitchFamily="50" charset="-128"/>
            </a:endParaRPr>
          </a:p>
          <a:p>
            <a:r>
              <a:rPr lang="ja-JP" altLang="en-US" sz="1200" dirty="0"/>
              <a:t>非課税口座開設受付当日に</a:t>
            </a:r>
            <a:r>
              <a:rPr lang="en-US" altLang="ja-JP" sz="1200" dirty="0"/>
              <a:t>LISA</a:t>
            </a:r>
            <a:r>
              <a:rPr lang="ja-JP" altLang="en-US" sz="1200" dirty="0"/>
              <a:t>へ連携する前提であり、リアルタイムで「非課税口座開設同日の先日付注文」かを事務で知る必要性がないため</a:t>
            </a:r>
            <a:endParaRPr lang="en-US" altLang="ja-JP" sz="1200" dirty="0"/>
          </a:p>
        </p:txBody>
      </p:sp>
      <p:pic>
        <p:nvPicPr>
          <p:cNvPr id="10" name="図 9" descr="グラフィカル ユーザー インターフェイス が含まれている画像&#10;&#10;AI 生成コンテンツは誤りを含む可能性があります。">
            <a:extLst>
              <a:ext uri="{FF2B5EF4-FFF2-40B4-BE49-F238E27FC236}">
                <a16:creationId xmlns:a16="http://schemas.microsoft.com/office/drawing/2014/main" id="{92A252A2-DD7C-0C60-1C7D-40FF53CEC2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004" y="1526322"/>
            <a:ext cx="4598987" cy="3120391"/>
          </a:xfrm>
          <a:prstGeom prst="rect">
            <a:avLst/>
          </a:prstGeom>
        </p:spPr>
      </p:pic>
      <p:pic>
        <p:nvPicPr>
          <p:cNvPr id="12" name="図 11" descr="グラフィカル ユーザー インターフェイス, テーブル&#10;&#10;AI 生成コンテンツは誤りを含む可能性があります。">
            <a:extLst>
              <a:ext uri="{FF2B5EF4-FFF2-40B4-BE49-F238E27FC236}">
                <a16:creationId xmlns:a16="http://schemas.microsoft.com/office/drawing/2014/main" id="{EAF5A95D-B8FB-A51F-D6DF-D0F72F40CB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35011" y="1521840"/>
            <a:ext cx="4815622" cy="3033044"/>
          </a:xfrm>
          <a:prstGeom prst="rect">
            <a:avLst/>
          </a:prstGeom>
        </p:spPr>
      </p:pic>
    </p:spTree>
    <p:extLst>
      <p:ext uri="{BB962C8B-B14F-4D97-AF65-F5344CB8AC3E}">
        <p14:creationId xmlns:p14="http://schemas.microsoft.com/office/powerpoint/2010/main" val="1834642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C448B-203D-BF92-C752-692E9E27C447}"/>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A0880F68-23B7-DAA6-78AD-9BF49A14729D}"/>
              </a:ext>
            </a:extLst>
          </p:cNvPr>
          <p:cNvPicPr>
            <a:picLocks noChangeAspect="1"/>
          </p:cNvPicPr>
          <p:nvPr/>
        </p:nvPicPr>
        <p:blipFill>
          <a:blip r:embed="rId2"/>
          <a:srcRect b="11381"/>
          <a:stretch>
            <a:fillRect/>
          </a:stretch>
        </p:blipFill>
        <p:spPr>
          <a:xfrm>
            <a:off x="377225" y="1267790"/>
            <a:ext cx="6999168" cy="5249376"/>
          </a:xfrm>
          <a:prstGeom prst="rect">
            <a:avLst/>
          </a:prstGeom>
        </p:spPr>
      </p:pic>
      <p:sp>
        <p:nvSpPr>
          <p:cNvPr id="2" name="タイトル 1">
            <a:extLst>
              <a:ext uri="{FF2B5EF4-FFF2-40B4-BE49-F238E27FC236}">
                <a16:creationId xmlns:a16="http://schemas.microsoft.com/office/drawing/2014/main" id="{90F14756-4BF0-5F90-E1CB-3F09718D905F}"/>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D4F7DB2D-5300-24DD-53B5-CD3578A73012}"/>
              </a:ext>
            </a:extLst>
          </p:cNvPr>
          <p:cNvSpPr txBox="1">
            <a:spLocks noChangeArrowheads="1"/>
          </p:cNvSpPr>
          <p:nvPr/>
        </p:nvSpPr>
        <p:spPr bwMode="auto">
          <a:xfrm>
            <a:off x="56456" y="692696"/>
            <a:ext cx="9645650" cy="5750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営業店・本部検印</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sp>
        <p:nvSpPr>
          <p:cNvPr id="8" name="四角形: 角を丸くする 7">
            <a:extLst>
              <a:ext uri="{FF2B5EF4-FFF2-40B4-BE49-F238E27FC236}">
                <a16:creationId xmlns:a16="http://schemas.microsoft.com/office/drawing/2014/main" id="{B44D4A4D-B354-C0C6-A598-E47EBF571330}"/>
              </a:ext>
            </a:extLst>
          </p:cNvPr>
          <p:cNvSpPr/>
          <p:nvPr/>
        </p:nvSpPr>
        <p:spPr bwMode="auto">
          <a:xfrm>
            <a:off x="497931" y="1556792"/>
            <a:ext cx="1944215" cy="144016"/>
          </a:xfrm>
          <a:prstGeom prst="roundRect">
            <a:avLst/>
          </a:prstGeom>
          <a:solidFill>
            <a:schemeClr val="bg1"/>
          </a:solidFill>
          <a:ln w="9525" algn="ctr">
            <a:noFill/>
            <a:round/>
            <a:headEnd type="oval" w="sm" len="sm"/>
            <a:tailEnd type="triangle" w="sm" len="sm"/>
          </a:ln>
          <a:effec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nSpc>
                <a:spcPct val="100000"/>
              </a:lnSpc>
              <a:spcBef>
                <a:spcPct val="20000"/>
              </a:spcBef>
            </a:pPr>
            <a:r>
              <a:rPr lang="en-US" altLang="ja-JP" sz="1000" b="1" dirty="0">
                <a:solidFill>
                  <a:srgbClr val="FF0000"/>
                </a:solidFill>
              </a:rPr>
              <a:t>NISA</a:t>
            </a:r>
            <a:r>
              <a:rPr lang="ja-JP" altLang="en-US" sz="1000" b="1" dirty="0">
                <a:solidFill>
                  <a:srgbClr val="FF0000"/>
                </a:solidFill>
              </a:rPr>
              <a:t>取引の入力伝票が存在します。</a:t>
            </a:r>
            <a:endParaRPr lang="en-US" altLang="ja-JP" sz="1000" b="1" dirty="0">
              <a:solidFill>
                <a:srgbClr val="FF0000"/>
              </a:solidFill>
            </a:endParaRPr>
          </a:p>
        </p:txBody>
      </p:sp>
    </p:spTree>
    <p:extLst>
      <p:ext uri="{BB962C8B-B14F-4D97-AF65-F5344CB8AC3E}">
        <p14:creationId xmlns:p14="http://schemas.microsoft.com/office/powerpoint/2010/main" val="2788189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2FE0D-746B-E6A1-0C60-874A7D5DC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669732-5F5A-32B6-23D1-778663D473B2}"/>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EAFBA36B-D498-3904-436E-F45D5848FCD2}"/>
              </a:ext>
            </a:extLst>
          </p:cNvPr>
          <p:cNvSpPr txBox="1">
            <a:spLocks noChangeArrowheads="1"/>
          </p:cNvSpPr>
          <p:nvPr/>
        </p:nvSpPr>
        <p:spPr bwMode="auto">
          <a:xfrm>
            <a:off x="56456" y="692696"/>
            <a:ext cx="9645650" cy="5750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申込状況一覧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pic>
        <p:nvPicPr>
          <p:cNvPr id="6" name="図 5" descr="グラフィカル ユーザー インターフェイス&#10;&#10;AI 生成コンテンツは誤りを含む可能性があります。">
            <a:extLst>
              <a:ext uri="{FF2B5EF4-FFF2-40B4-BE49-F238E27FC236}">
                <a16:creationId xmlns:a16="http://schemas.microsoft.com/office/drawing/2014/main" id="{BA6D701E-B5FF-3647-A8A5-E9BA1EDF86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0592" y="1213641"/>
            <a:ext cx="4380850" cy="4951663"/>
          </a:xfrm>
          <a:prstGeom prst="rect">
            <a:avLst/>
          </a:prstGeom>
        </p:spPr>
      </p:pic>
    </p:spTree>
    <p:extLst>
      <p:ext uri="{BB962C8B-B14F-4D97-AF65-F5344CB8AC3E}">
        <p14:creationId xmlns:p14="http://schemas.microsoft.com/office/powerpoint/2010/main" val="134857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24AE8-2895-3641-AA75-7C779A6E29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6FE535-A748-0156-75D1-4BFC6D707A31}"/>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73E6AEE7-8D53-C15E-238F-77313A8EC607}"/>
              </a:ext>
            </a:extLst>
          </p:cNvPr>
          <p:cNvSpPr txBox="1">
            <a:spLocks noChangeArrowheads="1"/>
          </p:cNvSpPr>
          <p:nvPr/>
        </p:nvSpPr>
        <p:spPr bwMode="auto">
          <a:xfrm>
            <a:off x="56456" y="692696"/>
            <a:ext cx="9645650" cy="5750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申込状況詳細</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pic>
        <p:nvPicPr>
          <p:cNvPr id="14" name="図 13" descr="テキスト&#10;&#10;AI 生成コンテンツは誤りを含む可能性があります。">
            <a:extLst>
              <a:ext uri="{FF2B5EF4-FFF2-40B4-BE49-F238E27FC236}">
                <a16:creationId xmlns:a16="http://schemas.microsoft.com/office/drawing/2014/main" id="{05A45A63-0866-F4E2-BB05-1D0F50A7E2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2600" y="1196752"/>
            <a:ext cx="4880423" cy="5301208"/>
          </a:xfrm>
          <a:prstGeom prst="rect">
            <a:avLst/>
          </a:prstGeom>
        </p:spPr>
      </p:pic>
    </p:spTree>
    <p:extLst>
      <p:ext uri="{BB962C8B-B14F-4D97-AF65-F5344CB8AC3E}">
        <p14:creationId xmlns:p14="http://schemas.microsoft.com/office/powerpoint/2010/main" val="373877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39C9-B1D4-BDD3-C3ED-4BEF7BCAA7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E82600-637D-67D9-F1AF-7027E3926FB7}"/>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E8E6BEDC-17DB-332D-AB2B-2908D71AF8AE}"/>
              </a:ext>
            </a:extLst>
          </p:cNvPr>
          <p:cNvSpPr txBox="1">
            <a:spLocks noChangeArrowheads="1"/>
          </p:cNvSpPr>
          <p:nvPr/>
        </p:nvSpPr>
        <p:spPr bwMode="auto">
          <a:xfrm>
            <a:off x="56456" y="692696"/>
            <a:ext cx="9645650" cy="5750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投信残高注文</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pic>
        <p:nvPicPr>
          <p:cNvPr id="5" name="図 4" descr="テーブル&#10;&#10;AI 生成コンテンツは誤りを含む可能性があります。">
            <a:extLst>
              <a:ext uri="{FF2B5EF4-FFF2-40B4-BE49-F238E27FC236}">
                <a16:creationId xmlns:a16="http://schemas.microsoft.com/office/drawing/2014/main" id="{2F8F5CEE-2490-A978-BFD2-77B1BE2E6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520" y="1270292"/>
            <a:ext cx="7868095" cy="3094812"/>
          </a:xfrm>
          <a:prstGeom prst="rect">
            <a:avLst/>
          </a:prstGeom>
        </p:spPr>
      </p:pic>
    </p:spTree>
    <p:extLst>
      <p:ext uri="{BB962C8B-B14F-4D97-AF65-F5344CB8AC3E}">
        <p14:creationId xmlns:p14="http://schemas.microsoft.com/office/powerpoint/2010/main" val="3742397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05AC8-B2BE-1BA8-9E09-107D412C81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25DC59-D0CB-6244-4746-FCF12B3CBF22}"/>
              </a:ext>
            </a:extLst>
          </p:cNvPr>
          <p:cNvSpPr>
            <a:spLocks noGrp="1"/>
          </p:cNvSpPr>
          <p:nvPr>
            <p:ph type="title"/>
          </p:nvPr>
        </p:nvSpPr>
        <p:spPr/>
        <p:txBody>
          <a:bodyPr/>
          <a:lstStyle/>
          <a:p>
            <a:r>
              <a:rPr lang="ja-JP" altLang="en-US" dirty="0"/>
              <a:t>３</a:t>
            </a:r>
            <a:r>
              <a:rPr kumimoji="1" lang="ja-JP" altLang="en-US" dirty="0"/>
              <a:t>．画面</a:t>
            </a:r>
          </a:p>
        </p:txBody>
      </p:sp>
      <p:sp>
        <p:nvSpPr>
          <p:cNvPr id="4" name="Text Box 16">
            <a:extLst>
              <a:ext uri="{FF2B5EF4-FFF2-40B4-BE49-F238E27FC236}">
                <a16:creationId xmlns:a16="http://schemas.microsoft.com/office/drawing/2014/main" id="{F3D8CF0A-92DF-210B-E8B0-C36726E0AF60}"/>
              </a:ext>
            </a:extLst>
          </p:cNvPr>
          <p:cNvSpPr txBox="1">
            <a:spLocks noChangeArrowheads="1"/>
          </p:cNvSpPr>
          <p:nvPr/>
        </p:nvSpPr>
        <p:spPr bwMode="auto">
          <a:xfrm>
            <a:off x="56456" y="692696"/>
            <a:ext cx="9645650" cy="5750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＜画面イメージ＞</a:t>
            </a:r>
          </a:p>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投信伝票確認</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p:txBody>
      </p:sp>
      <p:pic>
        <p:nvPicPr>
          <p:cNvPr id="5" name="図 4" descr="グラフィカル ユーザー インターフェイス, テーブル&#10;&#10;AI 生成コンテンツは誤りを含む可能性があります。">
            <a:extLst>
              <a:ext uri="{FF2B5EF4-FFF2-40B4-BE49-F238E27FC236}">
                <a16:creationId xmlns:a16="http://schemas.microsoft.com/office/drawing/2014/main" id="{16C01410-DCC5-460F-73E4-4D990F5755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0512" y="1376284"/>
            <a:ext cx="6559567" cy="3276852"/>
          </a:xfrm>
          <a:prstGeom prst="rect">
            <a:avLst/>
          </a:prstGeom>
        </p:spPr>
      </p:pic>
    </p:spTree>
    <p:extLst>
      <p:ext uri="{BB962C8B-B14F-4D97-AF65-F5344CB8AC3E}">
        <p14:creationId xmlns:p14="http://schemas.microsoft.com/office/powerpoint/2010/main" val="847353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928D-4F2F-8734-4764-00F7670015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FBC579-60A9-C732-5D8D-5E175E723513}"/>
              </a:ext>
            </a:extLst>
          </p:cNvPr>
          <p:cNvSpPr>
            <a:spLocks noGrp="1"/>
          </p:cNvSpPr>
          <p:nvPr>
            <p:ph type="title"/>
          </p:nvPr>
        </p:nvSpPr>
        <p:spPr/>
        <p:txBody>
          <a:bodyPr/>
          <a:lstStyle/>
          <a:p>
            <a:r>
              <a:rPr kumimoji="1" lang="ja-JP" altLang="en-US" dirty="0"/>
              <a:t>４．データ</a:t>
            </a:r>
          </a:p>
        </p:txBody>
      </p:sp>
      <p:sp>
        <p:nvSpPr>
          <p:cNvPr id="4" name="Text Box 16">
            <a:extLst>
              <a:ext uri="{FF2B5EF4-FFF2-40B4-BE49-F238E27FC236}">
                <a16:creationId xmlns:a16="http://schemas.microsoft.com/office/drawing/2014/main" id="{D363430C-0225-35E8-0A99-7C169E461C07}"/>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＜データ＞</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業務に対してどういったデータがなぜ必要なのかを整理する。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graphicFrame>
        <p:nvGraphicFramePr>
          <p:cNvPr id="3" name="表 2">
            <a:extLst>
              <a:ext uri="{FF2B5EF4-FFF2-40B4-BE49-F238E27FC236}">
                <a16:creationId xmlns:a16="http://schemas.microsoft.com/office/drawing/2014/main" id="{486F6DAC-1C89-F305-1CC0-0BC6EEC3D62A}"/>
              </a:ext>
            </a:extLst>
          </p:cNvPr>
          <p:cNvGraphicFramePr>
            <a:graphicFrameLocks noGrp="1"/>
          </p:cNvGraphicFramePr>
          <p:nvPr>
            <p:extLst>
              <p:ext uri="{D42A27DB-BD31-4B8C-83A1-F6EECF244321}">
                <p14:modId xmlns:p14="http://schemas.microsoft.com/office/powerpoint/2010/main" val="406410888"/>
              </p:ext>
            </p:extLst>
          </p:nvPr>
        </p:nvGraphicFramePr>
        <p:xfrm>
          <a:off x="488502" y="1556792"/>
          <a:ext cx="9003162" cy="3273540"/>
        </p:xfrm>
        <a:graphic>
          <a:graphicData uri="http://schemas.openxmlformats.org/drawingml/2006/table">
            <a:tbl>
              <a:tblPr firstRow="1" bandRow="1">
                <a:tableStyleId>{93296810-A885-4BE3-A3E7-6D5BEEA58F35}</a:tableStyleId>
              </a:tblPr>
              <a:tblGrid>
                <a:gridCol w="501046">
                  <a:extLst>
                    <a:ext uri="{9D8B030D-6E8A-4147-A177-3AD203B41FA5}">
                      <a16:colId xmlns:a16="http://schemas.microsoft.com/office/drawing/2014/main" val="1777742977"/>
                    </a:ext>
                  </a:extLst>
                </a:gridCol>
                <a:gridCol w="1551108">
                  <a:extLst>
                    <a:ext uri="{9D8B030D-6E8A-4147-A177-3AD203B41FA5}">
                      <a16:colId xmlns:a16="http://schemas.microsoft.com/office/drawing/2014/main" val="3295760834"/>
                    </a:ext>
                  </a:extLst>
                </a:gridCol>
                <a:gridCol w="769557">
                  <a:extLst>
                    <a:ext uri="{9D8B030D-6E8A-4147-A177-3AD203B41FA5}">
                      <a16:colId xmlns:a16="http://schemas.microsoft.com/office/drawing/2014/main" val="97216636"/>
                    </a:ext>
                  </a:extLst>
                </a:gridCol>
                <a:gridCol w="5577922">
                  <a:extLst>
                    <a:ext uri="{9D8B030D-6E8A-4147-A177-3AD203B41FA5}">
                      <a16:colId xmlns:a16="http://schemas.microsoft.com/office/drawing/2014/main" val="3092326056"/>
                    </a:ext>
                  </a:extLst>
                </a:gridCol>
                <a:gridCol w="603529">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テーブル名</a:t>
                      </a:r>
                    </a:p>
                  </a:txBody>
                  <a:tcPr/>
                </a:tc>
                <a:tc>
                  <a:txBody>
                    <a:bodyPr/>
                    <a:lstStyle/>
                    <a:p>
                      <a:r>
                        <a:rPr kumimoji="1" lang="ja-JP" altLang="en-US" sz="1200" dirty="0"/>
                        <a:t>新規</a:t>
                      </a:r>
                      <a:r>
                        <a:rPr kumimoji="1" lang="en-US" altLang="ja-JP" sz="1200" dirty="0"/>
                        <a:t>/</a:t>
                      </a:r>
                    </a:p>
                    <a:p>
                      <a:r>
                        <a:rPr kumimoji="1" lang="ja-JP" altLang="en-US" sz="1200" dirty="0"/>
                        <a:t>変更</a:t>
                      </a:r>
                      <a:r>
                        <a:rPr kumimoji="1" lang="en-US" altLang="ja-JP" sz="1200" dirty="0"/>
                        <a:t>/</a:t>
                      </a:r>
                    </a:p>
                    <a:p>
                      <a:r>
                        <a:rPr kumimoji="1" lang="ja-JP" altLang="en-US" sz="1200" dirty="0"/>
                        <a:t>廃止</a:t>
                      </a:r>
                      <a:endParaRPr kumimoji="1" lang="en-US" altLang="ja-JP" sz="1200" dirty="0"/>
                    </a:p>
                  </a:txBody>
                  <a:tcPr/>
                </a:tc>
                <a:tc>
                  <a:txBody>
                    <a:bodyPr/>
                    <a:lstStyle/>
                    <a:p>
                      <a:r>
                        <a:rPr kumimoji="1" lang="ja-JP" altLang="en-US" sz="1200" dirty="0"/>
                        <a:t>データ要件</a:t>
                      </a:r>
                      <a:endParaRPr kumimoji="1" lang="en-US" altLang="ja-JP" sz="1200" dirty="0"/>
                    </a:p>
                    <a:p>
                      <a:r>
                        <a:rPr kumimoji="1" lang="ja-JP" altLang="en-US" sz="1200" dirty="0"/>
                        <a:t>（どういったデータをどの</a:t>
                      </a:r>
                      <a:r>
                        <a:rPr kumimoji="1" lang="en-US" altLang="ja-JP" sz="1200" dirty="0"/>
                        <a:t>DB</a:t>
                      </a:r>
                      <a:r>
                        <a:rPr kumimoji="1" lang="ja-JP" altLang="en-US" sz="1200" dirty="0"/>
                        <a:t>、スキーマに、何のために格納し、どのように使うのか）</a:t>
                      </a:r>
                    </a:p>
                  </a:txBody>
                  <a:tcPr/>
                </a:tc>
                <a:tc>
                  <a:txBody>
                    <a:bodyPr/>
                    <a:lstStyle/>
                    <a:p>
                      <a:r>
                        <a:rPr kumimoji="1" lang="ja-JP" altLang="en-US" sz="1200" dirty="0"/>
                        <a:t>該当</a:t>
                      </a:r>
                      <a:endParaRPr kumimoji="1" lang="en-US" altLang="ja-JP" sz="1200" dirty="0"/>
                    </a:p>
                    <a:p>
                      <a:r>
                        <a:rPr kumimoji="1" lang="ja-JP" altLang="en-US" sz="1200" dirty="0"/>
                        <a:t>要件</a:t>
                      </a:r>
                      <a:endParaRPr kumimoji="1" lang="en-US" altLang="ja-JP" sz="1200" dirty="0"/>
                    </a:p>
                    <a:p>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en-US" altLang="ja-JP" sz="1200" dirty="0"/>
                        <a:t>TF</a:t>
                      </a:r>
                      <a:r>
                        <a:rPr kumimoji="1" lang="ja-JP" altLang="en-US" sz="1200" dirty="0"/>
                        <a:t>伝票管理</a:t>
                      </a:r>
                    </a:p>
                  </a:txBody>
                  <a:tcPr/>
                </a:tc>
                <a:tc>
                  <a:txBody>
                    <a:bodyPr/>
                    <a:lstStyle/>
                    <a:p>
                      <a:r>
                        <a:rPr kumimoji="1" lang="ja-JP" altLang="en-US" sz="1200" dirty="0"/>
                        <a:t>変更</a:t>
                      </a:r>
                    </a:p>
                  </a:txBody>
                  <a:tcPr/>
                </a:tc>
                <a:tc>
                  <a:txBody>
                    <a:bodyPr/>
                    <a:lstStyle/>
                    <a:p>
                      <a:r>
                        <a:rPr kumimoji="1" lang="ja-JP" altLang="en-US" sz="1200" dirty="0">
                          <a:solidFill>
                            <a:schemeClr val="tx1"/>
                          </a:solidFill>
                        </a:rPr>
                        <a:t>非課税口座開設が夜間バッチで却下（事務失効）されたことにより、却下となった先日付</a:t>
                      </a:r>
                      <a:r>
                        <a:rPr kumimoji="1" lang="en-US" altLang="ja-JP" sz="1200" dirty="0">
                          <a:solidFill>
                            <a:schemeClr val="tx1"/>
                          </a:solidFill>
                        </a:rPr>
                        <a:t>NISA</a:t>
                      </a:r>
                      <a:r>
                        <a:rPr kumimoji="1" lang="ja-JP" altLang="en-US" sz="1200" dirty="0">
                          <a:solidFill>
                            <a:schemeClr val="tx1"/>
                          </a:solidFill>
                        </a:rPr>
                        <a:t>注文を管理するため、バッチ取消フラグを更新する。</a:t>
                      </a:r>
                      <a:endParaRPr kumimoji="1" lang="en-US" altLang="ja-JP" sz="1200" dirty="0">
                        <a:solidFill>
                          <a:schemeClr val="tx1"/>
                        </a:solidFill>
                      </a:endParaRPr>
                    </a:p>
                  </a:txBody>
                  <a:tcPr/>
                </a:tc>
                <a:tc>
                  <a:txBody>
                    <a:bodyPr/>
                    <a:lstStyle/>
                    <a:p>
                      <a:r>
                        <a:rPr kumimoji="1" lang="en-US" altLang="ja-JP" sz="1200" dirty="0">
                          <a:solidFill>
                            <a:schemeClr val="tx1"/>
                          </a:solidFill>
                        </a:rPr>
                        <a:t>1,3,5</a:t>
                      </a:r>
                      <a:endParaRPr kumimoji="1" lang="ja-JP" altLang="en-US" sz="1200" dirty="0">
                        <a:solidFill>
                          <a:schemeClr val="tx1"/>
                        </a:solidFill>
                      </a:endParaRPr>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r>
                        <a:rPr kumimoji="1" lang="en-US" altLang="zh-TW" sz="1200" dirty="0"/>
                        <a:t>MF</a:t>
                      </a:r>
                      <a:r>
                        <a:rPr kumimoji="1" lang="zh-TW" altLang="en-US" sz="1200" dirty="0"/>
                        <a:t>非課税口座簡易開設</a:t>
                      </a:r>
                      <a:endParaRPr kumimoji="1" lang="ja-JP" altLang="en-US" sz="1200" dirty="0"/>
                    </a:p>
                  </a:txBody>
                  <a:tcPr/>
                </a:tc>
                <a:tc>
                  <a:txBody>
                    <a:bodyPr/>
                    <a:lstStyle/>
                    <a:p>
                      <a:r>
                        <a:rPr kumimoji="1" lang="ja-JP" altLang="en-US" sz="1200" dirty="0"/>
                        <a:t>変更</a:t>
                      </a:r>
                    </a:p>
                  </a:txBody>
                  <a:tcPr/>
                </a:tc>
                <a:tc>
                  <a:txBody>
                    <a:bodyPr/>
                    <a:lstStyle/>
                    <a:p>
                      <a:r>
                        <a:rPr kumimoji="1" lang="ja-JP" altLang="en-US" sz="1200" dirty="0">
                          <a:solidFill>
                            <a:schemeClr val="tx1"/>
                          </a:solidFill>
                        </a:rPr>
                        <a:t>非課税口座簡易開設後、即日開設されたかを確認するために項目を追加する。</a:t>
                      </a:r>
                      <a:endParaRPr kumimoji="1" lang="en-US" altLang="ja-JP" sz="1200" dirty="0">
                        <a:solidFill>
                          <a:schemeClr val="tx1"/>
                        </a:solidFill>
                      </a:endParaRPr>
                    </a:p>
                    <a:p>
                      <a:r>
                        <a:rPr kumimoji="1" lang="ja-JP" altLang="en-US" sz="1200" dirty="0">
                          <a:solidFill>
                            <a:schemeClr val="tx1"/>
                          </a:solidFill>
                        </a:rPr>
                        <a:t>オンライン登録時にフラグを「見込」として設定し、夜間バッチ取込後に「見込」のままの場合は事務失効したと判断する。</a:t>
                      </a:r>
                    </a:p>
                  </a:txBody>
                  <a:tcPr/>
                </a:tc>
                <a:tc>
                  <a:txBody>
                    <a:bodyPr/>
                    <a:lstStyle/>
                    <a:p>
                      <a:r>
                        <a:rPr kumimoji="1" lang="en-US" altLang="ja-JP" sz="1200" dirty="0">
                          <a:solidFill>
                            <a:schemeClr val="tx1"/>
                          </a:solidFill>
                        </a:rPr>
                        <a:t>1,3</a:t>
                      </a:r>
                      <a:endParaRPr kumimoji="1" lang="ja-JP" altLang="en-US" sz="1200" dirty="0">
                        <a:solidFill>
                          <a:schemeClr val="tx1"/>
                        </a:solidFill>
                      </a:endParaRPr>
                    </a:p>
                  </a:txBody>
                  <a:tcPr/>
                </a:tc>
                <a:extLst>
                  <a:ext uri="{0D108BD9-81ED-4DB2-BD59-A6C34878D82A}">
                    <a16:rowId xmlns:a16="http://schemas.microsoft.com/office/drawing/2014/main" val="2695248803"/>
                  </a:ext>
                </a:extLst>
              </a:tr>
              <a:tr h="448050">
                <a:tc>
                  <a:txBody>
                    <a:bodyPr/>
                    <a:lstStyle/>
                    <a:p>
                      <a:r>
                        <a:rPr kumimoji="1" lang="en-US" altLang="ja-JP" sz="1200" dirty="0">
                          <a:solidFill>
                            <a:schemeClr val="tx1"/>
                          </a:solidFill>
                        </a:rPr>
                        <a:t>3</a:t>
                      </a:r>
                      <a:endParaRPr kumimoji="1" lang="ja-JP" altLang="en-US" sz="1200" dirty="0">
                        <a:solidFill>
                          <a:schemeClr val="tx1"/>
                        </a:solidFill>
                      </a:endParaRPr>
                    </a:p>
                  </a:txBody>
                  <a:tcPr/>
                </a:tc>
                <a:tc>
                  <a:txBody>
                    <a:bodyPr/>
                    <a:lstStyle/>
                    <a:p>
                      <a:r>
                        <a:rPr kumimoji="1" lang="en-US" altLang="ja-JP" sz="1200" dirty="0">
                          <a:solidFill>
                            <a:schemeClr val="tx1"/>
                          </a:solidFill>
                        </a:rPr>
                        <a:t>MF</a:t>
                      </a:r>
                      <a:r>
                        <a:rPr kumimoji="1" lang="ja-JP" altLang="en-US" sz="1200" dirty="0">
                          <a:solidFill>
                            <a:schemeClr val="tx1"/>
                          </a:solidFill>
                        </a:rPr>
                        <a:t>コード</a:t>
                      </a:r>
                    </a:p>
                  </a:txBody>
                  <a:tcPr/>
                </a:tc>
                <a:tc>
                  <a:txBody>
                    <a:bodyPr/>
                    <a:lstStyle/>
                    <a:p>
                      <a:r>
                        <a:rPr kumimoji="1" lang="ja-JP" altLang="en-US" sz="1200" dirty="0">
                          <a:solidFill>
                            <a:schemeClr val="tx1"/>
                          </a:solidFill>
                        </a:rPr>
                        <a:t>変更</a:t>
                      </a:r>
                    </a:p>
                  </a:txBody>
                  <a:tcPr/>
                </a:tc>
                <a:tc>
                  <a:txBody>
                    <a:bodyPr/>
                    <a:lstStyle/>
                    <a:p>
                      <a:r>
                        <a:rPr kumimoji="1" lang="ja-JP" altLang="en-US" sz="1200" dirty="0">
                          <a:solidFill>
                            <a:schemeClr val="tx1"/>
                          </a:solidFill>
                        </a:rPr>
                        <a:t>進捗状況一覧画面でバッチ失効で絞り込みするためのレコードを追加する。</a:t>
                      </a:r>
                      <a:endParaRPr kumimoji="1" lang="en-US" altLang="ja-JP" sz="1200" dirty="0">
                        <a:solidFill>
                          <a:schemeClr val="tx1"/>
                        </a:solidFill>
                      </a:endParaRPr>
                    </a:p>
                    <a:p>
                      <a:r>
                        <a:rPr kumimoji="1"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伝票の取引状況を確認する画面でバッチ取消された先日付注文であることがわかるように失効レコードを追加する。</a:t>
                      </a:r>
                      <a:endParaRPr kumimoji="1" lang="ja-JP" altLang="en-US" sz="1200" dirty="0">
                        <a:solidFill>
                          <a:schemeClr val="tx1"/>
                        </a:solidFill>
                      </a:endParaRPr>
                    </a:p>
                  </a:txBody>
                  <a:tcPr/>
                </a:tc>
                <a:tc>
                  <a:txBody>
                    <a:bodyPr/>
                    <a:lstStyle/>
                    <a:p>
                      <a:r>
                        <a:rPr kumimoji="1" lang="en-US" altLang="ja-JP" sz="1200" dirty="0">
                          <a:solidFill>
                            <a:schemeClr val="tx1"/>
                          </a:solidFill>
                        </a:rPr>
                        <a:t>5,7</a:t>
                      </a:r>
                      <a:endParaRPr kumimoji="1" lang="ja-JP" altLang="en-US" sz="1200" dirty="0">
                        <a:solidFill>
                          <a:schemeClr val="tx1"/>
                        </a:solidFill>
                      </a:endParaRPr>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545511512"/>
                  </a:ext>
                </a:extLst>
              </a:tr>
            </a:tbl>
          </a:graphicData>
        </a:graphic>
      </p:graphicFrame>
    </p:spTree>
    <p:extLst>
      <p:ext uri="{BB962C8B-B14F-4D97-AF65-F5344CB8AC3E}">
        <p14:creationId xmlns:p14="http://schemas.microsoft.com/office/powerpoint/2010/main" val="3211947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08616-F88D-2528-99E6-43FE5A129C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B67ACA-0FC6-3808-6459-B4648C4D8314}"/>
              </a:ext>
            </a:extLst>
          </p:cNvPr>
          <p:cNvSpPr>
            <a:spLocks noGrp="1"/>
          </p:cNvSpPr>
          <p:nvPr>
            <p:ph type="title"/>
          </p:nvPr>
        </p:nvSpPr>
        <p:spPr/>
        <p:txBody>
          <a:bodyPr/>
          <a:lstStyle/>
          <a:p>
            <a:r>
              <a:rPr kumimoji="1" lang="ja-JP" altLang="en-US" dirty="0"/>
              <a:t>４．データ</a:t>
            </a:r>
          </a:p>
        </p:txBody>
      </p:sp>
      <p:sp>
        <p:nvSpPr>
          <p:cNvPr id="4" name="Text Box 16">
            <a:extLst>
              <a:ext uri="{FF2B5EF4-FFF2-40B4-BE49-F238E27FC236}">
                <a16:creationId xmlns:a16="http://schemas.microsoft.com/office/drawing/2014/main" id="{DDA57DE6-4257-35BC-0A50-D6CA8A7B0E74}"/>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＜データフロー＞</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業務に対してどういったデータフローが発生するのかを整理する。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cxnSp>
        <p:nvCxnSpPr>
          <p:cNvPr id="5" name="直線コネクタ 4">
            <a:extLst>
              <a:ext uri="{FF2B5EF4-FFF2-40B4-BE49-F238E27FC236}">
                <a16:creationId xmlns:a16="http://schemas.microsoft.com/office/drawing/2014/main" id="{53D543BA-C800-1558-D51A-2641B9E2B5BF}"/>
              </a:ext>
            </a:extLst>
          </p:cNvPr>
          <p:cNvCxnSpPr/>
          <p:nvPr/>
        </p:nvCxnSpPr>
        <p:spPr bwMode="auto">
          <a:xfrm>
            <a:off x="1136576"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線コネクタ 5">
            <a:extLst>
              <a:ext uri="{FF2B5EF4-FFF2-40B4-BE49-F238E27FC236}">
                <a16:creationId xmlns:a16="http://schemas.microsoft.com/office/drawing/2014/main" id="{8553F4F1-5C2C-51F7-BBF6-CCE715CD0FF6}"/>
              </a:ext>
            </a:extLst>
          </p:cNvPr>
          <p:cNvCxnSpPr/>
          <p:nvPr/>
        </p:nvCxnSpPr>
        <p:spPr bwMode="auto">
          <a:xfrm>
            <a:off x="2792760"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線コネクタ 6">
            <a:extLst>
              <a:ext uri="{FF2B5EF4-FFF2-40B4-BE49-F238E27FC236}">
                <a16:creationId xmlns:a16="http://schemas.microsoft.com/office/drawing/2014/main" id="{FC2EB855-734E-4442-D4F8-180AEED243AD}"/>
              </a:ext>
            </a:extLst>
          </p:cNvPr>
          <p:cNvCxnSpPr/>
          <p:nvPr/>
        </p:nvCxnSpPr>
        <p:spPr bwMode="auto">
          <a:xfrm>
            <a:off x="3872880"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線コネクタ 7">
            <a:extLst>
              <a:ext uri="{FF2B5EF4-FFF2-40B4-BE49-F238E27FC236}">
                <a16:creationId xmlns:a16="http://schemas.microsoft.com/office/drawing/2014/main" id="{BAAF6F6E-21D3-69B5-38B7-C42EE9F01304}"/>
              </a:ext>
            </a:extLst>
          </p:cNvPr>
          <p:cNvCxnSpPr/>
          <p:nvPr/>
        </p:nvCxnSpPr>
        <p:spPr bwMode="auto">
          <a:xfrm>
            <a:off x="6681192"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 name="Picture 78" descr="j0433944">
            <a:extLst>
              <a:ext uri="{FF2B5EF4-FFF2-40B4-BE49-F238E27FC236}">
                <a16:creationId xmlns:a16="http://schemas.microsoft.com/office/drawing/2014/main" id="{07367527-C346-AB5D-6789-989F753E1B0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975" y="1646363"/>
            <a:ext cx="617051" cy="58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テキスト ボックス 9">
            <a:extLst>
              <a:ext uri="{FF2B5EF4-FFF2-40B4-BE49-F238E27FC236}">
                <a16:creationId xmlns:a16="http://schemas.microsoft.com/office/drawing/2014/main" id="{7AA97CBB-CD57-E8FD-326A-90027504CB4F}"/>
              </a:ext>
            </a:extLst>
          </p:cNvPr>
          <p:cNvSpPr txBox="1"/>
          <p:nvPr/>
        </p:nvSpPr>
        <p:spPr>
          <a:xfrm>
            <a:off x="1637696" y="1286323"/>
            <a:ext cx="492443" cy="276999"/>
          </a:xfrm>
          <a:prstGeom prst="rect">
            <a:avLst/>
          </a:prstGeom>
          <a:noFill/>
        </p:spPr>
        <p:txBody>
          <a:bodyPr wrap="none" rtlCol="0">
            <a:spAutoFit/>
          </a:bodyPr>
          <a:lstStyle/>
          <a:p>
            <a:r>
              <a:rPr kumimoji="1" lang="ja-JP" altLang="en-US" sz="1200" dirty="0"/>
              <a:t>画面</a:t>
            </a:r>
          </a:p>
        </p:txBody>
      </p:sp>
      <p:sp>
        <p:nvSpPr>
          <p:cNvPr id="11" name="テキスト ボックス 10">
            <a:extLst>
              <a:ext uri="{FF2B5EF4-FFF2-40B4-BE49-F238E27FC236}">
                <a16:creationId xmlns:a16="http://schemas.microsoft.com/office/drawing/2014/main" id="{57DA6756-B22B-2735-6E5B-2DE2EB1FBD66}"/>
              </a:ext>
            </a:extLst>
          </p:cNvPr>
          <p:cNvSpPr txBox="1"/>
          <p:nvPr/>
        </p:nvSpPr>
        <p:spPr>
          <a:xfrm>
            <a:off x="4039438" y="1286323"/>
            <a:ext cx="492443" cy="276999"/>
          </a:xfrm>
          <a:prstGeom prst="rect">
            <a:avLst/>
          </a:prstGeom>
          <a:noFill/>
        </p:spPr>
        <p:txBody>
          <a:bodyPr wrap="none" rtlCol="0">
            <a:spAutoFit/>
          </a:bodyPr>
          <a:lstStyle/>
          <a:p>
            <a:r>
              <a:rPr kumimoji="1" lang="ja-JP" altLang="en-US" sz="1200" dirty="0"/>
              <a:t>処理</a:t>
            </a:r>
          </a:p>
        </p:txBody>
      </p:sp>
      <p:sp>
        <p:nvSpPr>
          <p:cNvPr id="12" name="テキスト ボックス 11">
            <a:extLst>
              <a:ext uri="{FF2B5EF4-FFF2-40B4-BE49-F238E27FC236}">
                <a16:creationId xmlns:a16="http://schemas.microsoft.com/office/drawing/2014/main" id="{451F95AD-C4B6-F700-926F-583C32DAA268}"/>
              </a:ext>
            </a:extLst>
          </p:cNvPr>
          <p:cNvSpPr txBox="1"/>
          <p:nvPr/>
        </p:nvSpPr>
        <p:spPr>
          <a:xfrm>
            <a:off x="5575620" y="1286323"/>
            <a:ext cx="554960" cy="276999"/>
          </a:xfrm>
          <a:prstGeom prst="rect">
            <a:avLst/>
          </a:prstGeom>
          <a:noFill/>
        </p:spPr>
        <p:txBody>
          <a:bodyPr wrap="none" rtlCol="0">
            <a:spAutoFit/>
          </a:bodyPr>
          <a:lstStyle/>
          <a:p>
            <a:r>
              <a:rPr kumimoji="1" lang="ja-JP" altLang="en-US" sz="1200" dirty="0"/>
              <a:t>データ</a:t>
            </a:r>
          </a:p>
        </p:txBody>
      </p:sp>
      <p:cxnSp>
        <p:nvCxnSpPr>
          <p:cNvPr id="14" name="直線矢印コネクタ 13">
            <a:extLst>
              <a:ext uri="{FF2B5EF4-FFF2-40B4-BE49-F238E27FC236}">
                <a16:creationId xmlns:a16="http://schemas.microsoft.com/office/drawing/2014/main" id="{0DD90E8D-FC14-96F5-BF90-9428B7F81C3A}"/>
              </a:ext>
            </a:extLst>
          </p:cNvPr>
          <p:cNvCxnSpPr>
            <a:stCxn id="9" idx="3"/>
            <a:endCxn id="16" idx="1"/>
          </p:cNvCxnSpPr>
          <p:nvPr/>
        </p:nvCxnSpPr>
        <p:spPr bwMode="auto">
          <a:xfrm>
            <a:off x="925026" y="1937296"/>
            <a:ext cx="407018" cy="3762"/>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テキスト ボックス 14">
            <a:extLst>
              <a:ext uri="{FF2B5EF4-FFF2-40B4-BE49-F238E27FC236}">
                <a16:creationId xmlns:a16="http://schemas.microsoft.com/office/drawing/2014/main" id="{D1A44553-5395-9DE4-1F7C-0B0D1CCAA696}"/>
              </a:ext>
            </a:extLst>
          </p:cNvPr>
          <p:cNvSpPr txBox="1"/>
          <p:nvPr/>
        </p:nvSpPr>
        <p:spPr>
          <a:xfrm>
            <a:off x="3034392" y="1297356"/>
            <a:ext cx="529312" cy="276999"/>
          </a:xfrm>
          <a:prstGeom prst="rect">
            <a:avLst/>
          </a:prstGeom>
          <a:noFill/>
        </p:spPr>
        <p:txBody>
          <a:bodyPr wrap="none" rtlCol="0">
            <a:spAutoFit/>
          </a:bodyPr>
          <a:lstStyle/>
          <a:p>
            <a:r>
              <a:rPr kumimoji="1" lang="ja-JP" altLang="en-US" sz="1200" dirty="0"/>
              <a:t>バッチ</a:t>
            </a:r>
          </a:p>
        </p:txBody>
      </p:sp>
      <p:sp>
        <p:nvSpPr>
          <p:cNvPr id="16" name="正方形/長方形 15">
            <a:extLst>
              <a:ext uri="{FF2B5EF4-FFF2-40B4-BE49-F238E27FC236}">
                <a16:creationId xmlns:a16="http://schemas.microsoft.com/office/drawing/2014/main" id="{EADB04B3-B58A-F9B6-79AA-FF99CA0A7688}"/>
              </a:ext>
            </a:extLst>
          </p:cNvPr>
          <p:cNvSpPr/>
          <p:nvPr/>
        </p:nvSpPr>
        <p:spPr bwMode="auto">
          <a:xfrm>
            <a:off x="1332044" y="1722133"/>
            <a:ext cx="1305087"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非課税口座開設</a:t>
            </a:r>
          </a:p>
        </p:txBody>
      </p:sp>
      <p:cxnSp>
        <p:nvCxnSpPr>
          <p:cNvPr id="17" name="直線矢印コネクタ 16">
            <a:extLst>
              <a:ext uri="{FF2B5EF4-FFF2-40B4-BE49-F238E27FC236}">
                <a16:creationId xmlns:a16="http://schemas.microsoft.com/office/drawing/2014/main" id="{C03EE5BF-C03C-CFCA-370C-6AC21F83B4CF}"/>
              </a:ext>
            </a:extLst>
          </p:cNvPr>
          <p:cNvCxnSpPr>
            <a:stCxn id="16" idx="3"/>
            <a:endCxn id="18" idx="1"/>
          </p:cNvCxnSpPr>
          <p:nvPr/>
        </p:nvCxnSpPr>
        <p:spPr bwMode="auto">
          <a:xfrm flipV="1">
            <a:off x="2637131" y="1937296"/>
            <a:ext cx="1451773" cy="3762"/>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正方形/長方形 17">
            <a:extLst>
              <a:ext uri="{FF2B5EF4-FFF2-40B4-BE49-F238E27FC236}">
                <a16:creationId xmlns:a16="http://schemas.microsoft.com/office/drawing/2014/main" id="{34507597-A8FB-0A5C-1AB1-04B4D21DF991}"/>
              </a:ext>
            </a:extLst>
          </p:cNvPr>
          <p:cNvSpPr/>
          <p:nvPr/>
        </p:nvSpPr>
        <p:spPr bwMode="auto">
          <a:xfrm>
            <a:off x="4088904" y="1718371"/>
            <a:ext cx="720079"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050" dirty="0">
                <a:solidFill>
                  <a:schemeClr val="tx1"/>
                </a:solidFill>
                <a:latin typeface="Verdana" panose="020B0604030504040204" pitchFamily="34" charset="0"/>
                <a:ea typeface="Meiryo UI" pitchFamily="50" charset="-128"/>
                <a:cs typeface="Meiryo UI" pitchFamily="50" charset="-128"/>
              </a:rPr>
              <a:t>登録</a:t>
            </a:r>
          </a:p>
        </p:txBody>
      </p:sp>
      <p:sp>
        <p:nvSpPr>
          <p:cNvPr id="27" name="フローチャート: 磁気ディスク 26">
            <a:extLst>
              <a:ext uri="{FF2B5EF4-FFF2-40B4-BE49-F238E27FC236}">
                <a16:creationId xmlns:a16="http://schemas.microsoft.com/office/drawing/2014/main" id="{77322FF8-069C-F73A-2C38-17C73AD5E8D1}"/>
              </a:ext>
            </a:extLst>
          </p:cNvPr>
          <p:cNvSpPr/>
          <p:nvPr/>
        </p:nvSpPr>
        <p:spPr bwMode="auto">
          <a:xfrm>
            <a:off x="5241032" y="1660296"/>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MF</a:t>
            </a:r>
            <a:r>
              <a:rPr lang="ja-JP" altLang="en-US" sz="800" dirty="0">
                <a:solidFill>
                  <a:srgbClr val="000000"/>
                </a:solidFill>
                <a:latin typeface="Meiryo UI" panose="020B0604030504040204" pitchFamily="50" charset="-128"/>
                <a:ea typeface="Meiryo UI" panose="020B0604030504040204" pitchFamily="50" charset="-128"/>
              </a:rPr>
              <a:t>口座</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9" name="直線矢印コネクタ 28">
            <a:extLst>
              <a:ext uri="{FF2B5EF4-FFF2-40B4-BE49-F238E27FC236}">
                <a16:creationId xmlns:a16="http://schemas.microsoft.com/office/drawing/2014/main" id="{13979A96-69E7-B6BB-0640-38F463B5B666}"/>
              </a:ext>
            </a:extLst>
          </p:cNvPr>
          <p:cNvCxnSpPr>
            <a:cxnSpLocks/>
            <a:stCxn id="18" idx="3"/>
          </p:cNvCxnSpPr>
          <p:nvPr/>
        </p:nvCxnSpPr>
        <p:spPr bwMode="auto">
          <a:xfrm>
            <a:off x="4808983" y="1937296"/>
            <a:ext cx="432049" cy="3762"/>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コネクタ 27">
            <a:extLst>
              <a:ext uri="{FF2B5EF4-FFF2-40B4-BE49-F238E27FC236}">
                <a16:creationId xmlns:a16="http://schemas.microsoft.com/office/drawing/2014/main" id="{F6DE96D2-5383-EF58-C411-4F1504AC18C4}"/>
              </a:ext>
            </a:extLst>
          </p:cNvPr>
          <p:cNvCxnSpPr/>
          <p:nvPr/>
        </p:nvCxnSpPr>
        <p:spPr bwMode="auto">
          <a:xfrm>
            <a:off x="5025008" y="1563322"/>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テキスト ボックス 30">
            <a:extLst>
              <a:ext uri="{FF2B5EF4-FFF2-40B4-BE49-F238E27FC236}">
                <a16:creationId xmlns:a16="http://schemas.microsoft.com/office/drawing/2014/main" id="{D27ABA5E-E35F-30FE-7330-C4C17513B719}"/>
              </a:ext>
            </a:extLst>
          </p:cNvPr>
          <p:cNvSpPr txBox="1"/>
          <p:nvPr/>
        </p:nvSpPr>
        <p:spPr>
          <a:xfrm>
            <a:off x="7041232" y="1268760"/>
            <a:ext cx="1007007" cy="276999"/>
          </a:xfrm>
          <a:prstGeom prst="rect">
            <a:avLst/>
          </a:prstGeom>
          <a:noFill/>
        </p:spPr>
        <p:txBody>
          <a:bodyPr wrap="none" rtlCol="0">
            <a:spAutoFit/>
          </a:bodyPr>
          <a:lstStyle/>
          <a:p>
            <a:r>
              <a:rPr kumimoji="1" lang="ja-JP" altLang="en-US" sz="1200" dirty="0"/>
              <a:t>外部システム</a:t>
            </a:r>
          </a:p>
        </p:txBody>
      </p:sp>
      <p:cxnSp>
        <p:nvCxnSpPr>
          <p:cNvPr id="32" name="直線コネクタ 31">
            <a:extLst>
              <a:ext uri="{FF2B5EF4-FFF2-40B4-BE49-F238E27FC236}">
                <a16:creationId xmlns:a16="http://schemas.microsoft.com/office/drawing/2014/main" id="{E22F024A-DA9A-1E4F-2B20-AE7DB4439306}"/>
              </a:ext>
            </a:extLst>
          </p:cNvPr>
          <p:cNvCxnSpPr/>
          <p:nvPr/>
        </p:nvCxnSpPr>
        <p:spPr bwMode="auto">
          <a:xfrm>
            <a:off x="9057456" y="1563322"/>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フローチャート: 磁気ディスク 35">
            <a:extLst>
              <a:ext uri="{FF2B5EF4-FFF2-40B4-BE49-F238E27FC236}">
                <a16:creationId xmlns:a16="http://schemas.microsoft.com/office/drawing/2014/main" id="{0136C3C1-9FA3-33BA-16EF-EAD32902D789}"/>
              </a:ext>
            </a:extLst>
          </p:cNvPr>
          <p:cNvSpPr/>
          <p:nvPr/>
        </p:nvSpPr>
        <p:spPr bwMode="auto">
          <a:xfrm>
            <a:off x="5241032" y="1898043"/>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dirty="0">
                <a:solidFill>
                  <a:srgbClr val="000000"/>
                </a:solidFill>
                <a:latin typeface="Meiryo UI" panose="020B0604030504040204" pitchFamily="50" charset="-128"/>
                <a:ea typeface="Meiryo UI" panose="020B0604030504040204" pitchFamily="50" charset="-128"/>
              </a:rPr>
              <a:t>MF</a:t>
            </a:r>
            <a:r>
              <a:rPr lang="zh-TW" altLang="en-US" sz="800" dirty="0">
                <a:solidFill>
                  <a:srgbClr val="000000"/>
                </a:solidFill>
                <a:latin typeface="Meiryo UI" panose="020B0604030504040204" pitchFamily="50" charset="-128"/>
                <a:ea typeface="Meiryo UI" panose="020B0604030504040204" pitchFamily="50" charset="-128"/>
              </a:rPr>
              <a:t>非課税口座利用情報</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フローチャート: 磁気ディスク 36">
            <a:extLst>
              <a:ext uri="{FF2B5EF4-FFF2-40B4-BE49-F238E27FC236}">
                <a16:creationId xmlns:a16="http://schemas.microsoft.com/office/drawing/2014/main" id="{12152482-20FF-CE64-57FF-5931E66DD706}"/>
              </a:ext>
            </a:extLst>
          </p:cNvPr>
          <p:cNvSpPr/>
          <p:nvPr/>
        </p:nvSpPr>
        <p:spPr bwMode="auto">
          <a:xfrm>
            <a:off x="5241032" y="2161452"/>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dirty="0">
                <a:solidFill>
                  <a:srgbClr val="000000"/>
                </a:solidFill>
                <a:latin typeface="Meiryo UI" panose="020B0604030504040204" pitchFamily="50" charset="-128"/>
                <a:ea typeface="Meiryo UI" panose="020B0604030504040204" pitchFamily="50" charset="-128"/>
              </a:rPr>
              <a:t>MF</a:t>
            </a:r>
            <a:r>
              <a:rPr lang="zh-TW" altLang="en-US" sz="800" dirty="0">
                <a:solidFill>
                  <a:srgbClr val="000000"/>
                </a:solidFill>
                <a:latin typeface="Meiryo UI" panose="020B0604030504040204" pitchFamily="50" charset="-128"/>
                <a:ea typeface="Meiryo UI" panose="020B0604030504040204" pitchFamily="50" charset="-128"/>
              </a:rPr>
              <a:t>非課税口座簡易開設</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正方形/長方形 40">
            <a:extLst>
              <a:ext uri="{FF2B5EF4-FFF2-40B4-BE49-F238E27FC236}">
                <a16:creationId xmlns:a16="http://schemas.microsoft.com/office/drawing/2014/main" id="{B7AE706C-A279-B8FF-1C97-FEFD1B0EE60C}"/>
              </a:ext>
            </a:extLst>
          </p:cNvPr>
          <p:cNvSpPr/>
          <p:nvPr/>
        </p:nvSpPr>
        <p:spPr bwMode="auto">
          <a:xfrm>
            <a:off x="1332044" y="2953784"/>
            <a:ext cx="1305087"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買付など</a:t>
            </a:r>
          </a:p>
        </p:txBody>
      </p:sp>
      <p:cxnSp>
        <p:nvCxnSpPr>
          <p:cNvPr id="42" name="直線矢印コネクタ 41">
            <a:extLst>
              <a:ext uri="{FF2B5EF4-FFF2-40B4-BE49-F238E27FC236}">
                <a16:creationId xmlns:a16="http://schemas.microsoft.com/office/drawing/2014/main" id="{2C9AC763-6C9C-E242-60DC-43717BD0DC6C}"/>
              </a:ext>
            </a:extLst>
          </p:cNvPr>
          <p:cNvCxnSpPr>
            <a:stCxn id="41" idx="3"/>
            <a:endCxn id="43" idx="1"/>
          </p:cNvCxnSpPr>
          <p:nvPr/>
        </p:nvCxnSpPr>
        <p:spPr bwMode="auto">
          <a:xfrm flipV="1">
            <a:off x="2637131" y="3168947"/>
            <a:ext cx="1451773" cy="3762"/>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正方形/長方形 42">
            <a:extLst>
              <a:ext uri="{FF2B5EF4-FFF2-40B4-BE49-F238E27FC236}">
                <a16:creationId xmlns:a16="http://schemas.microsoft.com/office/drawing/2014/main" id="{C17323C9-4F1E-823E-FF34-8F0007A70423}"/>
              </a:ext>
            </a:extLst>
          </p:cNvPr>
          <p:cNvSpPr/>
          <p:nvPr/>
        </p:nvSpPr>
        <p:spPr bwMode="auto">
          <a:xfrm>
            <a:off x="4088904" y="2950022"/>
            <a:ext cx="720079"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050" dirty="0">
                <a:solidFill>
                  <a:schemeClr val="tx1"/>
                </a:solidFill>
                <a:latin typeface="Verdana" panose="020B0604030504040204" pitchFamily="34" charset="0"/>
                <a:ea typeface="Meiryo UI" pitchFamily="50" charset="-128"/>
                <a:cs typeface="Meiryo UI" pitchFamily="50" charset="-128"/>
              </a:rPr>
              <a:t>登録</a:t>
            </a:r>
          </a:p>
        </p:txBody>
      </p:sp>
      <p:sp>
        <p:nvSpPr>
          <p:cNvPr id="44" name="フローチャート: 磁気ディスク 43">
            <a:extLst>
              <a:ext uri="{FF2B5EF4-FFF2-40B4-BE49-F238E27FC236}">
                <a16:creationId xmlns:a16="http://schemas.microsoft.com/office/drawing/2014/main" id="{B2BEEA16-D9B4-4E8E-BAEB-28A0C1970134}"/>
              </a:ext>
            </a:extLst>
          </p:cNvPr>
          <p:cNvSpPr/>
          <p:nvPr/>
        </p:nvSpPr>
        <p:spPr bwMode="auto">
          <a:xfrm>
            <a:off x="5241031" y="3034209"/>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TF</a:t>
            </a:r>
            <a:r>
              <a:rPr lang="ja-JP" altLang="en-US" sz="800" dirty="0">
                <a:solidFill>
                  <a:srgbClr val="000000"/>
                </a:solidFill>
                <a:latin typeface="Meiryo UI" panose="020B0604030504040204" pitchFamily="50" charset="-128"/>
                <a:ea typeface="Meiryo UI" panose="020B0604030504040204" pitchFamily="50" charset="-128"/>
              </a:rPr>
              <a:t>伝票管理</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5" name="直線矢印コネクタ 44">
            <a:extLst>
              <a:ext uri="{FF2B5EF4-FFF2-40B4-BE49-F238E27FC236}">
                <a16:creationId xmlns:a16="http://schemas.microsoft.com/office/drawing/2014/main" id="{D4C41709-E5BF-B6B7-E9CF-E9DFD783811B}"/>
              </a:ext>
            </a:extLst>
          </p:cNvPr>
          <p:cNvCxnSpPr>
            <a:cxnSpLocks/>
            <a:stCxn id="43" idx="3"/>
          </p:cNvCxnSpPr>
          <p:nvPr/>
        </p:nvCxnSpPr>
        <p:spPr bwMode="auto">
          <a:xfrm>
            <a:off x="4808983" y="3168947"/>
            <a:ext cx="432049" cy="3762"/>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テキスト ボックス 47">
            <a:extLst>
              <a:ext uri="{FF2B5EF4-FFF2-40B4-BE49-F238E27FC236}">
                <a16:creationId xmlns:a16="http://schemas.microsoft.com/office/drawing/2014/main" id="{09CBB029-673D-C326-7476-EC1BA33651AF}"/>
              </a:ext>
            </a:extLst>
          </p:cNvPr>
          <p:cNvSpPr txBox="1"/>
          <p:nvPr/>
        </p:nvSpPr>
        <p:spPr>
          <a:xfrm>
            <a:off x="6465168" y="1941058"/>
            <a:ext cx="1646605" cy="246221"/>
          </a:xfrm>
          <a:prstGeom prst="rect">
            <a:avLst/>
          </a:prstGeom>
          <a:solidFill>
            <a:schemeClr val="bg1"/>
          </a:solidFill>
        </p:spPr>
        <p:txBody>
          <a:bodyPr wrap="none" rtlCol="0">
            <a:spAutoFit/>
          </a:bodyPr>
          <a:lstStyle/>
          <a:p>
            <a:r>
              <a:rPr kumimoji="1" lang="ja-JP" altLang="en-US" sz="1000" dirty="0"/>
              <a:t>非課税口座開設状態にする</a:t>
            </a:r>
            <a:endParaRPr kumimoji="1" lang="en-US" altLang="ja-JP" sz="1000" dirty="0"/>
          </a:p>
        </p:txBody>
      </p:sp>
      <p:sp>
        <p:nvSpPr>
          <p:cNvPr id="50" name="テキスト ボックス 49">
            <a:extLst>
              <a:ext uri="{FF2B5EF4-FFF2-40B4-BE49-F238E27FC236}">
                <a16:creationId xmlns:a16="http://schemas.microsoft.com/office/drawing/2014/main" id="{367C6D30-9509-E2EF-FB79-DD07E4A01B6C}"/>
              </a:ext>
            </a:extLst>
          </p:cNvPr>
          <p:cNvSpPr txBox="1"/>
          <p:nvPr/>
        </p:nvSpPr>
        <p:spPr>
          <a:xfrm>
            <a:off x="1234448" y="3412107"/>
            <a:ext cx="1486304" cy="246221"/>
          </a:xfrm>
          <a:prstGeom prst="rect">
            <a:avLst/>
          </a:prstGeom>
          <a:solidFill>
            <a:schemeClr val="bg1"/>
          </a:solidFill>
        </p:spPr>
        <p:txBody>
          <a:bodyPr wrap="none" rtlCol="0">
            <a:spAutoFit/>
          </a:bodyPr>
          <a:lstStyle/>
          <a:p>
            <a:r>
              <a:rPr kumimoji="1" lang="en-US" altLang="ja-JP" sz="1000" dirty="0"/>
              <a:t>NISA</a:t>
            </a:r>
            <a:r>
              <a:rPr kumimoji="1" lang="ja-JP" altLang="en-US" sz="1000" dirty="0"/>
              <a:t>先日付注文のみ可</a:t>
            </a:r>
            <a:endParaRPr kumimoji="1" lang="en-US" altLang="ja-JP" sz="1000" dirty="0"/>
          </a:p>
        </p:txBody>
      </p:sp>
      <p:sp>
        <p:nvSpPr>
          <p:cNvPr id="60" name="フローチャート: 磁気ディスク 59">
            <a:extLst>
              <a:ext uri="{FF2B5EF4-FFF2-40B4-BE49-F238E27FC236}">
                <a16:creationId xmlns:a16="http://schemas.microsoft.com/office/drawing/2014/main" id="{D9A53817-042A-4A0A-32D8-8DE2D9C7F28F}"/>
              </a:ext>
            </a:extLst>
          </p:cNvPr>
          <p:cNvSpPr/>
          <p:nvPr/>
        </p:nvSpPr>
        <p:spPr bwMode="auto">
          <a:xfrm>
            <a:off x="5276930" y="3874981"/>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MF</a:t>
            </a:r>
            <a:r>
              <a:rPr lang="ja-JP" altLang="en-US" sz="800" dirty="0">
                <a:solidFill>
                  <a:srgbClr val="000000"/>
                </a:solidFill>
                <a:latin typeface="Meiryo UI" panose="020B0604030504040204" pitchFamily="50" charset="-128"/>
                <a:ea typeface="Meiryo UI" panose="020B0604030504040204" pitchFamily="50" charset="-128"/>
              </a:rPr>
              <a:t>口座</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フローチャート: 磁気ディスク 60">
            <a:extLst>
              <a:ext uri="{FF2B5EF4-FFF2-40B4-BE49-F238E27FC236}">
                <a16:creationId xmlns:a16="http://schemas.microsoft.com/office/drawing/2014/main" id="{57E85291-C1A0-738C-CC59-7B8043550DC3}"/>
              </a:ext>
            </a:extLst>
          </p:cNvPr>
          <p:cNvSpPr/>
          <p:nvPr/>
        </p:nvSpPr>
        <p:spPr bwMode="auto">
          <a:xfrm>
            <a:off x="5294985" y="4112728"/>
            <a:ext cx="1098175" cy="276999"/>
          </a:xfrm>
          <a:prstGeom prst="flowChartMagneticDisk">
            <a:avLst/>
          </a:prstGeom>
          <a:ln>
            <a:solidFill>
              <a:schemeClr val="accent2">
                <a:alpha val="95000"/>
              </a:schemeClr>
            </a:solidFill>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strike="sngStrike" dirty="0">
                <a:solidFill>
                  <a:srgbClr val="000000"/>
                </a:solidFill>
                <a:latin typeface="Meiryo UI" panose="020B0604030504040204" pitchFamily="50" charset="-128"/>
                <a:ea typeface="Meiryo UI" panose="020B0604030504040204" pitchFamily="50" charset="-128"/>
              </a:rPr>
              <a:t>MF</a:t>
            </a:r>
            <a:r>
              <a:rPr lang="zh-TW" altLang="en-US" sz="800" strike="sngStrike" dirty="0">
                <a:solidFill>
                  <a:srgbClr val="000000"/>
                </a:solidFill>
                <a:latin typeface="Meiryo UI" panose="020B0604030504040204" pitchFamily="50" charset="-128"/>
                <a:ea typeface="Meiryo UI" panose="020B0604030504040204" pitchFamily="50" charset="-128"/>
              </a:rPr>
              <a:t>非課税口座利用情報</a:t>
            </a:r>
            <a:endParaRPr kumimoji="1" lang="ja-JP" altLang="en-US" sz="700" strike="sngStrike"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フローチャート: 磁気ディスク 61">
            <a:extLst>
              <a:ext uri="{FF2B5EF4-FFF2-40B4-BE49-F238E27FC236}">
                <a16:creationId xmlns:a16="http://schemas.microsoft.com/office/drawing/2014/main" id="{BA49183F-7942-67C7-5BEB-FDC319CF8972}"/>
              </a:ext>
            </a:extLst>
          </p:cNvPr>
          <p:cNvSpPr/>
          <p:nvPr/>
        </p:nvSpPr>
        <p:spPr bwMode="auto">
          <a:xfrm>
            <a:off x="5294985" y="4376137"/>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strike="sngStrike" dirty="0">
                <a:solidFill>
                  <a:srgbClr val="000000"/>
                </a:solidFill>
                <a:latin typeface="Meiryo UI" panose="020B0604030504040204" pitchFamily="50" charset="-128"/>
                <a:ea typeface="Meiryo UI" panose="020B0604030504040204" pitchFamily="50" charset="-128"/>
              </a:rPr>
              <a:t>MF</a:t>
            </a:r>
            <a:r>
              <a:rPr lang="zh-TW" altLang="en-US" sz="800" strike="sngStrike" dirty="0">
                <a:solidFill>
                  <a:srgbClr val="000000"/>
                </a:solidFill>
                <a:latin typeface="Meiryo UI" panose="020B0604030504040204" pitchFamily="50" charset="-128"/>
                <a:ea typeface="Meiryo UI" panose="020B0604030504040204" pitchFamily="50" charset="-128"/>
              </a:rPr>
              <a:t>非課税口座簡易開設</a:t>
            </a:r>
            <a:endParaRPr kumimoji="1" lang="ja-JP" altLang="en-US" sz="700" strike="sngStrike"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テキスト ボックス 73">
            <a:extLst>
              <a:ext uri="{FF2B5EF4-FFF2-40B4-BE49-F238E27FC236}">
                <a16:creationId xmlns:a16="http://schemas.microsoft.com/office/drawing/2014/main" id="{456EE6BC-0440-3100-2F55-06D542CC329C}"/>
              </a:ext>
            </a:extLst>
          </p:cNvPr>
          <p:cNvSpPr txBox="1"/>
          <p:nvPr/>
        </p:nvSpPr>
        <p:spPr>
          <a:xfrm>
            <a:off x="6510729" y="4217800"/>
            <a:ext cx="1810058" cy="246221"/>
          </a:xfrm>
          <a:prstGeom prst="rect">
            <a:avLst/>
          </a:prstGeom>
          <a:solidFill>
            <a:schemeClr val="bg1"/>
          </a:solidFill>
        </p:spPr>
        <p:txBody>
          <a:bodyPr wrap="square" rtlCol="0">
            <a:spAutoFit/>
          </a:bodyPr>
          <a:lstStyle/>
          <a:p>
            <a:r>
              <a:rPr kumimoji="1" lang="ja-JP" altLang="en-US" sz="1000" dirty="0"/>
              <a:t>非課税口座未開設状態に戻す</a:t>
            </a:r>
            <a:endParaRPr kumimoji="1" lang="en-US" altLang="ja-JP" sz="1000" dirty="0"/>
          </a:p>
        </p:txBody>
      </p:sp>
      <p:sp>
        <p:nvSpPr>
          <p:cNvPr id="3" name="正方形/長方形 2">
            <a:extLst>
              <a:ext uri="{FF2B5EF4-FFF2-40B4-BE49-F238E27FC236}">
                <a16:creationId xmlns:a16="http://schemas.microsoft.com/office/drawing/2014/main" id="{8E3F8EB8-2475-70E9-FB29-D00F59131B45}"/>
              </a:ext>
            </a:extLst>
          </p:cNvPr>
          <p:cNvSpPr/>
          <p:nvPr/>
        </p:nvSpPr>
        <p:spPr bwMode="auto">
          <a:xfrm>
            <a:off x="1312125" y="4077019"/>
            <a:ext cx="1305087"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営業店検印</a:t>
            </a:r>
            <a:endParaRPr kumimoji="1" lang="en-US" altLang="ja-JP" sz="1050" dirty="0"/>
          </a:p>
          <a:p>
            <a:pPr algn="ctr">
              <a:spcBef>
                <a:spcPct val="20000"/>
              </a:spcBef>
            </a:pPr>
            <a:r>
              <a:rPr kumimoji="1" lang="ja-JP" altLang="en-US" sz="1050" dirty="0"/>
              <a:t>本部検印</a:t>
            </a:r>
          </a:p>
        </p:txBody>
      </p:sp>
      <p:sp>
        <p:nvSpPr>
          <p:cNvPr id="19" name="正方形/長方形 18">
            <a:extLst>
              <a:ext uri="{FF2B5EF4-FFF2-40B4-BE49-F238E27FC236}">
                <a16:creationId xmlns:a16="http://schemas.microsoft.com/office/drawing/2014/main" id="{AA250F06-56E4-7B4E-4A99-A07E278F39A4}"/>
              </a:ext>
            </a:extLst>
          </p:cNvPr>
          <p:cNvSpPr/>
          <p:nvPr/>
        </p:nvSpPr>
        <p:spPr bwMode="auto">
          <a:xfrm>
            <a:off x="4098485" y="4077019"/>
            <a:ext cx="720079" cy="43784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p>
            <a:pPr algn="ctr">
              <a:lnSpc>
                <a:spcPct val="100000"/>
              </a:lnSpc>
              <a:spcBef>
                <a:spcPct val="20000"/>
              </a:spcBef>
            </a:pPr>
            <a:r>
              <a:rPr kumimoji="1" lang="ja-JP" altLang="en-US" sz="1050" dirty="0">
                <a:solidFill>
                  <a:schemeClr val="tx1"/>
                </a:solidFill>
                <a:latin typeface="Verdana" panose="020B0604030504040204" pitchFamily="34" charset="0"/>
                <a:ea typeface="Meiryo UI" pitchFamily="50" charset="-128"/>
                <a:cs typeface="Meiryo UI" pitchFamily="50" charset="-128"/>
              </a:rPr>
              <a:t>却下</a:t>
            </a:r>
          </a:p>
        </p:txBody>
      </p:sp>
      <p:cxnSp>
        <p:nvCxnSpPr>
          <p:cNvPr id="20" name="直線矢印コネクタ 19">
            <a:extLst>
              <a:ext uri="{FF2B5EF4-FFF2-40B4-BE49-F238E27FC236}">
                <a16:creationId xmlns:a16="http://schemas.microsoft.com/office/drawing/2014/main" id="{24B8501C-3A50-64F8-E130-6CA0F0C01D38}"/>
              </a:ext>
            </a:extLst>
          </p:cNvPr>
          <p:cNvCxnSpPr>
            <a:stCxn id="3" idx="3"/>
            <a:endCxn id="19" idx="1"/>
          </p:cNvCxnSpPr>
          <p:nvPr/>
        </p:nvCxnSpPr>
        <p:spPr bwMode="auto">
          <a:xfrm>
            <a:off x="2617212" y="4295944"/>
            <a:ext cx="1481273" cy="0"/>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矢印コネクタ 22">
            <a:extLst>
              <a:ext uri="{FF2B5EF4-FFF2-40B4-BE49-F238E27FC236}">
                <a16:creationId xmlns:a16="http://schemas.microsoft.com/office/drawing/2014/main" id="{1D12F425-8172-5FF2-B787-FC2913302CDB}"/>
              </a:ext>
            </a:extLst>
          </p:cNvPr>
          <p:cNvCxnSpPr>
            <a:cxnSpLocks/>
            <a:stCxn id="19" idx="3"/>
          </p:cNvCxnSpPr>
          <p:nvPr/>
        </p:nvCxnSpPr>
        <p:spPr bwMode="auto">
          <a:xfrm>
            <a:off x="4818564" y="4295944"/>
            <a:ext cx="418275" cy="0"/>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楕円 12">
            <a:extLst>
              <a:ext uri="{FF2B5EF4-FFF2-40B4-BE49-F238E27FC236}">
                <a16:creationId xmlns:a16="http://schemas.microsoft.com/office/drawing/2014/main" id="{DC465026-DEA6-B47B-0A00-11FB285D899F}"/>
              </a:ext>
            </a:extLst>
          </p:cNvPr>
          <p:cNvSpPr/>
          <p:nvPr/>
        </p:nvSpPr>
        <p:spPr>
          <a:xfrm>
            <a:off x="2487394" y="1622218"/>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21" name="楕円 20">
            <a:extLst>
              <a:ext uri="{FF2B5EF4-FFF2-40B4-BE49-F238E27FC236}">
                <a16:creationId xmlns:a16="http://schemas.microsoft.com/office/drawing/2014/main" id="{F9C5FCEF-BD62-B9A0-4A8D-960F89CE2133}"/>
              </a:ext>
            </a:extLst>
          </p:cNvPr>
          <p:cNvSpPr/>
          <p:nvPr/>
        </p:nvSpPr>
        <p:spPr>
          <a:xfrm>
            <a:off x="2505772" y="2889504"/>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22" name="楕円 21">
            <a:extLst>
              <a:ext uri="{FF2B5EF4-FFF2-40B4-BE49-F238E27FC236}">
                <a16:creationId xmlns:a16="http://schemas.microsoft.com/office/drawing/2014/main" id="{42753314-7393-C744-B290-A069DE22C5E6}"/>
              </a:ext>
            </a:extLst>
          </p:cNvPr>
          <p:cNvSpPr/>
          <p:nvPr/>
        </p:nvSpPr>
        <p:spPr>
          <a:xfrm>
            <a:off x="2501278" y="4012739"/>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24" name="テキスト ボックス 23">
            <a:extLst>
              <a:ext uri="{FF2B5EF4-FFF2-40B4-BE49-F238E27FC236}">
                <a16:creationId xmlns:a16="http://schemas.microsoft.com/office/drawing/2014/main" id="{8E44AD23-0D5C-7367-0A5B-D1A872541236}"/>
              </a:ext>
            </a:extLst>
          </p:cNvPr>
          <p:cNvSpPr txBox="1"/>
          <p:nvPr/>
        </p:nvSpPr>
        <p:spPr>
          <a:xfrm>
            <a:off x="6461587" y="2194964"/>
            <a:ext cx="3459601" cy="246221"/>
          </a:xfrm>
          <a:prstGeom prst="rect">
            <a:avLst/>
          </a:prstGeom>
          <a:solidFill>
            <a:schemeClr val="bg1"/>
          </a:solidFill>
        </p:spPr>
        <p:txBody>
          <a:bodyPr wrap="none" rtlCol="0">
            <a:spAutoFit/>
          </a:bodyPr>
          <a:lstStyle/>
          <a:p>
            <a:r>
              <a:rPr kumimoji="1" lang="en-US" altLang="ja-JP" sz="1000" dirty="0">
                <a:solidFill>
                  <a:srgbClr val="FF0000"/>
                </a:solidFill>
              </a:rPr>
              <a:t>MF</a:t>
            </a:r>
            <a:r>
              <a:rPr kumimoji="1" lang="ja-JP" altLang="en-US" sz="1000" dirty="0">
                <a:solidFill>
                  <a:srgbClr val="FF0000"/>
                </a:solidFill>
              </a:rPr>
              <a:t>非課税口座簡易開設に</a:t>
            </a:r>
            <a:r>
              <a:rPr kumimoji="1" lang="zh-TW" altLang="en-US" sz="1000" dirty="0">
                <a:solidFill>
                  <a:srgbClr val="FF0000"/>
                </a:solidFill>
              </a:rPr>
              <a:t>非課税口座開設見込区分</a:t>
            </a:r>
            <a:r>
              <a:rPr kumimoji="1" lang="ja-JP" altLang="en-US" sz="1000" dirty="0">
                <a:solidFill>
                  <a:srgbClr val="FF0000"/>
                </a:solidFill>
              </a:rPr>
              <a:t>を追加</a:t>
            </a:r>
            <a:endParaRPr kumimoji="1" lang="en-US" altLang="ja-JP" sz="1000" dirty="0">
              <a:solidFill>
                <a:srgbClr val="FF0000"/>
              </a:solidFill>
            </a:endParaRPr>
          </a:p>
        </p:txBody>
      </p:sp>
    </p:spTree>
    <p:extLst>
      <p:ext uri="{BB962C8B-B14F-4D97-AF65-F5344CB8AC3E}">
        <p14:creationId xmlns:p14="http://schemas.microsoft.com/office/powerpoint/2010/main" val="328707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D88D0-5F99-9689-E62D-0B183344DA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293E45-DD5D-DB80-E965-D07FDF576DD3}"/>
              </a:ext>
            </a:extLst>
          </p:cNvPr>
          <p:cNvSpPr>
            <a:spLocks noGrp="1"/>
          </p:cNvSpPr>
          <p:nvPr>
            <p:ph type="title"/>
          </p:nvPr>
        </p:nvSpPr>
        <p:spPr/>
        <p:txBody>
          <a:bodyPr/>
          <a:lstStyle/>
          <a:p>
            <a:r>
              <a:rPr kumimoji="1" lang="ja-JP" altLang="en-US" dirty="0"/>
              <a:t>４．データ</a:t>
            </a:r>
          </a:p>
        </p:txBody>
      </p:sp>
      <p:sp>
        <p:nvSpPr>
          <p:cNvPr id="4" name="Text Box 16">
            <a:extLst>
              <a:ext uri="{FF2B5EF4-FFF2-40B4-BE49-F238E27FC236}">
                <a16:creationId xmlns:a16="http://schemas.microsoft.com/office/drawing/2014/main" id="{F868397C-A08B-09D2-36B9-E6079543C238}"/>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＜データフロー＞</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業務に対してどういったデータフローが発生するのかを整理する。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cxnSp>
        <p:nvCxnSpPr>
          <p:cNvPr id="5" name="直線コネクタ 4">
            <a:extLst>
              <a:ext uri="{FF2B5EF4-FFF2-40B4-BE49-F238E27FC236}">
                <a16:creationId xmlns:a16="http://schemas.microsoft.com/office/drawing/2014/main" id="{760863EA-6E5C-9E36-7562-C1896486EE3C}"/>
              </a:ext>
            </a:extLst>
          </p:cNvPr>
          <p:cNvCxnSpPr/>
          <p:nvPr/>
        </p:nvCxnSpPr>
        <p:spPr bwMode="auto">
          <a:xfrm>
            <a:off x="1136576"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線コネクタ 5">
            <a:extLst>
              <a:ext uri="{FF2B5EF4-FFF2-40B4-BE49-F238E27FC236}">
                <a16:creationId xmlns:a16="http://schemas.microsoft.com/office/drawing/2014/main" id="{AAE86C0F-CB53-3498-042C-FE7C2785A8E9}"/>
              </a:ext>
            </a:extLst>
          </p:cNvPr>
          <p:cNvCxnSpPr/>
          <p:nvPr/>
        </p:nvCxnSpPr>
        <p:spPr bwMode="auto">
          <a:xfrm>
            <a:off x="2792760"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線コネクタ 6">
            <a:extLst>
              <a:ext uri="{FF2B5EF4-FFF2-40B4-BE49-F238E27FC236}">
                <a16:creationId xmlns:a16="http://schemas.microsoft.com/office/drawing/2014/main" id="{FB0877DE-4323-6290-12EE-71896D45DC71}"/>
              </a:ext>
            </a:extLst>
          </p:cNvPr>
          <p:cNvCxnSpPr/>
          <p:nvPr/>
        </p:nvCxnSpPr>
        <p:spPr bwMode="auto">
          <a:xfrm>
            <a:off x="3872880"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線コネクタ 7">
            <a:extLst>
              <a:ext uri="{FF2B5EF4-FFF2-40B4-BE49-F238E27FC236}">
                <a16:creationId xmlns:a16="http://schemas.microsoft.com/office/drawing/2014/main" id="{EC299767-C64E-FFD5-D88B-7363E5C22BE9}"/>
              </a:ext>
            </a:extLst>
          </p:cNvPr>
          <p:cNvCxnSpPr/>
          <p:nvPr/>
        </p:nvCxnSpPr>
        <p:spPr bwMode="auto">
          <a:xfrm>
            <a:off x="6681192" y="1574355"/>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テキスト ボックス 9">
            <a:extLst>
              <a:ext uri="{FF2B5EF4-FFF2-40B4-BE49-F238E27FC236}">
                <a16:creationId xmlns:a16="http://schemas.microsoft.com/office/drawing/2014/main" id="{34B3289C-D491-75C9-988B-D829A25CA1A3}"/>
              </a:ext>
            </a:extLst>
          </p:cNvPr>
          <p:cNvSpPr txBox="1"/>
          <p:nvPr/>
        </p:nvSpPr>
        <p:spPr>
          <a:xfrm>
            <a:off x="1637696" y="1286323"/>
            <a:ext cx="492443" cy="276999"/>
          </a:xfrm>
          <a:prstGeom prst="rect">
            <a:avLst/>
          </a:prstGeom>
          <a:noFill/>
        </p:spPr>
        <p:txBody>
          <a:bodyPr wrap="none" rtlCol="0">
            <a:spAutoFit/>
          </a:bodyPr>
          <a:lstStyle/>
          <a:p>
            <a:r>
              <a:rPr kumimoji="1" lang="ja-JP" altLang="en-US" sz="1200" dirty="0"/>
              <a:t>画面</a:t>
            </a:r>
          </a:p>
        </p:txBody>
      </p:sp>
      <p:sp>
        <p:nvSpPr>
          <p:cNvPr id="11" name="テキスト ボックス 10">
            <a:extLst>
              <a:ext uri="{FF2B5EF4-FFF2-40B4-BE49-F238E27FC236}">
                <a16:creationId xmlns:a16="http://schemas.microsoft.com/office/drawing/2014/main" id="{95A0ABA0-3149-AD79-0F28-B6D579D5E716}"/>
              </a:ext>
            </a:extLst>
          </p:cNvPr>
          <p:cNvSpPr txBox="1"/>
          <p:nvPr/>
        </p:nvSpPr>
        <p:spPr>
          <a:xfrm>
            <a:off x="4039438" y="1286323"/>
            <a:ext cx="492443" cy="276999"/>
          </a:xfrm>
          <a:prstGeom prst="rect">
            <a:avLst/>
          </a:prstGeom>
          <a:noFill/>
        </p:spPr>
        <p:txBody>
          <a:bodyPr wrap="none" rtlCol="0">
            <a:spAutoFit/>
          </a:bodyPr>
          <a:lstStyle/>
          <a:p>
            <a:r>
              <a:rPr kumimoji="1" lang="ja-JP" altLang="en-US" sz="1200" dirty="0"/>
              <a:t>処理</a:t>
            </a:r>
          </a:p>
        </p:txBody>
      </p:sp>
      <p:sp>
        <p:nvSpPr>
          <p:cNvPr id="12" name="テキスト ボックス 11">
            <a:extLst>
              <a:ext uri="{FF2B5EF4-FFF2-40B4-BE49-F238E27FC236}">
                <a16:creationId xmlns:a16="http://schemas.microsoft.com/office/drawing/2014/main" id="{AAA75034-0096-416D-35F5-C01E819007A8}"/>
              </a:ext>
            </a:extLst>
          </p:cNvPr>
          <p:cNvSpPr txBox="1"/>
          <p:nvPr/>
        </p:nvSpPr>
        <p:spPr>
          <a:xfrm>
            <a:off x="5575620" y="1286323"/>
            <a:ext cx="554960" cy="276999"/>
          </a:xfrm>
          <a:prstGeom prst="rect">
            <a:avLst/>
          </a:prstGeom>
          <a:noFill/>
        </p:spPr>
        <p:txBody>
          <a:bodyPr wrap="none" rtlCol="0">
            <a:spAutoFit/>
          </a:bodyPr>
          <a:lstStyle/>
          <a:p>
            <a:r>
              <a:rPr kumimoji="1" lang="ja-JP" altLang="en-US" sz="1200" dirty="0"/>
              <a:t>データ</a:t>
            </a:r>
          </a:p>
        </p:txBody>
      </p:sp>
      <p:sp>
        <p:nvSpPr>
          <p:cNvPr id="15" name="テキスト ボックス 14">
            <a:extLst>
              <a:ext uri="{FF2B5EF4-FFF2-40B4-BE49-F238E27FC236}">
                <a16:creationId xmlns:a16="http://schemas.microsoft.com/office/drawing/2014/main" id="{5418CDB5-4B61-3CCD-846D-5A4B68EDA022}"/>
              </a:ext>
            </a:extLst>
          </p:cNvPr>
          <p:cNvSpPr txBox="1"/>
          <p:nvPr/>
        </p:nvSpPr>
        <p:spPr>
          <a:xfrm>
            <a:off x="3034392" y="1297356"/>
            <a:ext cx="529312" cy="276999"/>
          </a:xfrm>
          <a:prstGeom prst="rect">
            <a:avLst/>
          </a:prstGeom>
          <a:noFill/>
        </p:spPr>
        <p:txBody>
          <a:bodyPr wrap="none" rtlCol="0">
            <a:spAutoFit/>
          </a:bodyPr>
          <a:lstStyle/>
          <a:p>
            <a:r>
              <a:rPr kumimoji="1" lang="ja-JP" altLang="en-US" sz="1200" dirty="0"/>
              <a:t>バッチ</a:t>
            </a:r>
          </a:p>
        </p:txBody>
      </p:sp>
      <p:cxnSp>
        <p:nvCxnSpPr>
          <p:cNvPr id="28" name="直線コネクタ 27">
            <a:extLst>
              <a:ext uri="{FF2B5EF4-FFF2-40B4-BE49-F238E27FC236}">
                <a16:creationId xmlns:a16="http://schemas.microsoft.com/office/drawing/2014/main" id="{ECFF40AF-01BA-3816-E247-BDBE16F40A79}"/>
              </a:ext>
            </a:extLst>
          </p:cNvPr>
          <p:cNvCxnSpPr/>
          <p:nvPr/>
        </p:nvCxnSpPr>
        <p:spPr bwMode="auto">
          <a:xfrm>
            <a:off x="5025008" y="1563322"/>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テキスト ボックス 30">
            <a:extLst>
              <a:ext uri="{FF2B5EF4-FFF2-40B4-BE49-F238E27FC236}">
                <a16:creationId xmlns:a16="http://schemas.microsoft.com/office/drawing/2014/main" id="{D5B77C5D-410F-0905-A717-FF6DF503CA7F}"/>
              </a:ext>
            </a:extLst>
          </p:cNvPr>
          <p:cNvSpPr txBox="1"/>
          <p:nvPr/>
        </p:nvSpPr>
        <p:spPr>
          <a:xfrm>
            <a:off x="7041232" y="1268760"/>
            <a:ext cx="1007007" cy="276999"/>
          </a:xfrm>
          <a:prstGeom prst="rect">
            <a:avLst/>
          </a:prstGeom>
          <a:noFill/>
        </p:spPr>
        <p:txBody>
          <a:bodyPr wrap="none" rtlCol="0">
            <a:spAutoFit/>
          </a:bodyPr>
          <a:lstStyle/>
          <a:p>
            <a:r>
              <a:rPr kumimoji="1" lang="ja-JP" altLang="en-US" sz="1200" dirty="0"/>
              <a:t>外部システム</a:t>
            </a:r>
          </a:p>
        </p:txBody>
      </p:sp>
      <p:cxnSp>
        <p:nvCxnSpPr>
          <p:cNvPr id="32" name="直線コネクタ 31">
            <a:extLst>
              <a:ext uri="{FF2B5EF4-FFF2-40B4-BE49-F238E27FC236}">
                <a16:creationId xmlns:a16="http://schemas.microsoft.com/office/drawing/2014/main" id="{39751F9D-8473-80E5-F9C1-D2831F17270A}"/>
              </a:ext>
            </a:extLst>
          </p:cNvPr>
          <p:cNvCxnSpPr/>
          <p:nvPr/>
        </p:nvCxnSpPr>
        <p:spPr bwMode="auto">
          <a:xfrm>
            <a:off x="9057456" y="1563322"/>
            <a:ext cx="0" cy="4680520"/>
          </a:xfrm>
          <a:prstGeom prst="line">
            <a:avLst/>
          </a:prstGeom>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正方形/長方形 50">
            <a:extLst>
              <a:ext uri="{FF2B5EF4-FFF2-40B4-BE49-F238E27FC236}">
                <a16:creationId xmlns:a16="http://schemas.microsoft.com/office/drawing/2014/main" id="{3BF00C7B-1138-3A7A-B1DD-4AAE0AB44C4C}"/>
              </a:ext>
            </a:extLst>
          </p:cNvPr>
          <p:cNvSpPr/>
          <p:nvPr/>
        </p:nvSpPr>
        <p:spPr bwMode="auto">
          <a:xfrm>
            <a:off x="6987280" y="2317544"/>
            <a:ext cx="618779"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en-US" altLang="ja-JP" sz="1050" dirty="0"/>
              <a:t>LISA</a:t>
            </a:r>
            <a:endParaRPr kumimoji="1" lang="ja-JP" altLang="en-US" sz="1050" dirty="0"/>
          </a:p>
        </p:txBody>
      </p:sp>
      <p:sp>
        <p:nvSpPr>
          <p:cNvPr id="52" name="正方形/長方形 51">
            <a:extLst>
              <a:ext uri="{FF2B5EF4-FFF2-40B4-BE49-F238E27FC236}">
                <a16:creationId xmlns:a16="http://schemas.microsoft.com/office/drawing/2014/main" id="{44B1DE2F-2FA8-13B6-9086-E6B219A03707}"/>
              </a:ext>
            </a:extLst>
          </p:cNvPr>
          <p:cNvSpPr/>
          <p:nvPr/>
        </p:nvSpPr>
        <p:spPr bwMode="auto">
          <a:xfrm>
            <a:off x="7965835" y="2317544"/>
            <a:ext cx="618779"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en-US" altLang="ja-JP" sz="1050" dirty="0"/>
              <a:t>MF</a:t>
            </a:r>
            <a:endParaRPr kumimoji="1" lang="ja-JP" altLang="en-US" sz="1050" dirty="0"/>
          </a:p>
        </p:txBody>
      </p:sp>
      <p:cxnSp>
        <p:nvCxnSpPr>
          <p:cNvPr id="53" name="直線矢印コネクタ 52">
            <a:extLst>
              <a:ext uri="{FF2B5EF4-FFF2-40B4-BE49-F238E27FC236}">
                <a16:creationId xmlns:a16="http://schemas.microsoft.com/office/drawing/2014/main" id="{920C9D33-C828-1652-08A2-86EB8CADC080}"/>
              </a:ext>
            </a:extLst>
          </p:cNvPr>
          <p:cNvCxnSpPr>
            <a:cxnSpLocks/>
            <a:stCxn id="51" idx="3"/>
            <a:endCxn id="52" idx="1"/>
          </p:cNvCxnSpPr>
          <p:nvPr/>
        </p:nvCxnSpPr>
        <p:spPr bwMode="auto">
          <a:xfrm>
            <a:off x="7606059" y="2492734"/>
            <a:ext cx="359776" cy="0"/>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フローチャート: 磁気ディスク 57">
            <a:extLst>
              <a:ext uri="{FF2B5EF4-FFF2-40B4-BE49-F238E27FC236}">
                <a16:creationId xmlns:a16="http://schemas.microsoft.com/office/drawing/2014/main" id="{B1AD7084-6703-E818-4DDB-E72A69FFCBD8}"/>
              </a:ext>
            </a:extLst>
          </p:cNvPr>
          <p:cNvSpPr/>
          <p:nvPr/>
        </p:nvSpPr>
        <p:spPr bwMode="auto">
          <a:xfrm>
            <a:off x="5294985" y="3368025"/>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strike="sngStrike" dirty="0">
                <a:solidFill>
                  <a:srgbClr val="000000"/>
                </a:solidFill>
                <a:latin typeface="Meiryo UI" panose="020B0604030504040204" pitchFamily="50" charset="-128"/>
                <a:ea typeface="Meiryo UI" panose="020B0604030504040204" pitchFamily="50" charset="-128"/>
              </a:rPr>
              <a:t>MF</a:t>
            </a:r>
            <a:r>
              <a:rPr lang="zh-TW" altLang="en-US" sz="800" strike="sngStrike" dirty="0">
                <a:solidFill>
                  <a:srgbClr val="000000"/>
                </a:solidFill>
                <a:latin typeface="Meiryo UI" panose="020B0604030504040204" pitchFamily="50" charset="-128"/>
                <a:ea typeface="Meiryo UI" panose="020B0604030504040204" pitchFamily="50" charset="-128"/>
              </a:rPr>
              <a:t>非課税口座利用情報</a:t>
            </a:r>
            <a:endParaRPr kumimoji="1" lang="ja-JP" altLang="en-US" sz="700" strike="sngStrike"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正方形/長方形 66">
            <a:extLst>
              <a:ext uri="{FF2B5EF4-FFF2-40B4-BE49-F238E27FC236}">
                <a16:creationId xmlns:a16="http://schemas.microsoft.com/office/drawing/2014/main" id="{9EBE9302-97B8-816D-5F57-1C4DCADC83E4}"/>
              </a:ext>
            </a:extLst>
          </p:cNvPr>
          <p:cNvSpPr/>
          <p:nvPr/>
        </p:nvSpPr>
        <p:spPr bwMode="auto">
          <a:xfrm>
            <a:off x="2900773" y="3150629"/>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en-US" altLang="ja-JP" sz="1050" dirty="0"/>
              <a:t>FRONT</a:t>
            </a:r>
          </a:p>
          <a:p>
            <a:pPr algn="ctr">
              <a:spcBef>
                <a:spcPct val="20000"/>
              </a:spcBef>
            </a:pPr>
            <a:r>
              <a:rPr kumimoji="1" lang="ja-JP" altLang="en-US" sz="1050" dirty="0"/>
              <a:t>データ更新</a:t>
            </a:r>
          </a:p>
        </p:txBody>
      </p:sp>
      <p:cxnSp>
        <p:nvCxnSpPr>
          <p:cNvPr id="69" name="コネクタ: カギ線 68">
            <a:extLst>
              <a:ext uri="{FF2B5EF4-FFF2-40B4-BE49-F238E27FC236}">
                <a16:creationId xmlns:a16="http://schemas.microsoft.com/office/drawing/2014/main" id="{27132D7B-6BFB-C904-C1D7-D519B2C7DC89}"/>
              </a:ext>
            </a:extLst>
          </p:cNvPr>
          <p:cNvCxnSpPr>
            <a:stCxn id="52" idx="2"/>
            <a:endCxn id="67" idx="0"/>
          </p:cNvCxnSpPr>
          <p:nvPr/>
        </p:nvCxnSpPr>
        <p:spPr bwMode="auto">
          <a:xfrm rot="5400000">
            <a:off x="5562670" y="438074"/>
            <a:ext cx="482706" cy="4942405"/>
          </a:xfrm>
          <a:prstGeom prst="bentConnector3">
            <a:avLst>
              <a:gd name="adj1" fmla="val 50000"/>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テキスト ボックス 73">
            <a:extLst>
              <a:ext uri="{FF2B5EF4-FFF2-40B4-BE49-F238E27FC236}">
                <a16:creationId xmlns:a16="http://schemas.microsoft.com/office/drawing/2014/main" id="{6D39D4A3-20CF-D670-8664-B65D79BDF2F4}"/>
              </a:ext>
            </a:extLst>
          </p:cNvPr>
          <p:cNvSpPr txBox="1"/>
          <p:nvPr/>
        </p:nvSpPr>
        <p:spPr>
          <a:xfrm>
            <a:off x="6485268" y="4043917"/>
            <a:ext cx="3420731" cy="1015663"/>
          </a:xfrm>
          <a:prstGeom prst="rect">
            <a:avLst/>
          </a:prstGeom>
          <a:solidFill>
            <a:schemeClr val="bg1"/>
          </a:solidFill>
        </p:spPr>
        <p:txBody>
          <a:bodyPr wrap="square" rtlCol="0">
            <a:spAutoFit/>
          </a:bodyPr>
          <a:lstStyle/>
          <a:p>
            <a:r>
              <a:rPr kumimoji="1" lang="ja-JP" altLang="en-US" sz="1000" dirty="0">
                <a:solidFill>
                  <a:srgbClr val="FF0000"/>
                </a:solidFill>
              </a:rPr>
              <a:t>事務失効の場合、</a:t>
            </a:r>
            <a:endParaRPr kumimoji="1" lang="en-US" altLang="ja-JP" sz="1000" dirty="0">
              <a:solidFill>
                <a:srgbClr val="FF0000"/>
              </a:solidFill>
            </a:endParaRPr>
          </a:p>
          <a:p>
            <a:r>
              <a:rPr kumimoji="1" lang="ja-JP" altLang="en-US" sz="1000" dirty="0">
                <a:solidFill>
                  <a:srgbClr val="FF0000"/>
                </a:solidFill>
              </a:rPr>
              <a:t>①</a:t>
            </a:r>
            <a:r>
              <a:rPr kumimoji="1" lang="en-US" altLang="ja-JP" sz="1000" dirty="0">
                <a:solidFill>
                  <a:srgbClr val="FF0000"/>
                </a:solidFill>
              </a:rPr>
              <a:t>MF</a:t>
            </a:r>
            <a:r>
              <a:rPr kumimoji="1" lang="ja-JP" altLang="en-US" sz="1000" dirty="0">
                <a:solidFill>
                  <a:srgbClr val="FF0000"/>
                </a:solidFill>
              </a:rPr>
              <a:t>口座を非課税口座未開設状態に戻す</a:t>
            </a:r>
            <a:endParaRPr kumimoji="1" lang="en-US" altLang="ja-JP" sz="1000" dirty="0">
              <a:solidFill>
                <a:srgbClr val="FF0000"/>
              </a:solidFill>
            </a:endParaRPr>
          </a:p>
          <a:p>
            <a:r>
              <a:rPr kumimoji="1" lang="ja-JP" altLang="en-US" sz="1000" dirty="0">
                <a:solidFill>
                  <a:srgbClr val="FF0000"/>
                </a:solidFill>
              </a:rPr>
              <a:t>②</a:t>
            </a:r>
            <a:r>
              <a:rPr kumimoji="1" lang="en-US" altLang="ja-JP" sz="1000" dirty="0">
                <a:solidFill>
                  <a:srgbClr val="FF0000"/>
                </a:solidFill>
              </a:rPr>
              <a:t>MF</a:t>
            </a:r>
            <a:r>
              <a:rPr kumimoji="1" lang="ja-JP" altLang="en-US" sz="1000" dirty="0">
                <a:solidFill>
                  <a:srgbClr val="FF0000"/>
                </a:solidFill>
              </a:rPr>
              <a:t>非課税口座簡易開設のレコード削除</a:t>
            </a:r>
            <a:endParaRPr kumimoji="1" lang="en-US" altLang="ja-JP" sz="1000" dirty="0">
              <a:solidFill>
                <a:srgbClr val="FF0000"/>
              </a:solidFill>
            </a:endParaRPr>
          </a:p>
          <a:p>
            <a:r>
              <a:rPr kumimoji="1" lang="ja-JP" altLang="en-US" sz="1000" dirty="0">
                <a:solidFill>
                  <a:srgbClr val="FF0000"/>
                </a:solidFill>
              </a:rPr>
              <a:t>③</a:t>
            </a:r>
            <a:r>
              <a:rPr kumimoji="1" lang="en-US" altLang="ja-JP" sz="1000" dirty="0">
                <a:solidFill>
                  <a:srgbClr val="FF0000"/>
                </a:solidFill>
              </a:rPr>
              <a:t>TF</a:t>
            </a:r>
            <a:r>
              <a:rPr kumimoji="1" lang="ja-JP" altLang="en-US" sz="1000" dirty="0">
                <a:solidFill>
                  <a:srgbClr val="FF0000"/>
                </a:solidFill>
              </a:rPr>
              <a:t>伝票管理で</a:t>
            </a:r>
            <a:r>
              <a:rPr kumimoji="1" lang="en-US" altLang="ja-JP" sz="1000" dirty="0">
                <a:solidFill>
                  <a:srgbClr val="FF0000"/>
                </a:solidFill>
              </a:rPr>
              <a:t>NISA</a:t>
            </a:r>
            <a:r>
              <a:rPr kumimoji="1" lang="ja-JP" altLang="en-US" sz="1000" dirty="0">
                <a:solidFill>
                  <a:srgbClr val="FF0000"/>
                </a:solidFill>
              </a:rPr>
              <a:t>先日付注文を取消</a:t>
            </a:r>
            <a:endParaRPr kumimoji="1" lang="en-US" altLang="ja-JP" sz="1000" dirty="0">
              <a:solidFill>
                <a:srgbClr val="FF0000"/>
              </a:solidFill>
            </a:endParaRPr>
          </a:p>
          <a:p>
            <a:r>
              <a:rPr kumimoji="1" lang="ja-JP" altLang="en-US" sz="1000" dirty="0">
                <a:solidFill>
                  <a:srgbClr val="FF0000"/>
                </a:solidFill>
              </a:rPr>
              <a:t>　</a:t>
            </a:r>
            <a:r>
              <a:rPr kumimoji="1" lang="en-US" altLang="ja-JP" sz="1000" dirty="0">
                <a:solidFill>
                  <a:srgbClr val="FF0000"/>
                </a:solidFill>
              </a:rPr>
              <a:t>※</a:t>
            </a:r>
            <a:r>
              <a:rPr kumimoji="1" lang="ja-JP" altLang="en-US" sz="1000" dirty="0">
                <a:solidFill>
                  <a:srgbClr val="FF0000"/>
                </a:solidFill>
              </a:rPr>
              <a:t>ホスト送信状況を</a:t>
            </a:r>
            <a:r>
              <a:rPr kumimoji="1" lang="en-US" altLang="ja-JP" sz="1000" dirty="0">
                <a:solidFill>
                  <a:srgbClr val="FF0000"/>
                </a:solidFill>
              </a:rPr>
              <a:t>9(</a:t>
            </a:r>
            <a:r>
              <a:rPr kumimoji="1" lang="ja-JP" altLang="en-US" sz="1000" dirty="0">
                <a:solidFill>
                  <a:srgbClr val="FF0000"/>
                </a:solidFill>
              </a:rPr>
              <a:t>取消済</a:t>
            </a:r>
            <a:r>
              <a:rPr kumimoji="1" lang="en-US" altLang="ja-JP" sz="1000" dirty="0">
                <a:solidFill>
                  <a:srgbClr val="FF0000"/>
                </a:solidFill>
              </a:rPr>
              <a:t>)</a:t>
            </a:r>
            <a:r>
              <a:rPr kumimoji="1" lang="ja-JP" altLang="en-US" sz="1000" dirty="0">
                <a:solidFill>
                  <a:srgbClr val="FF0000"/>
                </a:solidFill>
              </a:rPr>
              <a:t>、</a:t>
            </a:r>
            <a:endParaRPr kumimoji="1" lang="en-US" altLang="ja-JP" sz="1000" dirty="0">
              <a:solidFill>
                <a:srgbClr val="FF0000"/>
              </a:solidFill>
            </a:endParaRPr>
          </a:p>
          <a:p>
            <a:r>
              <a:rPr kumimoji="1" lang="ja-JP" altLang="en-US" sz="1000" dirty="0">
                <a:solidFill>
                  <a:srgbClr val="FF0000"/>
                </a:solidFill>
              </a:rPr>
              <a:t>バッチ取消フラグを</a:t>
            </a:r>
            <a:r>
              <a:rPr kumimoji="1" lang="en-US" altLang="ja-JP" sz="1000" dirty="0">
                <a:solidFill>
                  <a:srgbClr val="FF0000"/>
                </a:solidFill>
              </a:rPr>
              <a:t>1(</a:t>
            </a:r>
            <a:r>
              <a:rPr kumimoji="1" lang="ja-JP" altLang="en-US" sz="1000" dirty="0">
                <a:solidFill>
                  <a:srgbClr val="FF0000"/>
                </a:solidFill>
              </a:rPr>
              <a:t>取消済</a:t>
            </a:r>
            <a:r>
              <a:rPr kumimoji="1" lang="en-US" altLang="ja-JP" sz="1000" dirty="0">
                <a:solidFill>
                  <a:srgbClr val="FF0000"/>
                </a:solidFill>
              </a:rPr>
              <a:t>)</a:t>
            </a:r>
            <a:r>
              <a:rPr kumimoji="1" lang="ja-JP" altLang="en-US" sz="1000" dirty="0">
                <a:solidFill>
                  <a:srgbClr val="FF0000"/>
                </a:solidFill>
              </a:rPr>
              <a:t> に更新</a:t>
            </a:r>
            <a:endParaRPr kumimoji="1" lang="en-US" altLang="ja-JP" sz="1000" dirty="0">
              <a:solidFill>
                <a:srgbClr val="FF0000"/>
              </a:solidFill>
            </a:endParaRPr>
          </a:p>
        </p:txBody>
      </p:sp>
      <p:sp>
        <p:nvSpPr>
          <p:cNvPr id="75" name="正方形/長方形 74">
            <a:extLst>
              <a:ext uri="{FF2B5EF4-FFF2-40B4-BE49-F238E27FC236}">
                <a16:creationId xmlns:a16="http://schemas.microsoft.com/office/drawing/2014/main" id="{DF816B55-3F2D-8EA7-D522-82CD2D8F76B3}"/>
              </a:ext>
            </a:extLst>
          </p:cNvPr>
          <p:cNvSpPr/>
          <p:nvPr/>
        </p:nvSpPr>
        <p:spPr bwMode="auto">
          <a:xfrm>
            <a:off x="4025209" y="2313144"/>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データ連携</a:t>
            </a:r>
          </a:p>
        </p:txBody>
      </p:sp>
      <p:cxnSp>
        <p:nvCxnSpPr>
          <p:cNvPr id="76" name="直線矢印コネクタ 75">
            <a:extLst>
              <a:ext uri="{FF2B5EF4-FFF2-40B4-BE49-F238E27FC236}">
                <a16:creationId xmlns:a16="http://schemas.microsoft.com/office/drawing/2014/main" id="{73BF9D4F-CD03-2797-C805-88A6FB94AEEC}"/>
              </a:ext>
            </a:extLst>
          </p:cNvPr>
          <p:cNvCxnSpPr>
            <a:cxnSpLocks/>
            <a:stCxn id="75" idx="3"/>
            <a:endCxn id="51" idx="1"/>
          </p:cNvCxnSpPr>
          <p:nvPr/>
        </p:nvCxnSpPr>
        <p:spPr bwMode="auto">
          <a:xfrm>
            <a:off x="4889303" y="2488334"/>
            <a:ext cx="2097977" cy="4400"/>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0" name="Picture 78" descr="j0433944">
            <a:extLst>
              <a:ext uri="{FF2B5EF4-FFF2-40B4-BE49-F238E27FC236}">
                <a16:creationId xmlns:a16="http://schemas.microsoft.com/office/drawing/2014/main" id="{47A15020-A173-8E58-F157-2A0746790A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27" y="1846071"/>
            <a:ext cx="617051" cy="58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2" name="直線矢印コネクタ 81">
            <a:extLst>
              <a:ext uri="{FF2B5EF4-FFF2-40B4-BE49-F238E27FC236}">
                <a16:creationId xmlns:a16="http://schemas.microsoft.com/office/drawing/2014/main" id="{02F9CB9A-A40C-7E38-CA91-9F0D0A3C31FD}"/>
              </a:ext>
            </a:extLst>
          </p:cNvPr>
          <p:cNvCxnSpPr>
            <a:endCxn id="75" idx="1"/>
          </p:cNvCxnSpPr>
          <p:nvPr/>
        </p:nvCxnSpPr>
        <p:spPr bwMode="auto">
          <a:xfrm flipV="1">
            <a:off x="1003779" y="2488334"/>
            <a:ext cx="3021430" cy="12564"/>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フローチャート: 磁気ディスク 2">
            <a:extLst>
              <a:ext uri="{FF2B5EF4-FFF2-40B4-BE49-F238E27FC236}">
                <a16:creationId xmlns:a16="http://schemas.microsoft.com/office/drawing/2014/main" id="{A1BD1945-1BD7-65F4-73BD-705CE5CE61E7}"/>
              </a:ext>
            </a:extLst>
          </p:cNvPr>
          <p:cNvSpPr/>
          <p:nvPr/>
        </p:nvSpPr>
        <p:spPr bwMode="auto">
          <a:xfrm>
            <a:off x="5318268" y="4651147"/>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TF</a:t>
            </a:r>
            <a:r>
              <a:rPr lang="ja-JP" altLang="en-US" sz="800" dirty="0">
                <a:solidFill>
                  <a:srgbClr val="000000"/>
                </a:solidFill>
                <a:latin typeface="Meiryo UI" panose="020B0604030504040204" pitchFamily="50" charset="-128"/>
                <a:ea typeface="Meiryo UI" panose="020B0604030504040204" pitchFamily="50" charset="-128"/>
              </a:rPr>
              <a:t>伝票管理</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フローチャート: 磁気ディスク 8">
            <a:extLst>
              <a:ext uri="{FF2B5EF4-FFF2-40B4-BE49-F238E27FC236}">
                <a16:creationId xmlns:a16="http://schemas.microsoft.com/office/drawing/2014/main" id="{DAFE2653-EC9F-6561-EC48-F30152F3B207}"/>
              </a:ext>
            </a:extLst>
          </p:cNvPr>
          <p:cNvSpPr/>
          <p:nvPr/>
        </p:nvSpPr>
        <p:spPr bwMode="auto">
          <a:xfrm>
            <a:off x="5247950" y="1711281"/>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ja-JP" altLang="en-US" sz="800" dirty="0">
                <a:solidFill>
                  <a:srgbClr val="000000"/>
                </a:solidFill>
                <a:latin typeface="Meiryo UI" panose="020B0604030504040204" pitchFamily="50" charset="-128"/>
                <a:ea typeface="Meiryo UI" panose="020B0604030504040204" pitchFamily="50" charset="-128"/>
              </a:rPr>
              <a:t>非課税口座登録</a:t>
            </a:r>
            <a:r>
              <a:rPr lang="en-US" altLang="ja-JP" sz="800" dirty="0">
                <a:solidFill>
                  <a:srgbClr val="000000"/>
                </a:solidFill>
                <a:latin typeface="Meiryo UI" panose="020B0604030504040204" pitchFamily="50" charset="-128"/>
                <a:ea typeface="Meiryo UI" panose="020B0604030504040204" pitchFamily="50" charset="-128"/>
              </a:rPr>
              <a:t>VIEW</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067217F2-526D-F2C0-3414-25EAB781D819}"/>
              </a:ext>
            </a:extLst>
          </p:cNvPr>
          <p:cNvSpPr/>
          <p:nvPr/>
        </p:nvSpPr>
        <p:spPr bwMode="auto">
          <a:xfrm>
            <a:off x="4016898" y="1671561"/>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データ取得</a:t>
            </a:r>
          </a:p>
        </p:txBody>
      </p:sp>
      <p:sp>
        <p:nvSpPr>
          <p:cNvPr id="18" name="正方形/長方形 17">
            <a:extLst>
              <a:ext uri="{FF2B5EF4-FFF2-40B4-BE49-F238E27FC236}">
                <a16:creationId xmlns:a16="http://schemas.microsoft.com/office/drawing/2014/main" id="{5108B628-2834-9C94-1C59-1D0D7E234CB1}"/>
              </a:ext>
            </a:extLst>
          </p:cNvPr>
          <p:cNvSpPr/>
          <p:nvPr/>
        </p:nvSpPr>
        <p:spPr bwMode="auto">
          <a:xfrm>
            <a:off x="1528579" y="1670882"/>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軽技</a:t>
            </a:r>
          </a:p>
        </p:txBody>
      </p:sp>
      <p:cxnSp>
        <p:nvCxnSpPr>
          <p:cNvPr id="19" name="直線矢印コネクタ 18">
            <a:extLst>
              <a:ext uri="{FF2B5EF4-FFF2-40B4-BE49-F238E27FC236}">
                <a16:creationId xmlns:a16="http://schemas.microsoft.com/office/drawing/2014/main" id="{203109A2-3EF6-FDDE-87A8-3DF0275892B5}"/>
              </a:ext>
            </a:extLst>
          </p:cNvPr>
          <p:cNvCxnSpPr>
            <a:stCxn id="18" idx="3"/>
            <a:endCxn id="16" idx="1"/>
          </p:cNvCxnSpPr>
          <p:nvPr/>
        </p:nvCxnSpPr>
        <p:spPr bwMode="auto">
          <a:xfrm>
            <a:off x="2392673" y="1846072"/>
            <a:ext cx="1624225" cy="679"/>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矢印コネクタ 22">
            <a:extLst>
              <a:ext uri="{FF2B5EF4-FFF2-40B4-BE49-F238E27FC236}">
                <a16:creationId xmlns:a16="http://schemas.microsoft.com/office/drawing/2014/main" id="{3112AAA6-5680-6835-F729-6157B92BCC78}"/>
              </a:ext>
            </a:extLst>
          </p:cNvPr>
          <p:cNvCxnSpPr>
            <a:stCxn id="16" idx="3"/>
            <a:endCxn id="9" idx="2"/>
          </p:cNvCxnSpPr>
          <p:nvPr/>
        </p:nvCxnSpPr>
        <p:spPr bwMode="auto">
          <a:xfrm>
            <a:off x="4880992" y="1846751"/>
            <a:ext cx="366958" cy="3030"/>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矢印コネクタ 25">
            <a:extLst>
              <a:ext uri="{FF2B5EF4-FFF2-40B4-BE49-F238E27FC236}">
                <a16:creationId xmlns:a16="http://schemas.microsoft.com/office/drawing/2014/main" id="{24282959-B267-07DE-E61A-2D6DBDD0A3F9}"/>
              </a:ext>
            </a:extLst>
          </p:cNvPr>
          <p:cNvCxnSpPr/>
          <p:nvPr/>
        </p:nvCxnSpPr>
        <p:spPr bwMode="auto">
          <a:xfrm>
            <a:off x="977968" y="1852836"/>
            <a:ext cx="538613" cy="0"/>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テキスト ボックス 32">
            <a:extLst>
              <a:ext uri="{FF2B5EF4-FFF2-40B4-BE49-F238E27FC236}">
                <a16:creationId xmlns:a16="http://schemas.microsoft.com/office/drawing/2014/main" id="{D3512A76-5517-0D68-9C58-A4313CAE78EB}"/>
              </a:ext>
            </a:extLst>
          </p:cNvPr>
          <p:cNvSpPr txBox="1"/>
          <p:nvPr/>
        </p:nvSpPr>
        <p:spPr>
          <a:xfrm>
            <a:off x="6398150" y="1628800"/>
            <a:ext cx="1309974" cy="400110"/>
          </a:xfrm>
          <a:prstGeom prst="rect">
            <a:avLst/>
          </a:prstGeom>
          <a:solidFill>
            <a:schemeClr val="bg1"/>
          </a:solidFill>
        </p:spPr>
        <p:txBody>
          <a:bodyPr wrap="square" rtlCol="0">
            <a:spAutoFit/>
          </a:bodyPr>
          <a:lstStyle/>
          <a:p>
            <a:r>
              <a:rPr kumimoji="1" lang="ja-JP" altLang="en-US" sz="1000" dirty="0"/>
              <a:t>非課税口座開設を</a:t>
            </a:r>
            <a:endParaRPr kumimoji="1" lang="en-US" altLang="ja-JP" sz="1000" dirty="0"/>
          </a:p>
          <a:p>
            <a:r>
              <a:rPr kumimoji="1" lang="ja-JP" altLang="en-US" sz="1000" dirty="0"/>
              <a:t>行った顧客を抽出する</a:t>
            </a:r>
            <a:endParaRPr kumimoji="1" lang="en-US" altLang="ja-JP" sz="1000" dirty="0"/>
          </a:p>
        </p:txBody>
      </p:sp>
      <p:sp>
        <p:nvSpPr>
          <p:cNvPr id="38" name="正方形/長方形 37">
            <a:extLst>
              <a:ext uri="{FF2B5EF4-FFF2-40B4-BE49-F238E27FC236}">
                <a16:creationId xmlns:a16="http://schemas.microsoft.com/office/drawing/2014/main" id="{242037F7-3CC5-C102-C6C0-BF8E1A904E30}"/>
              </a:ext>
            </a:extLst>
          </p:cNvPr>
          <p:cNvSpPr/>
          <p:nvPr/>
        </p:nvSpPr>
        <p:spPr bwMode="auto">
          <a:xfrm>
            <a:off x="2900773" y="4154032"/>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注文整合性チェック</a:t>
            </a:r>
          </a:p>
        </p:txBody>
      </p:sp>
      <p:sp>
        <p:nvSpPr>
          <p:cNvPr id="40" name="フローチャート: 磁気ディスク 39">
            <a:extLst>
              <a:ext uri="{FF2B5EF4-FFF2-40B4-BE49-F238E27FC236}">
                <a16:creationId xmlns:a16="http://schemas.microsoft.com/office/drawing/2014/main" id="{33E46F94-2468-38D3-DE53-CF3D76E71A76}"/>
              </a:ext>
            </a:extLst>
          </p:cNvPr>
          <p:cNvSpPr/>
          <p:nvPr/>
        </p:nvSpPr>
        <p:spPr bwMode="auto">
          <a:xfrm>
            <a:off x="5318268" y="4428638"/>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strike="sngStrike" dirty="0">
                <a:solidFill>
                  <a:srgbClr val="000000"/>
                </a:solidFill>
                <a:latin typeface="Meiryo UI" panose="020B0604030504040204" pitchFamily="50" charset="-128"/>
                <a:ea typeface="Meiryo UI" panose="020B0604030504040204" pitchFamily="50" charset="-128"/>
              </a:rPr>
              <a:t>MF</a:t>
            </a:r>
            <a:r>
              <a:rPr lang="zh-TW" altLang="en-US" sz="800" strike="sngStrike" dirty="0">
                <a:solidFill>
                  <a:srgbClr val="000000"/>
                </a:solidFill>
                <a:latin typeface="Meiryo UI" panose="020B0604030504040204" pitchFamily="50" charset="-128"/>
                <a:ea typeface="Meiryo UI" panose="020B0604030504040204" pitchFamily="50" charset="-128"/>
              </a:rPr>
              <a:t>非課税口座簡易開設</a:t>
            </a:r>
            <a:endParaRPr kumimoji="1" lang="ja-JP" altLang="en-US" sz="700" strike="sngStrike"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1" name="フローチャート: 磁気ディスク 40">
            <a:extLst>
              <a:ext uri="{FF2B5EF4-FFF2-40B4-BE49-F238E27FC236}">
                <a16:creationId xmlns:a16="http://schemas.microsoft.com/office/drawing/2014/main" id="{5478D0A8-555D-2752-BDD4-937E647A814D}"/>
              </a:ext>
            </a:extLst>
          </p:cNvPr>
          <p:cNvSpPr/>
          <p:nvPr/>
        </p:nvSpPr>
        <p:spPr bwMode="auto">
          <a:xfrm>
            <a:off x="5284954" y="3120063"/>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zh-TW" sz="800" dirty="0">
                <a:solidFill>
                  <a:srgbClr val="000000"/>
                </a:solidFill>
                <a:latin typeface="Meiryo UI" panose="020B0604030504040204" pitchFamily="50" charset="-128"/>
                <a:ea typeface="Meiryo UI" panose="020B0604030504040204" pitchFamily="50" charset="-128"/>
              </a:rPr>
              <a:t>MF</a:t>
            </a:r>
            <a:r>
              <a:rPr lang="zh-TW" altLang="en-US" sz="800" dirty="0">
                <a:solidFill>
                  <a:srgbClr val="000000"/>
                </a:solidFill>
                <a:latin typeface="Meiryo UI" panose="020B0604030504040204" pitchFamily="50" charset="-128"/>
                <a:ea typeface="Meiryo UI" panose="020B0604030504040204" pitchFamily="50" charset="-128"/>
              </a:rPr>
              <a:t>非課税口座簡易開設</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2" name="直線矢印コネクタ 41">
            <a:extLst>
              <a:ext uri="{FF2B5EF4-FFF2-40B4-BE49-F238E27FC236}">
                <a16:creationId xmlns:a16="http://schemas.microsoft.com/office/drawing/2014/main" id="{05284A37-FDD5-B354-3A4B-20BC9D9B3085}"/>
              </a:ext>
            </a:extLst>
          </p:cNvPr>
          <p:cNvCxnSpPr>
            <a:stCxn id="67" idx="3"/>
          </p:cNvCxnSpPr>
          <p:nvPr/>
        </p:nvCxnSpPr>
        <p:spPr bwMode="auto">
          <a:xfrm>
            <a:off x="3764867" y="3325819"/>
            <a:ext cx="1421646" cy="14427"/>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テキスト ボックス 46">
            <a:extLst>
              <a:ext uri="{FF2B5EF4-FFF2-40B4-BE49-F238E27FC236}">
                <a16:creationId xmlns:a16="http://schemas.microsoft.com/office/drawing/2014/main" id="{2F3A1BCE-B61D-6E92-39E5-1C887C71260B}"/>
              </a:ext>
            </a:extLst>
          </p:cNvPr>
          <p:cNvSpPr txBox="1"/>
          <p:nvPr/>
        </p:nvSpPr>
        <p:spPr>
          <a:xfrm>
            <a:off x="6465168" y="2920226"/>
            <a:ext cx="2906539" cy="1015663"/>
          </a:xfrm>
          <a:prstGeom prst="rect">
            <a:avLst/>
          </a:prstGeom>
          <a:solidFill>
            <a:schemeClr val="bg1"/>
          </a:solidFill>
        </p:spPr>
        <p:txBody>
          <a:bodyPr wrap="square" rtlCol="0">
            <a:spAutoFit/>
          </a:bodyPr>
          <a:lstStyle/>
          <a:p>
            <a:r>
              <a:rPr kumimoji="1" lang="en-US" altLang="ja-JP" sz="1000" dirty="0"/>
              <a:t>MF</a:t>
            </a:r>
            <a:r>
              <a:rPr kumimoji="1" lang="ja-JP" altLang="en-US" sz="1000" dirty="0"/>
              <a:t>から受領したデータで非課税口座情報を更新する。</a:t>
            </a:r>
            <a:endParaRPr kumimoji="1" lang="en-US" altLang="ja-JP" sz="1000" dirty="0"/>
          </a:p>
          <a:p>
            <a:r>
              <a:rPr kumimoji="1" lang="ja-JP" altLang="en-US" sz="1000" dirty="0"/>
              <a:t>・非課税口座が即日開設された場合、</a:t>
            </a:r>
            <a:endParaRPr kumimoji="1" lang="en-US" altLang="ja-JP" sz="1000" dirty="0"/>
          </a:p>
          <a:p>
            <a:r>
              <a:rPr lang="ja-JP" altLang="en-US" sz="1000" dirty="0">
                <a:solidFill>
                  <a:srgbClr val="FF0000"/>
                </a:solidFill>
                <a:latin typeface="Meiryo UI" panose="020B0604030504040204" pitchFamily="50" charset="-128"/>
                <a:ea typeface="Meiryo UI" panose="020B0604030504040204" pitchFamily="50" charset="-128"/>
              </a:rPr>
              <a:t>　</a:t>
            </a:r>
            <a:r>
              <a:rPr lang="en-US" altLang="zh-TW" sz="1000" dirty="0">
                <a:solidFill>
                  <a:srgbClr val="FF0000"/>
                </a:solidFill>
                <a:latin typeface="Meiryo UI" panose="020B0604030504040204" pitchFamily="50" charset="-128"/>
                <a:ea typeface="Meiryo UI" panose="020B0604030504040204" pitchFamily="50" charset="-128"/>
              </a:rPr>
              <a:t>MF</a:t>
            </a:r>
            <a:r>
              <a:rPr lang="zh-TW" altLang="en-US" sz="1000" dirty="0">
                <a:solidFill>
                  <a:srgbClr val="FF0000"/>
                </a:solidFill>
                <a:latin typeface="Meiryo UI" panose="020B0604030504040204" pitchFamily="50" charset="-128"/>
                <a:ea typeface="Meiryo UI" panose="020B0604030504040204" pitchFamily="50" charset="-128"/>
              </a:rPr>
              <a:t>非課税口座簡易開設</a:t>
            </a:r>
            <a:r>
              <a:rPr kumimoji="1" lang="en-US" altLang="ja-JP" sz="1000" dirty="0">
                <a:solidFill>
                  <a:srgbClr val="FF0000"/>
                </a:solidFill>
              </a:rPr>
              <a:t>.</a:t>
            </a:r>
            <a:r>
              <a:rPr kumimoji="1" lang="zh-TW" altLang="en-US" sz="1000" dirty="0">
                <a:solidFill>
                  <a:srgbClr val="FF0000"/>
                </a:solidFill>
              </a:rPr>
              <a:t>非課税口座開設見込区分</a:t>
            </a:r>
            <a:r>
              <a:rPr kumimoji="1" lang="ja-JP" altLang="en-US" sz="1000" dirty="0">
                <a:solidFill>
                  <a:srgbClr val="FF0000"/>
                </a:solidFill>
              </a:rPr>
              <a:t>を初期値で更新</a:t>
            </a:r>
            <a:endParaRPr kumimoji="1" lang="en-US" altLang="ja-JP" sz="1000" dirty="0">
              <a:solidFill>
                <a:srgbClr val="FF0000"/>
              </a:solidFill>
            </a:endParaRPr>
          </a:p>
          <a:p>
            <a:r>
              <a:rPr lang="ja-JP" altLang="en-US" sz="1000" dirty="0">
                <a:solidFill>
                  <a:srgbClr val="000000"/>
                </a:solidFill>
                <a:latin typeface="Meiryo UI" panose="020B0604030504040204" pitchFamily="50" charset="-128"/>
                <a:ea typeface="Meiryo UI" panose="020B0604030504040204" pitchFamily="50" charset="-128"/>
              </a:rPr>
              <a:t>・</a:t>
            </a:r>
            <a:r>
              <a:rPr kumimoji="1" lang="ja-JP" altLang="en-US" sz="1000" dirty="0">
                <a:solidFill>
                  <a:srgbClr val="FF0000"/>
                </a:solidFill>
              </a:rPr>
              <a:t>事務失効の場合、</a:t>
            </a:r>
            <a:endParaRPr lang="en-US" altLang="zh-TW" sz="1000" dirty="0">
              <a:solidFill>
                <a:srgbClr val="000000"/>
              </a:solidFill>
              <a:latin typeface="Meiryo UI" panose="020B0604030504040204" pitchFamily="50" charset="-128"/>
              <a:ea typeface="Meiryo UI" panose="020B0604030504040204" pitchFamily="50" charset="-128"/>
            </a:endParaRPr>
          </a:p>
          <a:p>
            <a:r>
              <a:rPr lang="ja-JP" altLang="en-US" sz="1000" dirty="0">
                <a:solidFill>
                  <a:srgbClr val="000000"/>
                </a:solidFill>
                <a:latin typeface="Meiryo UI" panose="020B0604030504040204" pitchFamily="50" charset="-128"/>
                <a:ea typeface="Meiryo UI" panose="020B0604030504040204" pitchFamily="50" charset="-128"/>
              </a:rPr>
              <a:t>　</a:t>
            </a:r>
            <a:r>
              <a:rPr lang="en-US" altLang="zh-TW" sz="1000" dirty="0">
                <a:solidFill>
                  <a:srgbClr val="000000"/>
                </a:solidFill>
                <a:latin typeface="Meiryo UI" panose="020B0604030504040204" pitchFamily="50" charset="-128"/>
                <a:ea typeface="Meiryo UI" panose="020B0604030504040204" pitchFamily="50" charset="-128"/>
              </a:rPr>
              <a:t>MF</a:t>
            </a:r>
            <a:r>
              <a:rPr lang="zh-TW" altLang="en-US" sz="1000" dirty="0">
                <a:solidFill>
                  <a:srgbClr val="000000"/>
                </a:solidFill>
                <a:latin typeface="Meiryo UI" panose="020B0604030504040204" pitchFamily="50" charset="-128"/>
                <a:ea typeface="Meiryo UI" panose="020B0604030504040204" pitchFamily="50" charset="-128"/>
              </a:rPr>
              <a:t>非課税口座利用情報</a:t>
            </a:r>
            <a:r>
              <a:rPr kumimoji="1" lang="ja-JP" altLang="en-US" sz="1000" dirty="0">
                <a:solidFill>
                  <a:srgbClr val="000000"/>
                </a:solidFill>
                <a:latin typeface="Meiryo UI" panose="020B0604030504040204" pitchFamily="50" charset="-128"/>
                <a:ea typeface="Meiryo UI" panose="020B0604030504040204" pitchFamily="50" charset="-128"/>
              </a:rPr>
              <a:t>のレコード削除</a:t>
            </a:r>
            <a:endParaRPr kumimoji="1" lang="en-US" altLang="ja-JP" sz="1000" dirty="0"/>
          </a:p>
        </p:txBody>
      </p:sp>
      <p:cxnSp>
        <p:nvCxnSpPr>
          <p:cNvPr id="48" name="直線矢印コネクタ 47">
            <a:extLst>
              <a:ext uri="{FF2B5EF4-FFF2-40B4-BE49-F238E27FC236}">
                <a16:creationId xmlns:a16="http://schemas.microsoft.com/office/drawing/2014/main" id="{4F89740F-DD44-318C-0137-48F49A577B80}"/>
              </a:ext>
            </a:extLst>
          </p:cNvPr>
          <p:cNvCxnSpPr>
            <a:stCxn id="67" idx="2"/>
            <a:endCxn id="38" idx="0"/>
          </p:cNvCxnSpPr>
          <p:nvPr/>
        </p:nvCxnSpPr>
        <p:spPr bwMode="auto">
          <a:xfrm>
            <a:off x="3332820" y="3501008"/>
            <a:ext cx="0" cy="653024"/>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矢印コネクタ 62">
            <a:extLst>
              <a:ext uri="{FF2B5EF4-FFF2-40B4-BE49-F238E27FC236}">
                <a16:creationId xmlns:a16="http://schemas.microsoft.com/office/drawing/2014/main" id="{B55A65C1-D845-C9C7-AEB6-C2011B734A54}"/>
              </a:ext>
            </a:extLst>
          </p:cNvPr>
          <p:cNvCxnSpPr>
            <a:stCxn id="38" idx="3"/>
          </p:cNvCxnSpPr>
          <p:nvPr/>
        </p:nvCxnSpPr>
        <p:spPr bwMode="auto">
          <a:xfrm>
            <a:off x="3764867" y="4329222"/>
            <a:ext cx="1404157" cy="5487"/>
          </a:xfrm>
          <a:prstGeom prst="straightConnector1">
            <a:avLst/>
          </a:prstGeom>
          <a:noFill/>
          <a:ln w="9525" cap="flat" cmpd="sng" algn="ctr">
            <a:solidFill>
              <a:srgbClr val="0070C0"/>
            </a:solidFill>
            <a:prstDash val="solid"/>
            <a:round/>
            <a:headEnd type="none" w="sm" len="sm"/>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フローチャート: 磁気ディスク 56">
            <a:extLst>
              <a:ext uri="{FF2B5EF4-FFF2-40B4-BE49-F238E27FC236}">
                <a16:creationId xmlns:a16="http://schemas.microsoft.com/office/drawing/2014/main" id="{E2A3D550-4214-AD07-B743-3CB3C2865B3B}"/>
              </a:ext>
            </a:extLst>
          </p:cNvPr>
          <p:cNvSpPr/>
          <p:nvPr/>
        </p:nvSpPr>
        <p:spPr bwMode="auto">
          <a:xfrm>
            <a:off x="5313040" y="4196210"/>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MF</a:t>
            </a:r>
            <a:r>
              <a:rPr lang="ja-JP" altLang="en-US" sz="800" dirty="0">
                <a:solidFill>
                  <a:srgbClr val="000000"/>
                </a:solidFill>
                <a:latin typeface="Meiryo UI" panose="020B0604030504040204" pitchFamily="50" charset="-128"/>
                <a:ea typeface="Meiryo UI" panose="020B0604030504040204" pitchFamily="50" charset="-128"/>
              </a:rPr>
              <a:t>口座</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フローチャート: 磁気ディスク 67">
            <a:extLst>
              <a:ext uri="{FF2B5EF4-FFF2-40B4-BE49-F238E27FC236}">
                <a16:creationId xmlns:a16="http://schemas.microsoft.com/office/drawing/2014/main" id="{18B7D8F1-DC61-980F-7E00-7E23908ED6FB}"/>
              </a:ext>
            </a:extLst>
          </p:cNvPr>
          <p:cNvSpPr/>
          <p:nvPr/>
        </p:nvSpPr>
        <p:spPr bwMode="auto">
          <a:xfrm>
            <a:off x="5366993" y="5451981"/>
            <a:ext cx="1098175" cy="276999"/>
          </a:xfrm>
          <a:prstGeom prst="flowChartMagneticDisk">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rot="0" spcFirstLastPara="0" vert="horz" wrap="square" lIns="18000" tIns="0" rIns="18000" bIns="0" numCol="1" spcCol="0" rtlCol="0" fromWordArt="0" anchor="ctr" anchorCtr="0" forceAA="0" compatLnSpc="1">
            <a:prstTxWarp prst="textNoShape">
              <a:avLst/>
            </a:prstTxWarp>
            <a:noAutofit/>
          </a:bodyPr>
          <a:lstStyle>
            <a:defPPr>
              <a:defRPr lang="ja-JP"/>
            </a:defPPr>
            <a:lvl1pPr marL="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1pPr>
            <a:lvl2pPr marL="4572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2pPr>
            <a:lvl3pPr marL="9144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3pPr>
            <a:lvl4pPr marL="13716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4pPr>
            <a:lvl5pPr marL="1828800" indent="0" algn="ctr" rtl="0" fontAlgn="base">
              <a:lnSpc>
                <a:spcPct val="75000"/>
              </a:lnSpc>
              <a:spcBef>
                <a:spcPct val="0"/>
              </a:spcBef>
              <a:spcAft>
                <a:spcPct val="0"/>
              </a:spcAft>
              <a:defRPr kumimoji="1" sz="1400" kern="1200">
                <a:solidFill>
                  <a:schemeClr val="bg1"/>
                </a:solidFill>
                <a:latin typeface="Arial" charset="0"/>
                <a:ea typeface="HGPｺﾞｼｯｸM" pitchFamily="50" charset="-128"/>
                <a:cs typeface="+mn-cs"/>
              </a:defRPr>
            </a:lvl5pPr>
            <a:lvl6pPr marL="2286000" indent="0" algn="l" defTabSz="914400" rtl="0" eaLnBrk="1" latinLnBrk="0" hangingPunct="1">
              <a:defRPr kumimoji="1" sz="1400" kern="1200">
                <a:solidFill>
                  <a:schemeClr val="bg1"/>
                </a:solidFill>
                <a:latin typeface="Arial" charset="0"/>
                <a:ea typeface="HGPｺﾞｼｯｸM" pitchFamily="50" charset="-128"/>
                <a:cs typeface="+mn-cs"/>
              </a:defRPr>
            </a:lvl6pPr>
            <a:lvl7pPr marL="2743200" indent="0" algn="l" defTabSz="914400" rtl="0" eaLnBrk="1" latinLnBrk="0" hangingPunct="1">
              <a:defRPr kumimoji="1" sz="1400" kern="1200">
                <a:solidFill>
                  <a:schemeClr val="bg1"/>
                </a:solidFill>
                <a:latin typeface="Arial" charset="0"/>
                <a:ea typeface="HGPｺﾞｼｯｸM" pitchFamily="50" charset="-128"/>
                <a:cs typeface="+mn-cs"/>
              </a:defRPr>
            </a:lvl7pPr>
            <a:lvl8pPr marL="3200400" indent="0" algn="l" defTabSz="914400" rtl="0" eaLnBrk="1" latinLnBrk="0" hangingPunct="1">
              <a:defRPr kumimoji="1" sz="1400" kern="1200">
                <a:solidFill>
                  <a:schemeClr val="bg1"/>
                </a:solidFill>
                <a:latin typeface="Arial" charset="0"/>
                <a:ea typeface="HGPｺﾞｼｯｸM" pitchFamily="50" charset="-128"/>
                <a:cs typeface="+mn-cs"/>
              </a:defRPr>
            </a:lvl8pPr>
            <a:lvl9pPr marL="3657600" indent="0" algn="l" defTabSz="914400" rtl="0" eaLnBrk="1" latinLnBrk="0" hangingPunct="1">
              <a:defRPr kumimoji="1" sz="1400" kern="1200">
                <a:solidFill>
                  <a:schemeClr val="bg1"/>
                </a:solidFill>
                <a:latin typeface="Arial" charset="0"/>
                <a:ea typeface="HGPｺﾞｼｯｸM" pitchFamily="50" charset="-128"/>
                <a:cs typeface="+mn-cs"/>
              </a:defRPr>
            </a:lvl9pPr>
          </a:lstStyle>
          <a:p>
            <a:pPr>
              <a:lnSpc>
                <a:spcPct val="100000"/>
              </a:lnSpc>
              <a:spcBef>
                <a:spcPct val="20000"/>
              </a:spcBef>
            </a:pPr>
            <a:r>
              <a:rPr lang="en-US" altLang="ja-JP" sz="800" dirty="0">
                <a:solidFill>
                  <a:srgbClr val="000000"/>
                </a:solidFill>
                <a:latin typeface="Meiryo UI" panose="020B0604030504040204" pitchFamily="50" charset="-128"/>
                <a:ea typeface="Meiryo UI" panose="020B0604030504040204" pitchFamily="50" charset="-128"/>
              </a:rPr>
              <a:t>TF</a:t>
            </a:r>
            <a:r>
              <a:rPr lang="ja-JP" altLang="en-US" sz="800" dirty="0">
                <a:solidFill>
                  <a:srgbClr val="000000"/>
                </a:solidFill>
                <a:latin typeface="Meiryo UI" panose="020B0604030504040204" pitchFamily="50" charset="-128"/>
                <a:ea typeface="Meiryo UI" panose="020B0604030504040204" pitchFamily="50" charset="-128"/>
              </a:rPr>
              <a:t>伝票管理</a:t>
            </a:r>
            <a:endParaRPr kumimoji="1" lang="ja-JP" altLang="en-US" sz="70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正方形/長方形 69">
            <a:extLst>
              <a:ext uri="{FF2B5EF4-FFF2-40B4-BE49-F238E27FC236}">
                <a16:creationId xmlns:a16="http://schemas.microsoft.com/office/drawing/2014/main" id="{50A76361-7F80-F1DF-CF31-D25E98CDFDD1}"/>
              </a:ext>
            </a:extLst>
          </p:cNvPr>
          <p:cNvSpPr/>
          <p:nvPr/>
        </p:nvSpPr>
        <p:spPr bwMode="auto">
          <a:xfrm>
            <a:off x="4031490" y="5373895"/>
            <a:ext cx="86409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データ取得</a:t>
            </a:r>
          </a:p>
        </p:txBody>
      </p:sp>
      <p:sp>
        <p:nvSpPr>
          <p:cNvPr id="77" name="正方形/長方形 76">
            <a:extLst>
              <a:ext uri="{FF2B5EF4-FFF2-40B4-BE49-F238E27FC236}">
                <a16:creationId xmlns:a16="http://schemas.microsoft.com/office/drawing/2014/main" id="{41E6DB16-2671-8A59-68ED-1F12CCF43CFC}"/>
              </a:ext>
            </a:extLst>
          </p:cNvPr>
          <p:cNvSpPr/>
          <p:nvPr/>
        </p:nvSpPr>
        <p:spPr bwMode="auto">
          <a:xfrm>
            <a:off x="1522074" y="5373216"/>
            <a:ext cx="928704" cy="350379"/>
          </a:xfrm>
          <a:prstGeom prst="rect">
            <a:avLst/>
          </a:prstGeom>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18000" tIns="0" rIns="18000" bIns="0" numCol="1" spcCol="0" rtlCol="0" fromWordArt="0" anchor="ctr" anchorCtr="0" forceAA="0" compatLnSpc="1">
            <a:prstTxWarp prst="textNoShape">
              <a:avLst/>
            </a:prstTxWarp>
            <a:noAutofit/>
          </a:bodyPr>
          <a:lstStyle/>
          <a:p>
            <a:pPr algn="ctr">
              <a:spcBef>
                <a:spcPct val="20000"/>
              </a:spcBef>
            </a:pPr>
            <a:r>
              <a:rPr kumimoji="1" lang="ja-JP" altLang="en-US" sz="1050" dirty="0"/>
              <a:t>進捗状況一覧</a:t>
            </a:r>
          </a:p>
        </p:txBody>
      </p:sp>
      <p:cxnSp>
        <p:nvCxnSpPr>
          <p:cNvPr id="78" name="直線矢印コネクタ 77">
            <a:extLst>
              <a:ext uri="{FF2B5EF4-FFF2-40B4-BE49-F238E27FC236}">
                <a16:creationId xmlns:a16="http://schemas.microsoft.com/office/drawing/2014/main" id="{2BD32FAF-B5A7-1E37-A2E4-D22805CE56C3}"/>
              </a:ext>
            </a:extLst>
          </p:cNvPr>
          <p:cNvCxnSpPr>
            <a:stCxn id="77" idx="3"/>
            <a:endCxn id="70" idx="1"/>
          </p:cNvCxnSpPr>
          <p:nvPr/>
        </p:nvCxnSpPr>
        <p:spPr bwMode="auto">
          <a:xfrm>
            <a:off x="2450778" y="5548406"/>
            <a:ext cx="1580712" cy="679"/>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矢印コネクタ 78">
            <a:extLst>
              <a:ext uri="{FF2B5EF4-FFF2-40B4-BE49-F238E27FC236}">
                <a16:creationId xmlns:a16="http://schemas.microsoft.com/office/drawing/2014/main" id="{B80CB7B0-5079-16EB-9FDA-FC063548FDF4}"/>
              </a:ext>
            </a:extLst>
          </p:cNvPr>
          <p:cNvCxnSpPr/>
          <p:nvPr/>
        </p:nvCxnSpPr>
        <p:spPr bwMode="auto">
          <a:xfrm>
            <a:off x="992560" y="5555170"/>
            <a:ext cx="538613" cy="0"/>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線矢印コネクタ 83">
            <a:extLst>
              <a:ext uri="{FF2B5EF4-FFF2-40B4-BE49-F238E27FC236}">
                <a16:creationId xmlns:a16="http://schemas.microsoft.com/office/drawing/2014/main" id="{D91F52E9-203E-E218-1B53-392F219A3A95}"/>
              </a:ext>
            </a:extLst>
          </p:cNvPr>
          <p:cNvCxnSpPr/>
          <p:nvPr/>
        </p:nvCxnSpPr>
        <p:spPr bwMode="auto">
          <a:xfrm>
            <a:off x="4899819" y="5559358"/>
            <a:ext cx="476475" cy="0"/>
          </a:xfrm>
          <a:prstGeom prst="straightConnector1">
            <a:avLst/>
          </a:prstGeom>
          <a:noFill/>
          <a:ln w="9525" cap="flat" cmpd="sng" algn="ctr">
            <a:solidFill>
              <a:srgbClr val="0070C0"/>
            </a:solidFill>
            <a:prstDash val="solid"/>
            <a:round/>
            <a:headEnd type="triangl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テキスト ボックス 84">
            <a:extLst>
              <a:ext uri="{FF2B5EF4-FFF2-40B4-BE49-F238E27FC236}">
                <a16:creationId xmlns:a16="http://schemas.microsoft.com/office/drawing/2014/main" id="{1F290DFA-C196-3356-9CF2-2FA2167B5D5E}"/>
              </a:ext>
            </a:extLst>
          </p:cNvPr>
          <p:cNvSpPr txBox="1"/>
          <p:nvPr/>
        </p:nvSpPr>
        <p:spPr>
          <a:xfrm>
            <a:off x="6599425" y="5476974"/>
            <a:ext cx="1269899" cy="400110"/>
          </a:xfrm>
          <a:prstGeom prst="rect">
            <a:avLst/>
          </a:prstGeom>
          <a:solidFill>
            <a:schemeClr val="bg1"/>
          </a:solidFill>
        </p:spPr>
        <p:txBody>
          <a:bodyPr wrap="none" rtlCol="0">
            <a:spAutoFit/>
          </a:bodyPr>
          <a:lstStyle/>
          <a:p>
            <a:r>
              <a:rPr kumimoji="1" lang="ja-JP" altLang="en-US" sz="1000" dirty="0"/>
              <a:t>注文整合性チェックの</a:t>
            </a:r>
            <a:endParaRPr kumimoji="1" lang="en-US" altLang="ja-JP" sz="1000" dirty="0"/>
          </a:p>
          <a:p>
            <a:r>
              <a:rPr kumimoji="1" lang="ja-JP" altLang="en-US" sz="1000" dirty="0"/>
              <a:t>処理結果を確認する</a:t>
            </a:r>
            <a:endParaRPr kumimoji="1" lang="en-US" altLang="ja-JP" sz="1000" dirty="0"/>
          </a:p>
        </p:txBody>
      </p:sp>
      <p:pic>
        <p:nvPicPr>
          <p:cNvPr id="86" name="Picture 78" descr="j0433944">
            <a:extLst>
              <a:ext uri="{FF2B5EF4-FFF2-40B4-BE49-F238E27FC236}">
                <a16:creationId xmlns:a16="http://schemas.microsoft.com/office/drawing/2014/main" id="{FDAC8DD0-1249-D231-984E-0C6386E237C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162" y="5238980"/>
            <a:ext cx="617051" cy="58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楕円 87">
            <a:extLst>
              <a:ext uri="{FF2B5EF4-FFF2-40B4-BE49-F238E27FC236}">
                <a16:creationId xmlns:a16="http://schemas.microsoft.com/office/drawing/2014/main" id="{155AE075-7289-C1C5-D8EE-BDFFE426844C}"/>
              </a:ext>
            </a:extLst>
          </p:cNvPr>
          <p:cNvSpPr/>
          <p:nvPr/>
        </p:nvSpPr>
        <p:spPr>
          <a:xfrm>
            <a:off x="2288704" y="5229200"/>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90" name="楕円 89">
            <a:extLst>
              <a:ext uri="{FF2B5EF4-FFF2-40B4-BE49-F238E27FC236}">
                <a16:creationId xmlns:a16="http://schemas.microsoft.com/office/drawing/2014/main" id="{6C1FF0E5-4124-B180-A820-A6705BF387DE}"/>
              </a:ext>
            </a:extLst>
          </p:cNvPr>
          <p:cNvSpPr/>
          <p:nvPr/>
        </p:nvSpPr>
        <p:spPr>
          <a:xfrm>
            <a:off x="3702930" y="4038775"/>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bg1"/>
                </a:solidFill>
              </a:rPr>
              <a:t>新</a:t>
            </a:r>
            <a:endParaRPr kumimoji="1" lang="ja-JP" altLang="en-US" sz="900" dirty="0">
              <a:solidFill>
                <a:schemeClr val="bg1"/>
              </a:solidFill>
            </a:endParaRPr>
          </a:p>
        </p:txBody>
      </p:sp>
      <p:sp>
        <p:nvSpPr>
          <p:cNvPr id="91" name="楕円 90">
            <a:extLst>
              <a:ext uri="{FF2B5EF4-FFF2-40B4-BE49-F238E27FC236}">
                <a16:creationId xmlns:a16="http://schemas.microsoft.com/office/drawing/2014/main" id="{9B8B5EDF-5532-5E6A-8765-FA8BAE1E78CD}"/>
              </a:ext>
            </a:extLst>
          </p:cNvPr>
          <p:cNvSpPr/>
          <p:nvPr/>
        </p:nvSpPr>
        <p:spPr>
          <a:xfrm>
            <a:off x="3679859" y="3045888"/>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
        <p:nvSpPr>
          <p:cNvPr id="13" name="楕円 12">
            <a:extLst>
              <a:ext uri="{FF2B5EF4-FFF2-40B4-BE49-F238E27FC236}">
                <a16:creationId xmlns:a16="http://schemas.microsoft.com/office/drawing/2014/main" id="{2A10DAEB-BAE6-79F9-F79B-27E8BF379D81}"/>
              </a:ext>
            </a:extLst>
          </p:cNvPr>
          <p:cNvSpPr/>
          <p:nvPr/>
        </p:nvSpPr>
        <p:spPr>
          <a:xfrm>
            <a:off x="4808984" y="5224767"/>
            <a:ext cx="214980" cy="220457"/>
          </a:xfrm>
          <a:prstGeom prst="ellipse">
            <a:avLst/>
          </a:prstGeom>
          <a:solidFill>
            <a:schemeClr val="accent2">
              <a:lumMod val="40000"/>
              <a:lumOff val="60000"/>
            </a:schemeClr>
          </a:solid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rPr>
              <a:t>修</a:t>
            </a:r>
          </a:p>
        </p:txBody>
      </p:sp>
    </p:spTree>
    <p:extLst>
      <p:ext uri="{BB962C8B-B14F-4D97-AF65-F5344CB8AC3E}">
        <p14:creationId xmlns:p14="http://schemas.microsoft.com/office/powerpoint/2010/main" val="353275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A52E4-886A-812A-66AF-6FB1667AC8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45FC7F-FD99-67B6-47EB-4090AF556689}"/>
              </a:ext>
            </a:extLst>
          </p:cNvPr>
          <p:cNvSpPr>
            <a:spLocks noGrp="1"/>
          </p:cNvSpPr>
          <p:nvPr>
            <p:ph type="title"/>
          </p:nvPr>
        </p:nvSpPr>
        <p:spPr/>
        <p:txBody>
          <a:bodyPr/>
          <a:lstStyle/>
          <a:p>
            <a:r>
              <a:rPr lang="ja-JP" altLang="en-US" dirty="0"/>
              <a:t>５</a:t>
            </a:r>
            <a:r>
              <a:rPr kumimoji="1" lang="ja-JP" altLang="en-US" dirty="0"/>
              <a:t>．帳票</a:t>
            </a:r>
          </a:p>
        </p:txBody>
      </p:sp>
      <p:sp>
        <p:nvSpPr>
          <p:cNvPr id="4" name="Text Box 16">
            <a:extLst>
              <a:ext uri="{FF2B5EF4-FFF2-40B4-BE49-F238E27FC236}">
                <a16:creationId xmlns:a16="http://schemas.microsoft.com/office/drawing/2014/main" id="{F4D3D42A-1305-B9B2-039A-CA3D60F0BE02}"/>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＜帳票＞</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紙帳票や</a:t>
            </a:r>
            <a:r>
              <a:rPr lang="en-US" altLang="ja-JP" sz="1100" b="0" dirty="0">
                <a:solidFill>
                  <a:srgbClr val="000000"/>
                </a:solidFill>
                <a:latin typeface="ＭＳ ゴシック" panose="020B0609070205080204" pitchFamily="49" charset="-128"/>
                <a:ea typeface="ＭＳ ゴシック" panose="020B0609070205080204" pitchFamily="49" charset="-128"/>
              </a:rPr>
              <a:t>PDF</a:t>
            </a:r>
            <a:r>
              <a:rPr lang="ja-JP" altLang="en-US" sz="1100" b="0" dirty="0">
                <a:solidFill>
                  <a:srgbClr val="000000"/>
                </a:solidFill>
                <a:latin typeface="ＭＳ ゴシック" panose="020B0609070205080204" pitchFamily="49" charset="-128"/>
                <a:ea typeface="ＭＳ ゴシック" panose="020B0609070205080204" pitchFamily="49" charset="-128"/>
              </a:rPr>
              <a:t>を出力する場合、名称、新規</a:t>
            </a:r>
            <a:r>
              <a:rPr lang="en-US" altLang="ja-JP" sz="1100" b="0" dirty="0">
                <a:solidFill>
                  <a:srgbClr val="000000"/>
                </a:solidFill>
                <a:latin typeface="ＭＳ ゴシック" panose="020B0609070205080204" pitchFamily="49" charset="-128"/>
                <a:ea typeface="ＭＳ ゴシック" panose="020B0609070205080204" pitchFamily="49" charset="-128"/>
              </a:rPr>
              <a:t>/</a:t>
            </a:r>
            <a:r>
              <a:rPr lang="ja-JP" altLang="en-US" sz="1100" b="0" dirty="0">
                <a:solidFill>
                  <a:srgbClr val="000000"/>
                </a:solidFill>
                <a:latin typeface="ＭＳ ゴシック" panose="020B0609070205080204" pitchFamily="49" charset="-128"/>
                <a:ea typeface="ＭＳ ゴシック" panose="020B0609070205080204" pitchFamily="49" charset="-128"/>
              </a:rPr>
              <a:t>変更</a:t>
            </a:r>
            <a:r>
              <a:rPr lang="en-US" altLang="ja-JP" sz="1100" b="0" dirty="0">
                <a:solidFill>
                  <a:srgbClr val="000000"/>
                </a:solidFill>
                <a:latin typeface="ＭＳ ゴシック" panose="020B0609070205080204" pitchFamily="49" charset="-128"/>
                <a:ea typeface="ＭＳ ゴシック" panose="020B0609070205080204" pitchFamily="49" charset="-128"/>
              </a:rPr>
              <a:t>/</a:t>
            </a:r>
            <a:r>
              <a:rPr lang="ja-JP" altLang="en-US" sz="1100" b="0" dirty="0">
                <a:solidFill>
                  <a:srgbClr val="000000"/>
                </a:solidFill>
                <a:latin typeface="ＭＳ ゴシック" panose="020B0609070205080204" pitchFamily="49" charset="-128"/>
                <a:ea typeface="ＭＳ ゴシック" panose="020B0609070205080204" pitchFamily="49" charset="-128"/>
              </a:rPr>
              <a:t>廃止、出力形式、対応概要を記載する。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graphicFrame>
        <p:nvGraphicFramePr>
          <p:cNvPr id="3" name="表 2">
            <a:extLst>
              <a:ext uri="{FF2B5EF4-FFF2-40B4-BE49-F238E27FC236}">
                <a16:creationId xmlns:a16="http://schemas.microsoft.com/office/drawing/2014/main" id="{B0D977A5-8E3A-DFB6-D97C-EC35296F384D}"/>
              </a:ext>
            </a:extLst>
          </p:cNvPr>
          <p:cNvGraphicFramePr>
            <a:graphicFrameLocks noGrp="1"/>
          </p:cNvGraphicFramePr>
          <p:nvPr>
            <p:extLst>
              <p:ext uri="{D42A27DB-BD31-4B8C-83A1-F6EECF244321}">
                <p14:modId xmlns:p14="http://schemas.microsoft.com/office/powerpoint/2010/main" val="413229016"/>
              </p:ext>
            </p:extLst>
          </p:nvPr>
        </p:nvGraphicFramePr>
        <p:xfrm>
          <a:off x="488503" y="1340758"/>
          <a:ext cx="9003159" cy="2880330"/>
        </p:xfrm>
        <a:graphic>
          <a:graphicData uri="http://schemas.openxmlformats.org/drawingml/2006/table">
            <a:tbl>
              <a:tblPr firstRow="1" bandRow="1">
                <a:tableStyleId>{93296810-A885-4BE3-A3E7-6D5BEEA58F35}</a:tableStyleId>
              </a:tblPr>
              <a:tblGrid>
                <a:gridCol w="461583">
                  <a:extLst>
                    <a:ext uri="{9D8B030D-6E8A-4147-A177-3AD203B41FA5}">
                      <a16:colId xmlns:a16="http://schemas.microsoft.com/office/drawing/2014/main" val="1777742977"/>
                    </a:ext>
                  </a:extLst>
                </a:gridCol>
                <a:gridCol w="538513">
                  <a:extLst>
                    <a:ext uri="{9D8B030D-6E8A-4147-A177-3AD203B41FA5}">
                      <a16:colId xmlns:a16="http://schemas.microsoft.com/office/drawing/2014/main" val="3295760834"/>
                    </a:ext>
                  </a:extLst>
                </a:gridCol>
                <a:gridCol w="692373">
                  <a:extLst>
                    <a:ext uri="{9D8B030D-6E8A-4147-A177-3AD203B41FA5}">
                      <a16:colId xmlns:a16="http://schemas.microsoft.com/office/drawing/2014/main" val="81306546"/>
                    </a:ext>
                  </a:extLst>
                </a:gridCol>
                <a:gridCol w="1692468">
                  <a:extLst>
                    <a:ext uri="{9D8B030D-6E8A-4147-A177-3AD203B41FA5}">
                      <a16:colId xmlns:a16="http://schemas.microsoft.com/office/drawing/2014/main" val="2154433068"/>
                    </a:ext>
                  </a:extLst>
                </a:gridCol>
                <a:gridCol w="1000095">
                  <a:extLst>
                    <a:ext uri="{9D8B030D-6E8A-4147-A177-3AD203B41FA5}">
                      <a16:colId xmlns:a16="http://schemas.microsoft.com/office/drawing/2014/main" val="4048798964"/>
                    </a:ext>
                  </a:extLst>
                </a:gridCol>
                <a:gridCol w="3914897">
                  <a:extLst>
                    <a:ext uri="{9D8B030D-6E8A-4147-A177-3AD203B41FA5}">
                      <a16:colId xmlns:a16="http://schemas.microsoft.com/office/drawing/2014/main" val="3092326056"/>
                    </a:ext>
                  </a:extLst>
                </a:gridCol>
                <a:gridCol w="703230">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シス</a:t>
                      </a:r>
                      <a:endParaRPr kumimoji="1" lang="en-US" altLang="ja-JP" sz="1200" dirty="0"/>
                    </a:p>
                    <a:p>
                      <a:r>
                        <a:rPr kumimoji="1" lang="ja-JP" altLang="en-US" sz="1200" dirty="0"/>
                        <a:t>テム</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新規</a:t>
                      </a:r>
                      <a:r>
                        <a:rPr kumimoji="1" lang="en-US" altLang="ja-JP" sz="1200" dirty="0"/>
                        <a:t>/</a:t>
                      </a:r>
                      <a:r>
                        <a:rPr kumimoji="1" lang="ja-JP" altLang="en-US" sz="1200" dirty="0"/>
                        <a:t>変更</a:t>
                      </a:r>
                      <a:r>
                        <a:rPr kumimoji="1" lang="en-US" altLang="ja-JP"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廃止</a:t>
                      </a:r>
                    </a:p>
                  </a:txBody>
                  <a:tcPr/>
                </a:tc>
                <a:tc>
                  <a:txBody>
                    <a:bodyPr/>
                    <a:lstStyle/>
                    <a:p>
                      <a:r>
                        <a:rPr kumimoji="1" lang="ja-JP" altLang="en-US" sz="1200" dirty="0"/>
                        <a:t>帳票名</a:t>
                      </a:r>
                    </a:p>
                  </a:txBody>
                  <a:tcPr/>
                </a:tc>
                <a:tc>
                  <a:txBody>
                    <a:bodyPr/>
                    <a:lstStyle/>
                    <a:p>
                      <a:r>
                        <a:rPr kumimoji="1" lang="ja-JP" altLang="en-US" sz="1200" dirty="0"/>
                        <a:t>出力形式</a:t>
                      </a:r>
                      <a:endParaRPr kumimoji="1" lang="en-US" altLang="ja-JP" sz="1200" dirty="0"/>
                    </a:p>
                    <a:p>
                      <a:r>
                        <a:rPr kumimoji="1" lang="ja-JP" altLang="en-US" sz="1200" dirty="0"/>
                        <a:t>（紙、</a:t>
                      </a:r>
                      <a:r>
                        <a:rPr kumimoji="1" lang="en-US" altLang="ja-JP" sz="1200" dirty="0"/>
                        <a:t>PDF</a:t>
                      </a:r>
                      <a:r>
                        <a:rPr kumimoji="1" lang="ja-JP" altLang="en-US" sz="1200" dirty="0"/>
                        <a:t>など）</a:t>
                      </a:r>
                      <a:endParaRPr kumimoji="1" lang="en-US" altLang="ja-JP" sz="1200" dirty="0"/>
                    </a:p>
                  </a:txBody>
                  <a:tcPr/>
                </a:tc>
                <a:tc>
                  <a:txBody>
                    <a:bodyPr/>
                    <a:lstStyle/>
                    <a:p>
                      <a:r>
                        <a:rPr kumimoji="1" lang="ja-JP" altLang="en-US" sz="1200" dirty="0"/>
                        <a:t>帳票要件</a:t>
                      </a:r>
                      <a:endParaRPr kumimoji="1" lang="en-US" altLang="ja-JP" sz="1200" dirty="0"/>
                    </a:p>
                    <a:p>
                      <a:r>
                        <a:rPr kumimoji="1" lang="ja-JP" altLang="en-US" sz="1200" dirty="0"/>
                        <a:t>（帳票に対して要件があれば記載する）</a:t>
                      </a:r>
                    </a:p>
                  </a:txBody>
                  <a:tcPr/>
                </a:tc>
                <a:tc>
                  <a:txBody>
                    <a:bodyPr/>
                    <a:lstStyle/>
                    <a:p>
                      <a:r>
                        <a:rPr kumimoji="1" lang="ja-JP" altLang="en-US" sz="1200" dirty="0"/>
                        <a:t>該当</a:t>
                      </a:r>
                      <a:endParaRPr kumimoji="1" lang="en-US" altLang="ja-JP" sz="1200" dirty="0"/>
                    </a:p>
                    <a:p>
                      <a:r>
                        <a:rPr kumimoji="1" lang="ja-JP" altLang="en-US" sz="1200" dirty="0"/>
                        <a:t>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r>
                        <a:rPr kumimoji="1" lang="ja-JP" altLang="en-US" sz="1200" dirty="0"/>
                        <a:t>記載事項なし</a:t>
                      </a:r>
                    </a:p>
                  </a:txBody>
                  <a:tcPr/>
                </a:tc>
                <a:tc>
                  <a:txBody>
                    <a:bodyPr/>
                    <a:lstStyle/>
                    <a:p>
                      <a:endParaRPr kumimoji="1" lang="ja-JP" altLang="en-US" sz="1200" dirty="0"/>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695248803"/>
                  </a:ext>
                </a:extLst>
              </a:tr>
              <a:tr h="448050">
                <a:tc>
                  <a:txBody>
                    <a:bodyPr/>
                    <a:lstStyle/>
                    <a:p>
                      <a:r>
                        <a:rPr kumimoji="1" lang="en-US" altLang="ja-JP" sz="1200" dirty="0"/>
                        <a:t>3</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545511512"/>
                  </a:ext>
                </a:extLst>
              </a:tr>
            </a:tbl>
          </a:graphicData>
        </a:graphic>
      </p:graphicFrame>
    </p:spTree>
    <p:extLst>
      <p:ext uri="{BB962C8B-B14F-4D97-AF65-F5344CB8AC3E}">
        <p14:creationId xmlns:p14="http://schemas.microsoft.com/office/powerpoint/2010/main" val="1920901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10FA3-B788-52E8-9029-9465946FEF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ECE198-6831-869E-8CCC-31D685F0BAE3}"/>
              </a:ext>
            </a:extLst>
          </p:cNvPr>
          <p:cNvSpPr>
            <a:spLocks noGrp="1"/>
          </p:cNvSpPr>
          <p:nvPr>
            <p:ph type="title"/>
          </p:nvPr>
        </p:nvSpPr>
        <p:spPr/>
        <p:txBody>
          <a:bodyPr/>
          <a:lstStyle/>
          <a:p>
            <a:r>
              <a:rPr lang="ja-JP" altLang="en-US" dirty="0"/>
              <a:t>５</a:t>
            </a:r>
            <a:r>
              <a:rPr kumimoji="1" lang="ja-JP" altLang="en-US" dirty="0"/>
              <a:t>．帳票</a:t>
            </a:r>
          </a:p>
        </p:txBody>
      </p:sp>
      <p:sp>
        <p:nvSpPr>
          <p:cNvPr id="4" name="Text Box 16">
            <a:extLst>
              <a:ext uri="{FF2B5EF4-FFF2-40B4-BE49-F238E27FC236}">
                <a16:creationId xmlns:a16="http://schemas.microsoft.com/office/drawing/2014/main" id="{0BA3307D-A2E1-DCC3-953E-AE1FF7FD1490}"/>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＜帳票イメージ＞</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帳票のイメージを添付する。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135794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212E-20AC-75F0-C5AB-EFB76F0BE5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D9B244-C24C-7BC6-85A2-D75ACFF0E669}"/>
              </a:ext>
            </a:extLst>
          </p:cNvPr>
          <p:cNvSpPr>
            <a:spLocks noGrp="1"/>
          </p:cNvSpPr>
          <p:nvPr>
            <p:ph type="title"/>
          </p:nvPr>
        </p:nvSpPr>
        <p:spPr/>
        <p:txBody>
          <a:bodyPr/>
          <a:lstStyle/>
          <a:p>
            <a:r>
              <a:rPr kumimoji="1" lang="ja-JP" altLang="en-US" dirty="0"/>
              <a:t>６．他システムとの接続</a:t>
            </a:r>
          </a:p>
        </p:txBody>
      </p:sp>
      <p:sp>
        <p:nvSpPr>
          <p:cNvPr id="4" name="Text Box 16">
            <a:extLst>
              <a:ext uri="{FF2B5EF4-FFF2-40B4-BE49-F238E27FC236}">
                <a16:creationId xmlns:a16="http://schemas.microsoft.com/office/drawing/2014/main" id="{86ED0A66-F5E7-3869-A864-594F8245A4BA}"/>
              </a:ext>
            </a:extLst>
          </p:cNvPr>
          <p:cNvSpPr txBox="1">
            <a:spLocks noChangeArrowheads="1"/>
          </p:cNvSpPr>
          <p:nvPr/>
        </p:nvSpPr>
        <p:spPr bwMode="auto">
          <a:xfrm>
            <a:off x="56456" y="692696"/>
            <a:ext cx="9645650" cy="5270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＜接続システム一覧＞</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接続するシステムを記載する。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graphicFrame>
        <p:nvGraphicFramePr>
          <p:cNvPr id="3" name="表 2">
            <a:extLst>
              <a:ext uri="{FF2B5EF4-FFF2-40B4-BE49-F238E27FC236}">
                <a16:creationId xmlns:a16="http://schemas.microsoft.com/office/drawing/2014/main" id="{19FBAF33-9E23-ECA8-8C41-14D9029D568F}"/>
              </a:ext>
            </a:extLst>
          </p:cNvPr>
          <p:cNvGraphicFramePr>
            <a:graphicFrameLocks noGrp="1"/>
          </p:cNvGraphicFramePr>
          <p:nvPr>
            <p:extLst>
              <p:ext uri="{D42A27DB-BD31-4B8C-83A1-F6EECF244321}">
                <p14:modId xmlns:p14="http://schemas.microsoft.com/office/powerpoint/2010/main" val="1589136243"/>
              </p:ext>
            </p:extLst>
          </p:nvPr>
        </p:nvGraphicFramePr>
        <p:xfrm>
          <a:off x="488502" y="1772806"/>
          <a:ext cx="8928992" cy="2880330"/>
        </p:xfrm>
        <a:graphic>
          <a:graphicData uri="http://schemas.openxmlformats.org/drawingml/2006/table">
            <a:tbl>
              <a:tblPr firstRow="1" bandRow="1">
                <a:tableStyleId>{93296810-A885-4BE3-A3E7-6D5BEEA58F35}</a:tableStyleId>
              </a:tblPr>
              <a:tblGrid>
                <a:gridCol w="478243">
                  <a:extLst>
                    <a:ext uri="{9D8B030D-6E8A-4147-A177-3AD203B41FA5}">
                      <a16:colId xmlns:a16="http://schemas.microsoft.com/office/drawing/2014/main" val="1777742977"/>
                    </a:ext>
                  </a:extLst>
                </a:gridCol>
                <a:gridCol w="1275311">
                  <a:extLst>
                    <a:ext uri="{9D8B030D-6E8A-4147-A177-3AD203B41FA5}">
                      <a16:colId xmlns:a16="http://schemas.microsoft.com/office/drawing/2014/main" val="3295760834"/>
                    </a:ext>
                  </a:extLst>
                </a:gridCol>
                <a:gridCol w="1275311">
                  <a:extLst>
                    <a:ext uri="{9D8B030D-6E8A-4147-A177-3AD203B41FA5}">
                      <a16:colId xmlns:a16="http://schemas.microsoft.com/office/drawing/2014/main" val="4077994565"/>
                    </a:ext>
                  </a:extLst>
                </a:gridCol>
                <a:gridCol w="5159449">
                  <a:extLst>
                    <a:ext uri="{9D8B030D-6E8A-4147-A177-3AD203B41FA5}">
                      <a16:colId xmlns:a16="http://schemas.microsoft.com/office/drawing/2014/main" val="3092326056"/>
                    </a:ext>
                  </a:extLst>
                </a:gridCol>
                <a:gridCol w="740678">
                  <a:extLst>
                    <a:ext uri="{9D8B030D-6E8A-4147-A177-3AD203B41FA5}">
                      <a16:colId xmlns:a16="http://schemas.microsoft.com/office/drawing/2014/main" val="2620392848"/>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接続システム名</a:t>
                      </a:r>
                    </a:p>
                  </a:txBody>
                  <a:tcPr/>
                </a:tc>
                <a:tc>
                  <a:txBody>
                    <a:bodyPr/>
                    <a:lstStyle/>
                    <a:p>
                      <a:r>
                        <a:rPr kumimoji="1" lang="ja-JP" altLang="en-US" sz="1200" dirty="0"/>
                        <a:t>接続仕様</a:t>
                      </a:r>
                      <a:endParaRPr kumimoji="1" lang="en-US" altLang="ja-JP" sz="1200" dirty="0"/>
                    </a:p>
                    <a:p>
                      <a:r>
                        <a:rPr kumimoji="1" lang="ja-JP" altLang="en-US" sz="1200" dirty="0"/>
                        <a:t>（</a:t>
                      </a:r>
                      <a:r>
                        <a:rPr kumimoji="1" lang="en-US" altLang="ja-JP" sz="1200" dirty="0"/>
                        <a:t>https</a:t>
                      </a:r>
                      <a:r>
                        <a:rPr kumimoji="1" lang="ja-JP" altLang="en-US" sz="1200" dirty="0"/>
                        <a:t>、</a:t>
                      </a:r>
                      <a:r>
                        <a:rPr kumimoji="1" lang="en-US" altLang="ja-JP" sz="1200" dirty="0"/>
                        <a:t>HULFT</a:t>
                      </a:r>
                      <a:r>
                        <a:rPr kumimoji="1" lang="ja-JP" altLang="en-US" sz="1200" dirty="0"/>
                        <a:t>など）</a:t>
                      </a:r>
                      <a:endParaRPr kumimoji="1" lang="en-US" altLang="ja-JP" sz="1200" dirty="0"/>
                    </a:p>
                  </a:txBody>
                  <a:tcPr/>
                </a:tc>
                <a:tc>
                  <a:txBody>
                    <a:bodyPr/>
                    <a:lstStyle/>
                    <a:p>
                      <a:r>
                        <a:rPr kumimoji="1" lang="ja-JP" altLang="en-US" sz="1200" dirty="0"/>
                        <a:t>接続要件</a:t>
                      </a:r>
                    </a:p>
                  </a:txBody>
                  <a:tcPr/>
                </a:tc>
                <a:tc>
                  <a:txBody>
                    <a:bodyPr/>
                    <a:lstStyle/>
                    <a:p>
                      <a:r>
                        <a:rPr kumimoji="1" lang="ja-JP" altLang="en-US" sz="1200" dirty="0"/>
                        <a:t>該当</a:t>
                      </a:r>
                      <a:endParaRPr kumimoji="1" lang="en-US" altLang="ja-JP" sz="1200" dirty="0"/>
                    </a:p>
                    <a:p>
                      <a:r>
                        <a:rPr kumimoji="1" lang="ja-JP" altLang="en-US" sz="1200" dirty="0"/>
                        <a:t>要件</a:t>
                      </a:r>
                      <a:r>
                        <a:rPr kumimoji="1" lang="en-US" altLang="ja-JP" sz="1200" dirty="0"/>
                        <a:t>No</a:t>
                      </a:r>
                      <a:endParaRPr kumimoji="1" lang="ja-JP" altLang="en-US" sz="1200" dirty="0"/>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r>
                        <a:rPr lang="ja-JP" altLang="en-US" sz="1200" dirty="0">
                          <a:latin typeface="ＭＳ ゴシック" panose="020B0609070205080204" pitchFamily="49" charset="-128"/>
                          <a:ea typeface="ＭＳ ゴシック" panose="020B0609070205080204" pitchFamily="49" charset="-128"/>
                          <a:cs typeface="Meiryo UI" panose="020B0604030504040204" pitchFamily="50" charset="-128"/>
                        </a:rPr>
                        <a:t>記載事項なし</a:t>
                      </a:r>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695248803"/>
                  </a:ext>
                </a:extLst>
              </a:tr>
              <a:tr h="448050">
                <a:tc>
                  <a:txBody>
                    <a:bodyPr/>
                    <a:lstStyle/>
                    <a:p>
                      <a:r>
                        <a:rPr kumimoji="1" lang="en-US" altLang="ja-JP" sz="1200" dirty="0"/>
                        <a:t>3</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545511512"/>
                  </a:ext>
                </a:extLst>
              </a:tr>
            </a:tbl>
          </a:graphicData>
        </a:graphic>
      </p:graphicFrame>
    </p:spTree>
    <p:extLst>
      <p:ext uri="{BB962C8B-B14F-4D97-AF65-F5344CB8AC3E}">
        <p14:creationId xmlns:p14="http://schemas.microsoft.com/office/powerpoint/2010/main" val="1008417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BD94-BD7A-6194-5F95-37325E6A40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9D94CC-5278-F02F-451E-10A010346053}"/>
              </a:ext>
            </a:extLst>
          </p:cNvPr>
          <p:cNvSpPr>
            <a:spLocks noGrp="1"/>
          </p:cNvSpPr>
          <p:nvPr>
            <p:ph type="title"/>
          </p:nvPr>
        </p:nvSpPr>
        <p:spPr/>
        <p:txBody>
          <a:bodyPr/>
          <a:lstStyle/>
          <a:p>
            <a:r>
              <a:rPr kumimoji="1" lang="ja-JP" altLang="en-US" dirty="0"/>
              <a:t>６．他システムとの接続</a:t>
            </a:r>
          </a:p>
        </p:txBody>
      </p:sp>
      <p:sp>
        <p:nvSpPr>
          <p:cNvPr id="7" name="Text Box 16">
            <a:extLst>
              <a:ext uri="{FF2B5EF4-FFF2-40B4-BE49-F238E27FC236}">
                <a16:creationId xmlns:a16="http://schemas.microsoft.com/office/drawing/2014/main" id="{3FDCCB66-15D5-6043-7003-04792204F256}"/>
              </a:ext>
            </a:extLst>
          </p:cNvPr>
          <p:cNvSpPr txBox="1">
            <a:spLocks noChangeArrowheads="1"/>
          </p:cNvSpPr>
          <p:nvPr/>
        </p:nvSpPr>
        <p:spPr bwMode="auto">
          <a:xfrm>
            <a:off x="56456" y="692696"/>
            <a:ext cx="9645650" cy="337085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588">
              <a:spcBef>
                <a:spcPct val="20000"/>
              </a:spcBef>
              <a:buClr>
                <a:srgbClr val="33CCCC"/>
              </a:buClr>
              <a:buSzPct val="80000"/>
              <a:buFont typeface="Wingdings" panose="05000000000000000000" pitchFamily="2" charset="2"/>
              <a:buChar char="l"/>
              <a:tabLst>
                <a:tab pos="0" algn="l"/>
              </a:tabLst>
              <a:defRPr kumimoji="1" sz="3400" b="1">
                <a:solidFill>
                  <a:schemeClr val="bg2"/>
                </a:solidFill>
                <a:latin typeface="Arial" panose="020B0604020202020204" pitchFamily="34" charset="0"/>
                <a:ea typeface="ＭＳ Ｐゴシック" panose="020B0600070205080204" pitchFamily="50" charset="-128"/>
              </a:defRPr>
            </a:lvl1pPr>
            <a:lvl2pPr marL="742950" indent="-285750">
              <a:spcBef>
                <a:spcPct val="20000"/>
              </a:spcBef>
              <a:buClr>
                <a:srgbClr val="33CCCC"/>
              </a:buClr>
              <a:buChar char="–"/>
              <a:tabLst>
                <a:tab pos="0" algn="l"/>
              </a:tabLst>
              <a:defRPr kumimoji="1" sz="3000" b="1">
                <a:solidFill>
                  <a:schemeClr val="bg2"/>
                </a:solidFill>
                <a:latin typeface="Arial" panose="020B0604020202020204" pitchFamily="34" charset="0"/>
                <a:ea typeface="ＭＳ Ｐゴシック" panose="020B0600070205080204" pitchFamily="50" charset="-128"/>
              </a:defRPr>
            </a:lvl2pPr>
            <a:lvl3pPr marL="1143000" indent="-228600">
              <a:spcBef>
                <a:spcPct val="20000"/>
              </a:spcBef>
              <a:buClr>
                <a:srgbClr val="33CCCC"/>
              </a:buClr>
              <a:buChar char="•"/>
              <a:tabLst>
                <a:tab pos="0" algn="l"/>
              </a:tabLst>
              <a:defRPr kumimoji="1" sz="2500" b="1">
                <a:solidFill>
                  <a:schemeClr val="bg2"/>
                </a:solidFill>
                <a:latin typeface="Arial" panose="020B0604020202020204" pitchFamily="34" charset="0"/>
                <a:ea typeface="ＭＳ Ｐゴシック" panose="020B0600070205080204" pitchFamily="50" charset="-128"/>
              </a:defRPr>
            </a:lvl3pPr>
            <a:lvl4pPr marL="16002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4pPr>
            <a:lvl5pPr marL="2057400" indent="-228600">
              <a:spcBef>
                <a:spcPct val="20000"/>
              </a:spcBef>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lr>
                <a:srgbClr val="33CCCC"/>
              </a:buClr>
              <a:buChar char="•"/>
              <a:tabLst>
                <a:tab pos="0" algn="l"/>
              </a:tabLst>
              <a:defRPr kumimoji="1" sz="1900" b="1">
                <a:solidFill>
                  <a:schemeClr val="bg2"/>
                </a:solidFill>
                <a:latin typeface="Arial" panose="020B0604020202020204" pitchFamily="34" charset="0"/>
                <a:ea typeface="ＭＳ Ｐゴシック" panose="020B0600070205080204" pitchFamily="50" charset="-128"/>
              </a:defRPr>
            </a:lvl9pPr>
          </a:lstStyle>
          <a:p>
            <a:pPr>
              <a:lnSpc>
                <a:spcPct val="120000"/>
              </a:lnSpc>
              <a:spcBef>
                <a:spcPct val="0"/>
              </a:spcBef>
              <a:buClr>
                <a:srgbClr val="000066"/>
              </a:buClr>
              <a:buSzTx/>
              <a:buNone/>
              <a:tabLst>
                <a:tab pos="0" algn="l"/>
                <a:tab pos="1343025" algn="l"/>
              </a:tabLst>
            </a:pPr>
            <a:r>
              <a:rPr lang="ja-JP" altLang="en-US" sz="1400" b="0" dirty="0">
                <a:solidFill>
                  <a:srgbClr val="000000"/>
                </a:solidFill>
                <a:latin typeface="ＭＳ ゴシック" panose="020B0609070205080204" pitchFamily="49" charset="-128"/>
                <a:ea typeface="ＭＳ ゴシック" panose="020B0609070205080204" pitchFamily="49" charset="-128"/>
              </a:rPr>
              <a:t>＜インタフェース仕様＞</a:t>
            </a:r>
            <a:endParaRPr lang="en-US" altLang="ja-JP" sz="14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インタフェース仕様については各システムの接続要件に従ってインタフェース仕様書をもとに検討</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例）</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IC2</a:t>
            </a:r>
            <a:r>
              <a:rPr lang="ja-JP" altLang="en-US" sz="1100" b="0" dirty="0">
                <a:solidFill>
                  <a:srgbClr val="000000"/>
                </a:solidFill>
                <a:latin typeface="ＭＳ ゴシック" panose="020B0609070205080204" pitchFamily="49" charset="-128"/>
                <a:ea typeface="ＭＳ ゴシック" panose="020B0609070205080204" pitchFamily="49" charset="-128"/>
              </a:rPr>
              <a:t>の</a:t>
            </a:r>
            <a:r>
              <a:rPr lang="en-US" altLang="ja-JP" sz="1100" b="0" dirty="0">
                <a:solidFill>
                  <a:srgbClr val="000000"/>
                </a:solidFill>
                <a:latin typeface="ＭＳ ゴシック" panose="020B0609070205080204" pitchFamily="49" charset="-128"/>
                <a:ea typeface="ＭＳ ゴシック" panose="020B0609070205080204" pitchFamily="49" charset="-128"/>
              </a:rPr>
              <a:t>SSO</a:t>
            </a: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http://172.16.123.33/svn/reps/SONAR-IC2/10.Documents/trunk/100_</a:t>
            </a:r>
            <a:r>
              <a:rPr lang="ja-JP" altLang="en-US" sz="1100" b="0" dirty="0">
                <a:solidFill>
                  <a:srgbClr val="000000"/>
                </a:solidFill>
                <a:latin typeface="ＭＳ ゴシック" panose="020B0609070205080204" pitchFamily="49" charset="-128"/>
                <a:ea typeface="ＭＳ ゴシック" panose="020B0609070205080204" pitchFamily="49" charset="-128"/>
              </a:rPr>
              <a:t>基本設計</a:t>
            </a:r>
            <a:r>
              <a:rPr lang="en-US" altLang="ja-JP" sz="1100" b="0" dirty="0">
                <a:solidFill>
                  <a:srgbClr val="000000"/>
                </a:solidFill>
                <a:latin typeface="ＭＳ ゴシック" panose="020B0609070205080204" pitchFamily="49" charset="-128"/>
                <a:ea typeface="ＭＳ ゴシック" panose="020B0609070205080204" pitchFamily="49" charset="-128"/>
              </a:rPr>
              <a:t>/01_ONLINE/01_</a:t>
            </a:r>
            <a:r>
              <a:rPr lang="ja-JP" altLang="en-US" sz="1100" b="0" dirty="0">
                <a:solidFill>
                  <a:srgbClr val="000000"/>
                </a:solidFill>
                <a:latin typeface="ＭＳ ゴシック" panose="020B0609070205080204" pitchFamily="49" charset="-128"/>
                <a:ea typeface="ＭＳ ゴシック" panose="020B0609070205080204" pitchFamily="49" charset="-128"/>
              </a:rPr>
              <a:t>機能設計書</a:t>
            </a:r>
            <a:r>
              <a:rPr lang="en-US" altLang="ja-JP" sz="1100" b="0" dirty="0">
                <a:solidFill>
                  <a:srgbClr val="000000"/>
                </a:solidFill>
                <a:latin typeface="ＭＳ ゴシック" panose="020B0609070205080204" pitchFamily="49" charset="-128"/>
                <a:ea typeface="ＭＳ ゴシック" panose="020B0609070205080204" pitchFamily="49" charset="-128"/>
              </a:rPr>
              <a:t>/01_</a:t>
            </a:r>
            <a:r>
              <a:rPr lang="ja-JP" altLang="en-US" sz="1100" b="0" dirty="0">
                <a:solidFill>
                  <a:srgbClr val="000000"/>
                </a:solidFill>
                <a:latin typeface="ＭＳ ゴシック" panose="020B0609070205080204" pitchFamily="49" charset="-128"/>
                <a:ea typeface="ＭＳ ゴシック" panose="020B0609070205080204" pitchFamily="49" charset="-128"/>
              </a:rPr>
              <a:t>利用者機能</a:t>
            </a:r>
            <a:r>
              <a:rPr lang="en-US" altLang="ja-JP" sz="1100" b="0" dirty="0">
                <a:solidFill>
                  <a:srgbClr val="000000"/>
                </a:solidFill>
                <a:latin typeface="ＭＳ ゴシック" panose="020B0609070205080204" pitchFamily="49" charset="-128"/>
                <a:ea typeface="ＭＳ ゴシック" panose="020B0609070205080204" pitchFamily="49" charset="-128"/>
              </a:rPr>
              <a:t>/</a:t>
            </a:r>
            <a:r>
              <a:rPr lang="ja-JP" altLang="en-US" sz="1100" b="0" dirty="0">
                <a:solidFill>
                  <a:srgbClr val="000000"/>
                </a:solidFill>
                <a:latin typeface="ＭＳ ゴシック" panose="020B0609070205080204" pitchFamily="49" charset="-128"/>
                <a:ea typeface="ＭＳ ゴシック" panose="020B0609070205080204" pitchFamily="49" charset="-128"/>
              </a:rPr>
              <a:t>外部接続</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IC2</a:t>
            </a:r>
            <a:r>
              <a:rPr lang="ja-JP" altLang="en-US" sz="1100" b="0" dirty="0">
                <a:solidFill>
                  <a:srgbClr val="000000"/>
                </a:solidFill>
                <a:latin typeface="ＭＳ ゴシック" panose="020B0609070205080204" pitchFamily="49" charset="-128"/>
                <a:ea typeface="ＭＳ ゴシック" panose="020B0609070205080204" pitchFamily="49" charset="-128"/>
              </a:rPr>
              <a:t>の</a:t>
            </a:r>
            <a:r>
              <a:rPr lang="en-US" altLang="ja-JP" sz="1100" b="0" dirty="0">
                <a:solidFill>
                  <a:srgbClr val="000000"/>
                </a:solidFill>
                <a:latin typeface="ＭＳ ゴシック" panose="020B0609070205080204" pitchFamily="49" charset="-128"/>
                <a:ea typeface="ＭＳ ゴシック" panose="020B0609070205080204" pitchFamily="49" charset="-128"/>
              </a:rPr>
              <a:t>API</a:t>
            </a: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http://172.16.123.33/svn/reps/SONAR-IC2/10.Documents/trunk/100_</a:t>
            </a:r>
            <a:r>
              <a:rPr lang="ja-JP" altLang="en-US" sz="1100" b="0" dirty="0">
                <a:solidFill>
                  <a:srgbClr val="000000"/>
                </a:solidFill>
                <a:latin typeface="ＭＳ ゴシック" panose="020B0609070205080204" pitchFamily="49" charset="-128"/>
                <a:ea typeface="ＭＳ ゴシック" panose="020B0609070205080204" pitchFamily="49" charset="-128"/>
              </a:rPr>
              <a:t>基本設計</a:t>
            </a:r>
            <a:r>
              <a:rPr lang="en-US" altLang="ja-JP" sz="1100" b="0" dirty="0">
                <a:solidFill>
                  <a:srgbClr val="000000"/>
                </a:solidFill>
                <a:latin typeface="ＭＳ ゴシック" panose="020B0609070205080204" pitchFamily="49" charset="-128"/>
                <a:ea typeface="ＭＳ ゴシック" panose="020B0609070205080204" pitchFamily="49" charset="-128"/>
              </a:rPr>
              <a:t>/01_ONLINE/02_</a:t>
            </a:r>
            <a:r>
              <a:rPr lang="ja-JP" altLang="en-US" sz="1100" b="0" dirty="0">
                <a:solidFill>
                  <a:srgbClr val="000000"/>
                </a:solidFill>
                <a:latin typeface="ＭＳ ゴシック" panose="020B0609070205080204" pitchFamily="49" charset="-128"/>
                <a:ea typeface="ＭＳ ゴシック" panose="020B0609070205080204" pitchFamily="49" charset="-128"/>
              </a:rPr>
              <a:t>インターフェース定義書</a:t>
            </a:r>
            <a:r>
              <a:rPr lang="en-US" altLang="ja-JP" sz="1100" b="0" dirty="0">
                <a:solidFill>
                  <a:srgbClr val="000000"/>
                </a:solidFill>
                <a:latin typeface="ＭＳ ゴシック" panose="020B0609070205080204" pitchFamily="49" charset="-128"/>
                <a:ea typeface="ＭＳ ゴシック" panose="020B0609070205080204" pitchFamily="49" charset="-128"/>
              </a:rPr>
              <a:t>/01_</a:t>
            </a:r>
            <a:r>
              <a:rPr lang="ja-JP" altLang="en-US" sz="1100" b="0" dirty="0">
                <a:solidFill>
                  <a:srgbClr val="000000"/>
                </a:solidFill>
                <a:latin typeface="ＭＳ ゴシック" panose="020B0609070205080204" pitchFamily="49" charset="-128"/>
                <a:ea typeface="ＭＳ ゴシック" panose="020B0609070205080204" pitchFamily="49" charset="-128"/>
              </a:rPr>
              <a:t>利用者機能</a:t>
            </a:r>
            <a:r>
              <a:rPr lang="en-US" altLang="ja-JP" sz="1100" b="0" dirty="0">
                <a:solidFill>
                  <a:srgbClr val="000000"/>
                </a:solidFill>
                <a:latin typeface="ＭＳ ゴシック" panose="020B0609070205080204" pitchFamily="49" charset="-128"/>
                <a:ea typeface="ＭＳ ゴシック" panose="020B0609070205080204" pitchFamily="49" charset="-128"/>
              </a:rPr>
              <a:t>/03.API</a:t>
            </a:r>
          </a:p>
          <a:p>
            <a:pPr>
              <a:lnSpc>
                <a:spcPct val="120000"/>
              </a:lnSpc>
              <a:spcBef>
                <a:spcPct val="0"/>
              </a:spcBef>
              <a:buClr>
                <a:srgbClr val="000066"/>
              </a:buClr>
              <a:buSzTx/>
              <a:buNone/>
              <a:tabLst>
                <a:tab pos="0" algn="l"/>
                <a:tab pos="1343025" algn="l"/>
              </a:tabLst>
            </a:pP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ja-JP" altLang="en-US" sz="1100" b="0" dirty="0">
                <a:solidFill>
                  <a:srgbClr val="000000"/>
                </a:solidFill>
                <a:latin typeface="ＭＳ ゴシック" panose="020B0609070205080204" pitchFamily="49" charset="-128"/>
                <a:ea typeface="ＭＳ ゴシック" panose="020B0609070205080204" pitchFamily="49" charset="-128"/>
              </a:rPr>
              <a:t>・</a:t>
            </a:r>
            <a:r>
              <a:rPr lang="en-US" altLang="ja-JP" sz="1100" b="0" dirty="0">
                <a:solidFill>
                  <a:srgbClr val="000000"/>
                </a:solidFill>
                <a:latin typeface="ＭＳ ゴシック" panose="020B0609070205080204" pitchFamily="49" charset="-128"/>
                <a:ea typeface="ＭＳ ゴシック" panose="020B0609070205080204" pitchFamily="49" charset="-128"/>
              </a:rPr>
              <a:t>HULFT</a:t>
            </a: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IC2</a:t>
            </a: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http://172.16.123.33/svn/reps/SONAR-IC2/10.Documents/trunk/100_</a:t>
            </a:r>
            <a:r>
              <a:rPr lang="ja-JP" altLang="en-US" sz="1100" b="0" dirty="0">
                <a:solidFill>
                  <a:srgbClr val="000000"/>
                </a:solidFill>
                <a:latin typeface="ＭＳ ゴシック" panose="020B0609070205080204" pitchFamily="49" charset="-128"/>
                <a:ea typeface="ＭＳ ゴシック" panose="020B0609070205080204" pitchFamily="49" charset="-128"/>
              </a:rPr>
              <a:t>基本設計</a:t>
            </a:r>
            <a:r>
              <a:rPr lang="en-US" altLang="ja-JP" sz="1100" b="0" dirty="0">
                <a:solidFill>
                  <a:srgbClr val="000000"/>
                </a:solidFill>
                <a:latin typeface="ＭＳ ゴシック" panose="020B0609070205080204" pitchFamily="49" charset="-128"/>
                <a:ea typeface="ＭＳ ゴシック" panose="020B0609070205080204" pitchFamily="49" charset="-128"/>
              </a:rPr>
              <a:t>/02_BATCH/20_HULFT</a:t>
            </a:r>
            <a:r>
              <a:rPr lang="ja-JP" altLang="en-US" sz="1100" b="0" dirty="0">
                <a:solidFill>
                  <a:srgbClr val="000000"/>
                </a:solidFill>
                <a:latin typeface="ＭＳ ゴシック" panose="020B0609070205080204" pitchFamily="49" charset="-128"/>
                <a:ea typeface="ＭＳ ゴシック" panose="020B0609070205080204" pitchFamily="49" charset="-128"/>
              </a:rPr>
              <a:t>定義</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endParaRPr lang="en-US" altLang="ja-JP" sz="1100" b="0" dirty="0">
              <a:solidFill>
                <a:srgbClr val="000000"/>
              </a:solidFill>
              <a:latin typeface="ＭＳ ゴシック" panose="020B0609070205080204" pitchFamily="49" charset="-128"/>
              <a:ea typeface="ＭＳ ゴシック" panose="020B0609070205080204" pitchFamily="49" charset="-128"/>
            </a:endParaRP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FR</a:t>
            </a:r>
          </a:p>
          <a:p>
            <a:pPr>
              <a:lnSpc>
                <a:spcPct val="120000"/>
              </a:lnSpc>
              <a:spcBef>
                <a:spcPct val="0"/>
              </a:spcBef>
              <a:buClr>
                <a:srgbClr val="000066"/>
              </a:buClr>
              <a:buSzTx/>
              <a:buNone/>
              <a:tabLst>
                <a:tab pos="0" algn="l"/>
                <a:tab pos="1343025" algn="l"/>
              </a:tabLst>
            </a:pPr>
            <a:r>
              <a:rPr lang="en-US" altLang="ja-JP" sz="1100" b="0" dirty="0">
                <a:solidFill>
                  <a:srgbClr val="000000"/>
                </a:solidFill>
                <a:latin typeface="ＭＳ ゴシック" panose="020B0609070205080204" pitchFamily="49" charset="-128"/>
                <a:ea typeface="ＭＳ ゴシック" panose="020B0609070205080204" pitchFamily="49" charset="-128"/>
              </a:rPr>
              <a:t>http://172.16.123.33/svn/reps/SONAR-FR/trunk/10.Documents/130_HULFT</a:t>
            </a:r>
            <a:r>
              <a:rPr lang="ja-JP" altLang="en-US" sz="1100" b="0" dirty="0">
                <a:solidFill>
                  <a:srgbClr val="000000"/>
                </a:solidFill>
                <a:latin typeface="ＭＳ ゴシック" panose="020B0609070205080204" pitchFamily="49" charset="-128"/>
                <a:ea typeface="ＭＳ ゴシック" panose="020B0609070205080204" pitchFamily="49" charset="-128"/>
              </a:rPr>
              <a:t>設計</a:t>
            </a:r>
            <a:endParaRPr lang="en-US" altLang="ja-JP" sz="1100" b="0" dirty="0">
              <a:solidFill>
                <a:srgbClr val="00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905452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5643E-0EB1-5FA9-A95D-4124621BC5FE}"/>
              </a:ext>
            </a:extLst>
          </p:cNvPr>
          <p:cNvSpPr>
            <a:spLocks noGrp="1"/>
          </p:cNvSpPr>
          <p:nvPr>
            <p:ph type="title"/>
          </p:nvPr>
        </p:nvSpPr>
        <p:spPr/>
        <p:txBody>
          <a:bodyPr/>
          <a:lstStyle/>
          <a:p>
            <a:r>
              <a:rPr kumimoji="1" lang="ja-JP" altLang="en-US" dirty="0"/>
              <a:t>テンプレート更新履歴</a:t>
            </a:r>
          </a:p>
        </p:txBody>
      </p:sp>
      <p:graphicFrame>
        <p:nvGraphicFramePr>
          <p:cNvPr id="3" name="表 2">
            <a:extLst>
              <a:ext uri="{FF2B5EF4-FFF2-40B4-BE49-F238E27FC236}">
                <a16:creationId xmlns:a16="http://schemas.microsoft.com/office/drawing/2014/main" id="{AA67D2B7-59BD-C3D6-926B-346472A7AA05}"/>
              </a:ext>
            </a:extLst>
          </p:cNvPr>
          <p:cNvGraphicFramePr>
            <a:graphicFrameLocks noGrp="1"/>
          </p:cNvGraphicFramePr>
          <p:nvPr>
            <p:extLst>
              <p:ext uri="{D42A27DB-BD31-4B8C-83A1-F6EECF244321}">
                <p14:modId xmlns:p14="http://schemas.microsoft.com/office/powerpoint/2010/main" val="2503086915"/>
              </p:ext>
            </p:extLst>
          </p:nvPr>
        </p:nvGraphicFramePr>
        <p:xfrm>
          <a:off x="488504" y="1052736"/>
          <a:ext cx="8676964" cy="4928550"/>
        </p:xfrm>
        <a:graphic>
          <a:graphicData uri="http://schemas.openxmlformats.org/drawingml/2006/table">
            <a:tbl>
              <a:tblPr firstRow="1" bandRow="1">
                <a:tableStyleId>{93296810-A885-4BE3-A3E7-6D5BEEA58F35}</a:tableStyleId>
              </a:tblPr>
              <a:tblGrid>
                <a:gridCol w="432048">
                  <a:extLst>
                    <a:ext uri="{9D8B030D-6E8A-4147-A177-3AD203B41FA5}">
                      <a16:colId xmlns:a16="http://schemas.microsoft.com/office/drawing/2014/main" val="1777742977"/>
                    </a:ext>
                  </a:extLst>
                </a:gridCol>
                <a:gridCol w="1602112">
                  <a:extLst>
                    <a:ext uri="{9D8B030D-6E8A-4147-A177-3AD203B41FA5}">
                      <a16:colId xmlns:a16="http://schemas.microsoft.com/office/drawing/2014/main" val="2154433068"/>
                    </a:ext>
                  </a:extLst>
                </a:gridCol>
                <a:gridCol w="1062184">
                  <a:extLst>
                    <a:ext uri="{9D8B030D-6E8A-4147-A177-3AD203B41FA5}">
                      <a16:colId xmlns:a16="http://schemas.microsoft.com/office/drawing/2014/main" val="1127834330"/>
                    </a:ext>
                  </a:extLst>
                </a:gridCol>
                <a:gridCol w="1080120">
                  <a:extLst>
                    <a:ext uri="{9D8B030D-6E8A-4147-A177-3AD203B41FA5}">
                      <a16:colId xmlns:a16="http://schemas.microsoft.com/office/drawing/2014/main" val="345525746"/>
                    </a:ext>
                  </a:extLst>
                </a:gridCol>
                <a:gridCol w="4500500">
                  <a:extLst>
                    <a:ext uri="{9D8B030D-6E8A-4147-A177-3AD203B41FA5}">
                      <a16:colId xmlns:a16="http://schemas.microsoft.com/office/drawing/2014/main" val="3092326056"/>
                    </a:ext>
                  </a:extLst>
                </a:gridCol>
              </a:tblGrid>
              <a:tr h="448050">
                <a:tc>
                  <a:txBody>
                    <a:bodyPr/>
                    <a:lstStyle/>
                    <a:p>
                      <a:r>
                        <a:rPr kumimoji="1" lang="en-US" altLang="ja-JP" sz="1200" dirty="0"/>
                        <a:t>No</a:t>
                      </a:r>
                      <a:endParaRPr kumimoji="1" lang="ja-JP" altLang="en-US" sz="1200" dirty="0"/>
                    </a:p>
                  </a:txBody>
                  <a:tcPr/>
                </a:tc>
                <a:tc>
                  <a:txBody>
                    <a:bodyPr/>
                    <a:lstStyle/>
                    <a:p>
                      <a:r>
                        <a:rPr kumimoji="1" lang="ja-JP" altLang="en-US" sz="1200" dirty="0"/>
                        <a:t>版数</a:t>
                      </a:r>
                    </a:p>
                  </a:txBody>
                  <a:tcPr/>
                </a:tc>
                <a:tc>
                  <a:txBody>
                    <a:bodyPr/>
                    <a:lstStyle/>
                    <a:p>
                      <a:r>
                        <a:rPr kumimoji="1" lang="ja-JP" altLang="en-US" sz="1200" dirty="0"/>
                        <a:t>対応者</a:t>
                      </a:r>
                    </a:p>
                  </a:txBody>
                  <a:tcPr/>
                </a:tc>
                <a:tc>
                  <a:txBody>
                    <a:bodyPr/>
                    <a:lstStyle/>
                    <a:p>
                      <a:r>
                        <a:rPr kumimoji="1" lang="ja-JP" altLang="en-US" sz="1200" dirty="0"/>
                        <a:t>承認者</a:t>
                      </a:r>
                    </a:p>
                  </a:txBody>
                  <a:tcPr/>
                </a:tc>
                <a:tc>
                  <a:txBody>
                    <a:bodyPr/>
                    <a:lstStyle/>
                    <a:p>
                      <a:r>
                        <a:rPr kumimoji="1" lang="ja-JP" altLang="en-US" sz="1200" dirty="0"/>
                        <a:t>対応概要</a:t>
                      </a:r>
                    </a:p>
                  </a:txBody>
                  <a:tcPr/>
                </a:tc>
                <a:extLst>
                  <a:ext uri="{0D108BD9-81ED-4DB2-BD59-A6C34878D82A}">
                    <a16:rowId xmlns:a16="http://schemas.microsoft.com/office/drawing/2014/main" val="1550797271"/>
                  </a:ext>
                </a:extLst>
              </a:tr>
              <a:tr h="448050">
                <a:tc>
                  <a:txBody>
                    <a:bodyPr/>
                    <a:lstStyle/>
                    <a:p>
                      <a:r>
                        <a:rPr kumimoji="1" lang="en-US" altLang="ja-JP" sz="1200" dirty="0"/>
                        <a:t>1</a:t>
                      </a:r>
                      <a:endParaRPr kumimoji="1" lang="ja-JP" altLang="en-US" sz="1200" dirty="0"/>
                    </a:p>
                  </a:txBody>
                  <a:tcPr/>
                </a:tc>
                <a:tc>
                  <a:txBody>
                    <a:bodyPr/>
                    <a:lstStyle/>
                    <a:p>
                      <a:r>
                        <a:rPr kumimoji="1" lang="en-US" altLang="ja-JP" sz="1200" dirty="0"/>
                        <a:t>1.0</a:t>
                      </a:r>
                      <a:r>
                        <a:rPr kumimoji="1" lang="ja-JP" altLang="en-US" sz="1200" dirty="0"/>
                        <a:t>版</a:t>
                      </a:r>
                    </a:p>
                  </a:txBody>
                  <a:tcPr/>
                </a:tc>
                <a:tc>
                  <a:txBody>
                    <a:bodyPr/>
                    <a:lstStyle/>
                    <a:p>
                      <a:r>
                        <a:rPr kumimoji="1" lang="ja-JP" altLang="en-US" sz="1200" dirty="0"/>
                        <a:t>高嶋</a:t>
                      </a:r>
                    </a:p>
                  </a:txBody>
                  <a:tcPr/>
                </a:tc>
                <a:tc>
                  <a:txBody>
                    <a:bodyPr/>
                    <a:lstStyle/>
                    <a:p>
                      <a:r>
                        <a:rPr kumimoji="1" lang="ja-JP" altLang="en-US" sz="1200" dirty="0"/>
                        <a:t>中西副部長</a:t>
                      </a:r>
                    </a:p>
                  </a:txBody>
                  <a:tcPr/>
                </a:tc>
                <a:tc>
                  <a:txBody>
                    <a:bodyPr/>
                    <a:lstStyle/>
                    <a:p>
                      <a:r>
                        <a:rPr kumimoji="1" lang="ja-JP" altLang="en-US" sz="1200" dirty="0"/>
                        <a:t>新規作成</a:t>
                      </a:r>
                    </a:p>
                  </a:txBody>
                  <a:tcPr/>
                </a:tc>
                <a:extLst>
                  <a:ext uri="{0D108BD9-81ED-4DB2-BD59-A6C34878D82A}">
                    <a16:rowId xmlns:a16="http://schemas.microsoft.com/office/drawing/2014/main" val="1382433136"/>
                  </a:ext>
                </a:extLst>
              </a:tr>
              <a:tr h="448050">
                <a:tc>
                  <a:txBody>
                    <a:bodyPr/>
                    <a:lstStyle/>
                    <a:p>
                      <a:r>
                        <a:rPr kumimoji="1" lang="en-US" altLang="ja-JP" sz="1200" dirty="0"/>
                        <a:t>2</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695248803"/>
                  </a:ext>
                </a:extLst>
              </a:tr>
              <a:tr h="448050">
                <a:tc>
                  <a:txBody>
                    <a:bodyPr/>
                    <a:lstStyle/>
                    <a:p>
                      <a:r>
                        <a:rPr kumimoji="1" lang="en-US" altLang="ja-JP" sz="1200" dirty="0"/>
                        <a:t>3</a:t>
                      </a:r>
                      <a:endParaRPr kumimoji="1" lang="ja-JP" altLang="en-US" sz="1200" dirty="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042078748"/>
                  </a:ext>
                </a:extLst>
              </a:tr>
              <a:tr h="448050">
                <a:tc>
                  <a:txBody>
                    <a:bodyPr/>
                    <a:lstStyle/>
                    <a:p>
                      <a:r>
                        <a:rPr kumimoji="1" lang="en-US" altLang="ja-JP" sz="1200" dirty="0"/>
                        <a:t>4</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1871727349"/>
                  </a:ext>
                </a:extLst>
              </a:tr>
              <a:tr h="448050">
                <a:tc>
                  <a:txBody>
                    <a:bodyPr/>
                    <a:lstStyle/>
                    <a:p>
                      <a:r>
                        <a:rPr kumimoji="1" lang="en-US" altLang="ja-JP" sz="1200" dirty="0"/>
                        <a:t>5</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a:p>
                  </a:txBody>
                  <a:tcPr/>
                </a:tc>
                <a:extLst>
                  <a:ext uri="{0D108BD9-81ED-4DB2-BD59-A6C34878D82A}">
                    <a16:rowId xmlns:a16="http://schemas.microsoft.com/office/drawing/2014/main" val="2545511512"/>
                  </a:ext>
                </a:extLst>
              </a:tr>
              <a:tr h="448050">
                <a:tc>
                  <a:txBody>
                    <a:bodyPr/>
                    <a:lstStyle/>
                    <a:p>
                      <a:r>
                        <a:rPr kumimoji="1" lang="en-US" altLang="ja-JP" sz="1200" dirty="0"/>
                        <a:t>6</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a:p>
                  </a:txBody>
                  <a:tcPr/>
                </a:tc>
                <a:extLst>
                  <a:ext uri="{0D108BD9-81ED-4DB2-BD59-A6C34878D82A}">
                    <a16:rowId xmlns:a16="http://schemas.microsoft.com/office/drawing/2014/main" val="3770836329"/>
                  </a:ext>
                </a:extLst>
              </a:tr>
              <a:tr h="448050">
                <a:tc>
                  <a:txBody>
                    <a:bodyPr/>
                    <a:lstStyle/>
                    <a:p>
                      <a:r>
                        <a:rPr kumimoji="1" lang="en-US" altLang="ja-JP" sz="1200" dirty="0"/>
                        <a:t>7</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a:p>
                  </a:txBody>
                  <a:tcPr/>
                </a:tc>
                <a:extLst>
                  <a:ext uri="{0D108BD9-81ED-4DB2-BD59-A6C34878D82A}">
                    <a16:rowId xmlns:a16="http://schemas.microsoft.com/office/drawing/2014/main" val="2002038993"/>
                  </a:ext>
                </a:extLst>
              </a:tr>
              <a:tr h="448050">
                <a:tc>
                  <a:txBody>
                    <a:bodyPr/>
                    <a:lstStyle/>
                    <a:p>
                      <a:r>
                        <a:rPr kumimoji="1" lang="en-US" altLang="ja-JP" sz="1200" dirty="0"/>
                        <a:t>8</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381766258"/>
                  </a:ext>
                </a:extLst>
              </a:tr>
              <a:tr h="448050">
                <a:tc>
                  <a:txBody>
                    <a:bodyPr/>
                    <a:lstStyle/>
                    <a:p>
                      <a:r>
                        <a:rPr kumimoji="1" lang="en-US" altLang="ja-JP" sz="1200" dirty="0"/>
                        <a:t>9</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541195803"/>
                  </a:ext>
                </a:extLst>
              </a:tr>
              <a:tr h="448050">
                <a:tc>
                  <a:txBody>
                    <a:bodyPr/>
                    <a:lstStyle/>
                    <a:p>
                      <a:r>
                        <a:rPr kumimoji="1" lang="en-US" altLang="ja-JP" sz="1200" dirty="0"/>
                        <a:t>10</a:t>
                      </a:r>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236901983"/>
                  </a:ext>
                </a:extLst>
              </a:tr>
            </a:tbl>
          </a:graphicData>
        </a:graphic>
      </p:graphicFrame>
    </p:spTree>
    <p:extLst>
      <p:ext uri="{BB962C8B-B14F-4D97-AF65-F5344CB8AC3E}">
        <p14:creationId xmlns:p14="http://schemas.microsoft.com/office/powerpoint/2010/main" val="40031712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本文/表紙">
  <a:themeElements>
    <a:clrScheme name="DIR">
      <a:dk1>
        <a:srgbClr val="3C3C3C"/>
      </a:dk1>
      <a:lt1>
        <a:sysClr val="window" lastClr="FFFFFF"/>
      </a:lt1>
      <a:dk2>
        <a:srgbClr val="1A5226"/>
      </a:dk2>
      <a:lt2>
        <a:srgbClr val="DDDDDD"/>
      </a:lt2>
      <a:accent1>
        <a:srgbClr val="96B4C6"/>
      </a:accent1>
      <a:accent2>
        <a:srgbClr val="0076BD"/>
      </a:accent2>
      <a:accent3>
        <a:srgbClr val="CC8F00"/>
      </a:accent3>
      <a:accent4>
        <a:srgbClr val="C22000"/>
      </a:accent4>
      <a:accent5>
        <a:srgbClr val="BFCCE5"/>
      </a:accent5>
      <a:accent6>
        <a:srgbClr val="0860A8"/>
      </a:accent6>
      <a:hlink>
        <a:srgbClr val="0000FF"/>
      </a:hlink>
      <a:folHlink>
        <a:srgbClr val="A5A5A5"/>
      </a:folHlink>
    </a:clrScheme>
    <a:fontScheme name="ユーザー定義 1">
      <a:majorFont>
        <a:latin typeface="Meiryo UI"/>
        <a:ea typeface="Meiryo UI"/>
        <a:cs typeface=""/>
      </a:majorFont>
      <a:minorFont>
        <a:latin typeface="Meiryo UI"/>
        <a:ea typeface="Meiryo UI"/>
        <a:cs typeface=""/>
      </a:minorFont>
    </a:fontScheme>
    <a:fmtScheme name="雪藤">
      <a:fillStyleLst>
        <a:solidFill>
          <a:schemeClr val="phClr">
            <a:tint val="100000"/>
          </a:schemeClr>
        </a:solidFill>
        <a:gradFill>
          <a:gsLst>
            <a:gs pos="0">
              <a:schemeClr val="phClr">
                <a:sat val="13000"/>
                <a:lum val="79000"/>
              </a:schemeClr>
            </a:gs>
            <a:gs pos="100000">
              <a:schemeClr val="phClr">
                <a:sat val="100000"/>
                <a:lum val="95000"/>
              </a:schemeClr>
            </a:gs>
          </a:gsLst>
          <a:lin ang="5400000" scaled="1"/>
        </a:gradFill>
        <a:blipFill>
          <a:blip xmlns:r="http://schemas.openxmlformats.org/officeDocument/2006/relationships" r:embed="rId1">
            <a:duotone>
              <a:srgbClr val="FFFFFF"/>
              <a:schemeClr val="phClr">
                <a:tint val="100000"/>
              </a:schemeClr>
            </a:duotone>
          </a:blip>
        </a:blipFill>
      </a:fillStyleLst>
      <a:lnStyleLst>
        <a:ln w="9525">
          <a:solidFill>
            <a:schemeClr val="phClr">
              <a:alpha val="100000"/>
            </a:schemeClr>
          </a:solidFill>
          <a:prstDash val="solid"/>
        </a:ln>
        <a:ln w="12700">
          <a:solidFill>
            <a:schemeClr val="phClr">
              <a:alpha val="100000"/>
            </a:schemeClr>
          </a:solidFill>
          <a:prstDash val="solid"/>
        </a:ln>
        <a:ln w="38100">
          <a:solidFill>
            <a:schemeClr val="phClr">
              <a:alpha val="100000"/>
            </a:schemeClr>
          </a:solidFill>
          <a:prstDash val="solid"/>
        </a:ln>
      </a:lnStyleLst>
      <a:effectStyleLst>
        <a:effectStyle>
          <a:effectLst/>
        </a:effectStyle>
        <a:effectStyle>
          <a:effectLst>
            <a:glow rad="101600">
              <a:schemeClr val="phClr">
                <a:alpha val="10000"/>
              </a:schemeClr>
            </a:glow>
            <a:outerShdw blurRad="50800" dist="50800" dir="5400000" algn="tl">
              <a:srgbClr val="7D7D7D">
                <a:alpha val="65000"/>
              </a:srgbClr>
            </a:outerShdw>
          </a:effectLst>
          <a:scene3d>
            <a:camera prst="perspectiveFront"/>
            <a:lightRig rig="threePt" dir="t">
              <a:rot lat="0" lon="0" rev="18900000"/>
            </a:lightRig>
          </a:scene3d>
          <a:sp3d/>
        </a:effectStyle>
        <a:effectStyle>
          <a:effectLst>
            <a:glow rad="101600">
              <a:schemeClr val="phClr">
                <a:alpha val="15000"/>
              </a:schemeClr>
            </a:glow>
            <a:outerShdw blurRad="50800" dist="50800" dir="5400000" algn="tl">
              <a:srgbClr val="7D7D7D">
                <a:alpha val="65000"/>
              </a:srgbClr>
            </a:outerShdw>
          </a:effectLst>
          <a:scene3d>
            <a:camera prst="perspectiveFront" fov="0"/>
            <a:lightRig rig="glow" dir="t">
              <a:rot lat="0" lon="0" rev="2700000"/>
            </a:lightRig>
          </a:scene3d>
          <a:sp3d>
            <a:bevelT w="342900" h="38100" prst="softRound"/>
            <a:bevelB w="342900" h="38100" prst="softRound"/>
            <a:contourClr>
              <a:srgbClr val="000000"/>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lgn="ctr">
          <a:solidFill>
            <a:schemeClr val="bg2">
              <a:lumMod val="75000"/>
            </a:schemeClr>
          </a:solidFill>
          <a:round/>
          <a:headEnd type="oval"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rot="0" spcFirstLastPara="0" vertOverflow="overflow" horzOverflow="overflow" vert="horz" wrap="none" lIns="18000" tIns="0" rIns="18000" bIns="0" numCol="1" spcCol="0" rtlCol="0" fromWordArt="0" anchor="ctr" anchorCtr="0" forceAA="0" compatLnSpc="1">
        <a:prstTxWarp prst="textNoShape">
          <a:avLst/>
        </a:prstTxWarp>
        <a:noAutofit/>
      </a:bodyPr>
      <a:lstStyle>
        <a:defPPr algn="ctr">
          <a:lnSpc>
            <a:spcPct val="100000"/>
          </a:lnSpc>
          <a:spcBef>
            <a:spcPct val="20000"/>
          </a:spcBef>
          <a:defRPr kumimoji="1" sz="1200" dirty="0">
            <a:solidFill>
              <a:schemeClr val="tx1"/>
            </a:solidFill>
            <a:latin typeface="Verdana" panose="020B0604030504040204" pitchFamily="34" charset="0"/>
            <a:ea typeface="Meiryo UI" pitchFamily="50" charset="-128"/>
            <a:cs typeface="Meiryo UI" pitchFamily="50" charset="-128"/>
          </a:defRPr>
        </a:defPPr>
      </a:lstStyle>
    </a:spDef>
    <a:lnDef>
      <a:spPr bwMode="auto">
        <a:noFill/>
        <a:ln w="9525" cap="flat" cmpd="sng" algn="ctr">
          <a:solidFill>
            <a:srgbClr val="0070C0"/>
          </a:solidFill>
          <a:prstDash val="solid"/>
          <a:round/>
          <a:headEnd type="none" w="sm" len="sm"/>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本文/表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本文/表紙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本文/表紙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本文/表紙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本文/表紙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本文/表紙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本文/表紙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本文/表紙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本文/表紙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本文/表紙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本文/表紙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本文/表紙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本文/表紙 1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本文/表紙 14">
        <a:dk1>
          <a:srgbClr val="000000"/>
        </a:dk1>
        <a:lt1>
          <a:srgbClr val="FFFFFF"/>
        </a:lt1>
        <a:dk2>
          <a:srgbClr val="003366"/>
        </a:dk2>
        <a:lt2>
          <a:srgbClr val="DDDDDD"/>
        </a:lt2>
        <a:accent1>
          <a:srgbClr val="BFCCE5"/>
        </a:accent1>
        <a:accent2>
          <a:srgbClr val="96B4C6"/>
        </a:accent2>
        <a:accent3>
          <a:srgbClr val="FFFFFF"/>
        </a:accent3>
        <a:accent4>
          <a:srgbClr val="000000"/>
        </a:accent4>
        <a:accent5>
          <a:srgbClr val="DCE2F0"/>
        </a:accent5>
        <a:accent6>
          <a:srgbClr val="87A3B3"/>
        </a:accent6>
        <a:hlink>
          <a:srgbClr val="CC8D01"/>
        </a:hlink>
        <a:folHlink>
          <a:srgbClr val="9A0000"/>
        </a:folHlink>
      </a:clrScheme>
      <a:clrMap bg1="lt1" tx1="dk1" bg2="lt2" tx2="dk2" accent1="accent1" accent2="accent2" accent3="accent3" accent4="accent4" accent5="accent5" accent6="accent6" hlink="hlink" folHlink="folHlink"/>
    </a:extraClrScheme>
    <a:extraClrScheme>
      <a:clrScheme name="本文/表紙 15">
        <a:dk1>
          <a:srgbClr val="333333"/>
        </a:dk1>
        <a:lt1>
          <a:srgbClr val="FFFFFF"/>
        </a:lt1>
        <a:dk2>
          <a:srgbClr val="003366"/>
        </a:dk2>
        <a:lt2>
          <a:srgbClr val="DDDDDD"/>
        </a:lt2>
        <a:accent1>
          <a:srgbClr val="96B4C6"/>
        </a:accent1>
        <a:accent2>
          <a:srgbClr val="007DBD"/>
        </a:accent2>
        <a:accent3>
          <a:srgbClr val="FFFFFF"/>
        </a:accent3>
        <a:accent4>
          <a:srgbClr val="2A2A2A"/>
        </a:accent4>
        <a:accent5>
          <a:srgbClr val="C9D6DF"/>
        </a:accent5>
        <a:accent6>
          <a:srgbClr val="0071AB"/>
        </a:accent6>
        <a:hlink>
          <a:srgbClr val="CC8F00"/>
        </a:hlink>
        <a:folHlink>
          <a:srgbClr val="C22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C88E87533547DF4CB02CB528B99819C8" ma:contentTypeVersion="3" ma:contentTypeDescription="新しいドキュメントを作成します。" ma:contentTypeScope="" ma:versionID="e69726651c649a1478444494b468cbab">
  <xsd:schema xmlns:xsd="http://www.w3.org/2001/XMLSchema" xmlns:xs="http://www.w3.org/2001/XMLSchema" xmlns:p="http://schemas.microsoft.com/office/2006/metadata/properties" xmlns:ns2="09317996-056e-4133-a583-0380078bc400" targetNamespace="http://schemas.microsoft.com/office/2006/metadata/properties" ma:root="true" ma:fieldsID="5f86b2d68b68d6837adcba40cca90c92" ns2:_="">
    <xsd:import namespace="09317996-056e-4133-a583-0380078bc40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17996-056e-4133-a583-0380078bc4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9978E9-7D41-4279-BCF1-0976D454271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0B676CD-4E0B-42D8-8921-FA17E26421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317996-056e-4133-a583-0380078bc4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34056D4-0432-492F-B461-2C81EEC5C3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設計方針書（【FF】タブレットソリューション投信注文機能の追加対応）_ver.1.6</Template>
  <TotalTime>900</TotalTime>
  <Words>3601</Words>
  <Application>Microsoft Office PowerPoint</Application>
  <PresentationFormat>A4 210 x 297 mm</PresentationFormat>
  <Paragraphs>630</Paragraphs>
  <Slides>29</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29</vt:i4>
      </vt:variant>
    </vt:vector>
  </HeadingPairs>
  <TitlesOfParts>
    <vt:vector size="38" baseType="lpstr">
      <vt:lpstr>Meiryo UI</vt:lpstr>
      <vt:lpstr>ＭＳ ゴシック</vt:lpstr>
      <vt:lpstr>游ゴシック</vt:lpstr>
      <vt:lpstr>Arial</vt:lpstr>
      <vt:lpstr>Calibri</vt:lpstr>
      <vt:lpstr>Times New Roman</vt:lpstr>
      <vt:lpstr>Verdana</vt:lpstr>
      <vt:lpstr>Wingdings</vt:lpstr>
      <vt:lpstr>本文/表紙</vt:lpstr>
      <vt:lpstr>PowerPoint プレゼンテーション</vt:lpstr>
      <vt:lpstr>本ドキュメントの目的</vt:lpstr>
      <vt:lpstr>本ドキュメントの目的</vt:lpstr>
      <vt:lpstr>更新履歴</vt:lpstr>
      <vt:lpstr>更新履歴</vt:lpstr>
      <vt:lpstr>１．案件概要</vt:lpstr>
      <vt:lpstr>１．案件概要</vt:lpstr>
      <vt:lpstr>１．案件概要</vt:lpstr>
      <vt:lpstr>１．案件概要</vt:lpstr>
      <vt:lpstr>２．システム機能概要</vt:lpstr>
      <vt:lpstr>２．システム機能概要</vt:lpstr>
      <vt:lpstr>２．システム機能概要</vt:lpstr>
      <vt:lpstr>２．システム機能概要</vt:lpstr>
      <vt:lpstr>３．画面</vt:lpstr>
      <vt:lpstr>３．画面</vt:lpstr>
      <vt:lpstr>３．画面</vt:lpstr>
      <vt:lpstr>３．画面</vt:lpstr>
      <vt:lpstr>３．画面</vt:lpstr>
      <vt:lpstr>３．画面</vt:lpstr>
      <vt:lpstr>３．画面</vt:lpstr>
      <vt:lpstr>３．画面</vt:lpstr>
      <vt:lpstr>４．データ</vt:lpstr>
      <vt:lpstr>４．データ</vt:lpstr>
      <vt:lpstr>４．データ</vt:lpstr>
      <vt:lpstr>５．帳票</vt:lpstr>
      <vt:lpstr>５．帳票</vt:lpstr>
      <vt:lpstr>６．他システムとの接続</vt:lpstr>
      <vt:lpstr>６．他システムとの接続</vt:lpstr>
      <vt:lpstr>テンプレート更新履歴</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赤坂 凌/DIR金融フロントシステム第二部</dc:creator>
  <cp:lastModifiedBy>赤坂 凌/DIR金融フロントシステム第二部</cp:lastModifiedBy>
  <cp:revision>11</cp:revision>
  <cp:lastPrinted>2022-04-26T23:49:52Z</cp:lastPrinted>
  <dcterms:created xsi:type="dcterms:W3CDTF">2026-04-24T04:35:49Z</dcterms:created>
  <dcterms:modified xsi:type="dcterms:W3CDTF">2026-06-12T06:36:29Z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0x010100C88E87533547DF4CB02CB528B99819C8</vt:lpwstr>
  </property>
</Properties>
</file>